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slideLayouts/slideLayout57.xml" ContentType="application/vnd.openxmlformats-officedocument.presentationml.slideLayout+xml"/>
  <Override PartName="/ppt/theme/theme3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733" r:id="rId2"/>
    <p:sldMasterId id="2147483735" r:id="rId3"/>
    <p:sldMasterId id="2147483737" r:id="rId4"/>
  </p:sldMasterIdLst>
  <p:notesMasterIdLst>
    <p:notesMasterId r:id="rId50"/>
  </p:notesMasterIdLst>
  <p:handoutMasterIdLst>
    <p:handoutMasterId r:id="rId51"/>
  </p:handoutMasterIdLst>
  <p:sldIdLst>
    <p:sldId id="256" r:id="rId5"/>
    <p:sldId id="307" r:id="rId6"/>
    <p:sldId id="289" r:id="rId7"/>
    <p:sldId id="306" r:id="rId8"/>
    <p:sldId id="350" r:id="rId9"/>
    <p:sldId id="351" r:id="rId10"/>
    <p:sldId id="309" r:id="rId11"/>
    <p:sldId id="353" r:id="rId12"/>
    <p:sldId id="352" r:id="rId13"/>
    <p:sldId id="310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3" r:id="rId22"/>
    <p:sldId id="362" r:id="rId23"/>
    <p:sldId id="364" r:id="rId24"/>
    <p:sldId id="365" r:id="rId25"/>
    <p:sldId id="366" r:id="rId26"/>
    <p:sldId id="367" r:id="rId27"/>
    <p:sldId id="368" r:id="rId28"/>
    <p:sldId id="370" r:id="rId29"/>
    <p:sldId id="369" r:id="rId30"/>
    <p:sldId id="371" r:id="rId31"/>
    <p:sldId id="372" r:id="rId32"/>
    <p:sldId id="376" r:id="rId33"/>
    <p:sldId id="373" r:id="rId34"/>
    <p:sldId id="377" r:id="rId35"/>
    <p:sldId id="374" r:id="rId36"/>
    <p:sldId id="378" r:id="rId37"/>
    <p:sldId id="379" r:id="rId38"/>
    <p:sldId id="380" r:id="rId39"/>
    <p:sldId id="375" r:id="rId40"/>
    <p:sldId id="381" r:id="rId41"/>
    <p:sldId id="382" r:id="rId42"/>
    <p:sldId id="383" r:id="rId43"/>
    <p:sldId id="384" r:id="rId44"/>
    <p:sldId id="385" r:id="rId45"/>
    <p:sldId id="386" r:id="rId46"/>
    <p:sldId id="387" r:id="rId47"/>
    <p:sldId id="388" r:id="rId48"/>
    <p:sldId id="286" r:id="rId4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48" autoAdjust="0"/>
    <p:restoredTop sz="86583" autoAdjust="0"/>
  </p:normalViewPr>
  <p:slideViewPr>
    <p:cSldViewPr snapToGrid="0">
      <p:cViewPr>
        <p:scale>
          <a:sx n="100" d="100"/>
          <a:sy n="100" d="100"/>
        </p:scale>
        <p:origin x="902" y="-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0475C65-5F61-4869-AEB7-24DFD0FC13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EE73F3C-CAF6-4BFB-890B-0F5E42299A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6175A-194D-4E5E-9C0F-DF384881814C}" type="datetimeFigureOut">
              <a:rPr lang="zh-TW" altLang="en-US" smtClean="0"/>
              <a:t>2025/10/19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D1F1425-86F3-4C17-B4EF-71E8E43635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01DB661-11FB-418A-9F81-624A6BC7200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151F6-4E2F-426D-9683-192D05145E4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218922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8B2D2-A26D-4226-ABA3-5807211B98F2}" type="datetimeFigureOut">
              <a:rPr lang="zh-TW" altLang="en-US" smtClean="0"/>
              <a:t>2025/10/19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E0E4C-DE99-4002-A21C-D36A5701BB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312795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1EBF2A-059D-4489-907E-6F09773C8E0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7570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3286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9E70E-BDD4-61BC-D973-C0EDA8849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47DB2DA-D68B-0B44-1005-F2B082C282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F9E859F-9C08-9C1A-452D-4675BB5E21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7748EB4-002E-D3EE-37B8-6B423DC0B8A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71D5F8D-3918-CE25-EFED-51DA040FC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9518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C2A90-DDD7-3EE4-B03B-69535F7F1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4CA5F1C-D40C-8088-AA02-CA12B80EF0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84BA2C4-B066-F87F-0940-0EAD989C5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DAA490F-88E0-F316-05C7-B17EE9618C7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DC8CBDD-EE9A-F42B-CA80-031DEAAC9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4881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E72E7-576E-5FCF-055E-3883A8AE0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6FFA177-A2C8-0FBA-FFD2-59F25D6BC4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BFA3E18-49F2-8B2C-D6D7-C7AE5B52A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CA80E05-0BCB-77B5-00E1-EBDC09B101D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10AFC1E-919F-C581-604C-6D86500C2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9962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73542-1B22-2A4C-BC4F-974636A44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A2E2A4A-6AB6-379C-F322-ABEAC1C67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E2F1DFA-BC31-0DB5-DA8B-664AFFD9B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9A4B5C6-2589-3498-2C86-5B15C430768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75A7F43-DF9D-FC7F-66D0-D916318059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204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0E850-D934-0AB1-48F4-3402C5B74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73B8158-443F-8B6C-D6E9-7DF8CDFCDA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D638A7E-B092-20AD-AB43-5CF297DA6F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28CB0FC-732F-EA55-44EE-755E22AB869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6E96293-8637-C0F4-D3D2-DE718963F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59864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D94BC-0435-6377-D37E-07C24BD82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2E8E515-84E0-A169-3685-818EFA9633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51B1477-7995-E4DE-59AD-F5AAF657E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D02F61D-FF2B-884B-5DC8-50849289478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138141B-961F-EC02-8E43-5C666D168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55404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750EA-1368-0B57-DAE6-D645B4189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19E0C65-6FA9-71D6-0BDE-CA8872C8BA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CC3A26A-B660-FD91-4127-5E8ACDBE6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7C1601A-84BB-BBF0-7117-B2EF8A38074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EF3B335-C879-BFCC-4950-B6D4C18238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273221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74609-1434-33ED-1F14-0DF438B4E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B77CEE5-8316-DEAC-D870-AB9C611B0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5B35775-78DD-342A-0CD1-ED9C81D21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D0654F1-3EBF-A84E-C197-ADC3F554190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B109061-9FA8-2D1A-896B-3EEA9AA024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70119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8BE39-D487-6ED8-4BD6-BEA15A2E2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BECE286-9E3E-A705-4C29-0F321BFD3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84758EC-0BFA-BA48-38E5-9A33BAC4B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E7C598A-10EC-50BA-61D4-696D20FD84B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3074E22-AB74-CA61-09E5-5EC2E0002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83504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41738-6728-FF31-B809-285BFE186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996E2C8-624C-7661-4FB1-E7196C463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A6C981D-62EA-5EA3-F921-7959722EA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8826168-6F88-FE20-5C59-263384FFBF4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02A808F-1C10-52D4-BFAC-BF039198D6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45300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66E53-436A-628D-6ADD-B13FFFF3D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F733330-203F-83E4-0653-89D94CFE40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0D87D71-1687-B9DC-485B-18CF7A7E9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135CCD8-02E7-4879-0EF1-EF31876FABF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D36FB45-B80F-8DC3-907D-DDDAF69084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94437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1D8A1-CBA5-A238-6197-F0F94BE58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B52696E-99B0-5A40-5777-7A03115B84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56ECD00-72C9-7082-30B9-1A1C314C7B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5063BEF-5FC3-D652-569B-F4415DC3B30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E5B81A8-C286-927B-E707-787CE955B5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12248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DBF12-7EC1-0B75-4415-F3FE4F8A5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3DEF3BD-BDA8-E6B4-EF2B-105C247EA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CD73D63-243E-F942-78E8-B36299178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228515B-8897-E8A9-11C8-B0DFA3110BC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74C2397-666F-F49B-2805-1716ADE69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68198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8ABCC-CC86-05FB-570D-27EF866C2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45DCCE9-E190-D565-D4DF-25831F442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87EDF8D-9894-3507-D3BA-EE90E692C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1F3DA70-2BAF-8592-DA18-C930CDE80AD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BD951F3-B393-DA1A-85B6-0E727DB72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48880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3EACF-A059-AAB7-CFDA-2C3F691BC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D224698-67EC-0328-A82C-3174A7A55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D50FFEA-AACB-E0DA-4B2F-5099F0F41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9CE684-AD64-42FE-B8D6-81EF953D70B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656A7D9-4BA1-826B-9E7E-36546418B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75669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29DE4-8731-9F10-D679-38ED4EBFB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95D056C-6EBC-ED9B-ABDE-80E8BADCAC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518271C-55DB-30AF-CB47-94E81B2C8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84A9707-7350-DAA1-28F8-2810D557006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BFB7107-2A6D-B3D3-2D6C-E61E9C49A8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86208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44846-C82E-B1B8-A821-6E0A78C29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9F18FB0-8742-3006-71BA-C3C75BD529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721FE38-7105-CCE1-9DC5-8F826918F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B183D8E-A5B3-F747-531C-4FD9549B17F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7B5D951-E76F-96C5-ABCA-41E0EA7244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19602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8B124-8C97-4F37-6ABF-7EAABC05A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0E5D264-F235-F24C-A68E-EEEF5CDC4B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31E8718-E396-9B96-3485-0F38D9E60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8DD1AAA-1703-1558-02F6-7E512DF0110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A8F1104-C6B2-BEC0-5D88-BF0E72BCB9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308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DB22B-575C-DD1E-A3D8-7940BA0DD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B4055D7-BF6B-CEA9-39D7-F0188FC8DA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646A70-C2ED-641E-127D-039E8B1B5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A513E85-AF50-182B-B260-7BF82DCECC9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B983C5B-FFCD-DF14-E813-29CC8FC3AB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37173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2F576-BBEA-3F77-C7B9-ABD8833C8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8530991-EB35-497C-DFA6-3AEF67ED4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60B10AA-18D1-FBD9-1191-4702D507A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25D0BEF-AA9E-06EA-998C-1F32266C27C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ADEC55F-EE21-63F1-8490-EBF4D6FD6B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01041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C4C0-16DA-CA36-1282-D13C0F035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01E5B6D-A9C3-4983-1E69-CFFAE9260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29B072B-5EF0-DFC6-46BD-021339DF0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CBFEEDF-615E-C0AA-9E60-173CA3195A6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448C67A-EE51-2928-BF33-BE7B87E0BA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85124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0F9BA-80A5-59A9-63FA-1DFF8943C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D1B74B4-E36E-24F5-F6B9-D7FCDA5EF6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0B33CC4-7EEF-8BED-4B3E-D00C500C35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BE265E5-C868-F98A-1C51-6332239BA35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424D9C5-30CA-1EAE-8D36-D1DFAC7840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47113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D98A2-11A5-6BB6-06A5-50464AE42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8BD5A61-CCB6-44C1-EAD5-CDF6AA328F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3968A28-539C-3D53-5C4F-0E1463B94D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1F14B3B-6329-DB08-839F-4A813DBACB4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66F8AD8-F226-B292-DE4B-BA190BA90A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7306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A4458-0826-5A51-DB21-C9F80840A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10B0BFC-17FF-1DFF-F5A3-1024C0AF2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7D7DE93-30FD-C8CE-D45B-88800554E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8335794-2F26-8D78-ECD2-47A9F134A7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5C043F1-39CB-4A0D-109F-20DDB2B9E2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80674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00707-FA76-9B73-CFF8-EC4F34819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CF1A968-D66B-92D0-F52E-7143BD8382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8DA12F5-EBE5-8432-67EC-83FEB47CA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AD56378-BC1D-A750-A296-45A432E1F47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14452CF-4120-968A-FE8D-AA214FA373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35488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A8AD7-4161-5C9B-B480-0EB796B01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5DAD2E1-5B5F-E5B1-7D1D-9CDE37566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A99DD24-715A-0254-D249-C0B42EA207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功能性加密的突破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功能性加密支援 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「部分解密」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</a:t>
            </a: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不同金鑰可以解密出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不同的函數結果</a:t>
            </a:r>
            <a:endParaRPr lang="zh-TW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每個金鑰只揭露</a:t>
            </a:r>
            <a:r>
              <a:rPr lang="zh-TW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特定資訊</a:t>
            </a:r>
            <a:r>
              <a:rPr lang="zh-TW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，而非全部內容</a:t>
            </a:r>
          </a:p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F9CCF36-C04D-3EE0-BF35-B120D5EC802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F7CE832-CF51-BE0D-C9D7-A09349CF8E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97183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C3DE9-8FAC-F0BD-EA11-CEB5FFF53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DE1DA39-EEC7-724C-DDE1-CE6E20F3F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2C92A54-3F01-DF80-FABB-98DBF6435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空白功能金鑰 𝑠𝑘</a:t>
            </a:r>
            <a:r>
              <a:rPr lang="en-US" altLang="zh-TW" dirty="0"/>
              <a:t>_</a:t>
            </a:r>
            <a:r>
              <a:rPr lang="zh-TW" altLang="en-US" dirty="0"/>
              <a:t>𝜖</a:t>
            </a:r>
          </a:p>
          <a:p>
            <a:r>
              <a:rPr lang="zh-TW" altLang="en-US" dirty="0"/>
              <a:t>通常被認為是公鑰</a:t>
            </a:r>
          </a:p>
          <a:p>
            <a:r>
              <a:rPr lang="zh-TW" altLang="en-US" dirty="0"/>
              <a:t>用於加密必須公開的資訊的密鑰稱為空功能密鑰。</a:t>
            </a:r>
          </a:p>
          <a:p>
            <a:r>
              <a:rPr lang="zh-TW" altLang="en-US" dirty="0"/>
              <a:t>例如：訊息大小、明文長度、加密時間、可能的元數據</a:t>
            </a:r>
          </a:p>
          <a:p>
            <a:r>
              <a:rPr lang="zh-TW" altLang="en-US" dirty="0"/>
              <a:t>攻擊博弈（語意安全）</a:t>
            </a:r>
          </a:p>
          <a:p>
            <a:r>
              <a:rPr lang="zh-TW" altLang="en-US" dirty="0"/>
              <a:t>初始：對手取得𝑚𝑝𝑘 𝑠𝑘</a:t>
            </a:r>
            <a:r>
              <a:rPr lang="en-US" altLang="zh-TW" dirty="0"/>
              <a:t>_</a:t>
            </a:r>
            <a:r>
              <a:rPr lang="zh-TW" altLang="en-US" dirty="0"/>
              <a:t>𝜖</a:t>
            </a:r>
          </a:p>
          <a:p>
            <a:r>
              <a:rPr lang="zh-TW" altLang="en-US" dirty="0"/>
              <a:t>金鑰查詢：對手提交𝑓 ∈ </a:t>
            </a:r>
            <a:r>
              <a:rPr lang="en-US" altLang="zh-TW" dirty="0"/>
              <a:t>ℱ </a:t>
            </a:r>
            <a:r>
              <a:rPr lang="zh-TW" altLang="en-US" dirty="0"/>
              <a:t>並取得𝑠𝑘</a:t>
            </a:r>
            <a:r>
              <a:rPr lang="en-US" altLang="zh-TW" dirty="0"/>
              <a:t>_</a:t>
            </a:r>
            <a:r>
              <a:rPr lang="zh-TW" altLang="en-US" dirty="0"/>
              <a:t>𝑓←𝐺</a:t>
            </a:r>
            <a:r>
              <a:rPr lang="en-US" altLang="zh-TW" dirty="0"/>
              <a:t>(</a:t>
            </a:r>
            <a:r>
              <a:rPr lang="zh-TW" altLang="en-US" dirty="0"/>
              <a:t>𝑚𝑠𝑘</a:t>
            </a:r>
            <a:r>
              <a:rPr lang="en-US" altLang="zh-TW" dirty="0"/>
              <a:t>_</a:t>
            </a:r>
            <a:r>
              <a:rPr lang="zh-TW" altLang="en-US" dirty="0"/>
              <a:t>𝑓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加密查詢：對手提交 </a:t>
            </a:r>
            <a:r>
              <a:rPr lang="en-US" altLang="zh-TW" dirty="0"/>
              <a:t>(</a:t>
            </a:r>
            <a:r>
              <a:rPr lang="zh-TW" altLang="en-US" dirty="0"/>
              <a:t>𝑚</a:t>
            </a:r>
            <a:r>
              <a:rPr lang="en-US" altLang="zh-TW" dirty="0"/>
              <a:t>_0,</a:t>
            </a:r>
            <a:r>
              <a:rPr lang="zh-TW" altLang="en-US" dirty="0"/>
              <a:t>𝑚</a:t>
            </a:r>
            <a:r>
              <a:rPr lang="en-US" altLang="zh-TW" dirty="0"/>
              <a:t>_1)∈ℳ^2 </a:t>
            </a:r>
            <a:r>
              <a:rPr lang="zh-TW" altLang="en-US" dirty="0"/>
              <a:t>並取得𝑐←𝐸</a:t>
            </a:r>
            <a:r>
              <a:rPr lang="en-US" altLang="zh-TW" dirty="0"/>
              <a:t>(</a:t>
            </a:r>
            <a:r>
              <a:rPr lang="zh-TW" altLang="en-US" dirty="0"/>
              <a:t>𝑚𝑝𝑘</a:t>
            </a:r>
            <a:r>
              <a:rPr lang="en-US" altLang="zh-TW" dirty="0"/>
              <a:t>,</a:t>
            </a:r>
            <a:r>
              <a:rPr lang="zh-TW" altLang="en-US" dirty="0"/>
              <a:t>𝑚</a:t>
            </a:r>
            <a:r>
              <a:rPr lang="en-US" altLang="zh-TW" dirty="0"/>
              <a:t>_</a:t>
            </a:r>
            <a:r>
              <a:rPr lang="zh-TW" altLang="en-US" dirty="0"/>
              <a:t>𝑏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最終：對手猜測𝑏 ∈</a:t>
            </a:r>
            <a:r>
              <a:rPr lang="en-US" altLang="zh-TW" dirty="0"/>
              <a:t>\{0,1\}</a:t>
            </a:r>
          </a:p>
          <a:p>
            <a:r>
              <a:rPr lang="zh-TW" altLang="en-US" dirty="0"/>
              <a:t>對手優勢</a:t>
            </a:r>
          </a:p>
          <a:p>
            <a:r>
              <a:rPr lang="zh-TW" altLang="en-US" dirty="0"/>
              <a:t>𝑆𝑆𝑎𝑑𝑣</a:t>
            </a:r>
            <a:r>
              <a:rPr lang="en-US" altLang="zh-TW" dirty="0"/>
              <a:t>[</a:t>
            </a:r>
            <a:r>
              <a:rPr lang="zh-TW" altLang="en-US" dirty="0"/>
              <a:t>𝐴</a:t>
            </a:r>
            <a:r>
              <a:rPr lang="en-US" altLang="zh-TW" dirty="0"/>
              <a:t>,</a:t>
            </a:r>
            <a:r>
              <a:rPr lang="zh-TW" altLang="en-US" dirty="0"/>
              <a:t>𝐹𝐸</a:t>
            </a:r>
            <a:r>
              <a:rPr lang="en-US" altLang="zh-TW" dirty="0"/>
              <a:t>]=∣</a:t>
            </a:r>
            <a:r>
              <a:rPr lang="zh-TW" altLang="en-US" dirty="0"/>
              <a:t>𝑃 𝑟⁡</a:t>
            </a:r>
            <a:r>
              <a:rPr lang="en-US" altLang="zh-TW" dirty="0"/>
              <a:t>[</a:t>
            </a:r>
            <a:r>
              <a:rPr lang="zh-TW" altLang="en-US" dirty="0"/>
              <a:t>𝑊</a:t>
            </a:r>
            <a:r>
              <a:rPr lang="en-US" altLang="zh-TW" dirty="0"/>
              <a:t>_0 ]−</a:t>
            </a:r>
            <a:r>
              <a:rPr lang="zh-TW" altLang="en-US" dirty="0"/>
              <a:t>𝑃 𝑟⁡</a:t>
            </a:r>
            <a:r>
              <a:rPr lang="en-US" altLang="zh-TW" dirty="0"/>
              <a:t>[</a:t>
            </a:r>
            <a:r>
              <a:rPr lang="zh-TW" altLang="en-US" dirty="0"/>
              <a:t>𝑊</a:t>
            </a:r>
            <a:r>
              <a:rPr lang="en-US" altLang="zh-TW" dirty="0"/>
              <a:t>_1 ]∣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BFD6123-6F8F-C23B-F7C3-C1C816B5DF4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55354CD-D72A-4AC5-EBAC-C731BBB25A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69173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2495F-95D5-AF73-C345-101AC93A9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CA52FAB-0D7A-4189-9218-B6ADAD2A8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5392F3B-FB34-F6C1-1E0C-AC96AD9D26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魯棒函數加密。</a:t>
            </a:r>
          </a:p>
          <a:p>
            <a:r>
              <a:rPr lang="zh-TW" altLang="en-US" dirty="0"/>
              <a:t>問題背景</a:t>
            </a:r>
          </a:p>
          <a:p>
            <a:r>
              <a:rPr lang="zh-TW" altLang="en-US" dirty="0"/>
              <a:t>考慮兩個函數密鑰：</a:t>
            </a:r>
          </a:p>
          <a:p>
            <a:r>
              <a:rPr lang="zh-TW" altLang="en-US" dirty="0"/>
              <a:t>𝑠𝑘</a:t>
            </a:r>
            <a:r>
              <a:rPr lang="en-US" altLang="zh-TW" dirty="0"/>
              <a:t>_</a:t>
            </a:r>
            <a:r>
              <a:rPr lang="zh-TW" altLang="en-US" dirty="0"/>
              <a:t>𝑃：垃圾郵件偵測金鑰（輸出 </a:t>
            </a:r>
            <a:r>
              <a:rPr lang="en-US" altLang="zh-TW" dirty="0"/>
              <a:t>0 </a:t>
            </a:r>
            <a:r>
              <a:rPr lang="zh-TW" altLang="en-US" dirty="0"/>
              <a:t>或 </a:t>
            </a:r>
            <a:r>
              <a:rPr lang="en-US" altLang="zh-TW" dirty="0"/>
              <a:t>1</a:t>
            </a:r>
            <a:r>
              <a:rPr lang="zh-TW" altLang="en-US" dirty="0"/>
              <a:t>）</a:t>
            </a:r>
          </a:p>
          <a:p>
            <a:r>
              <a:rPr lang="zh-TW" altLang="en-US" dirty="0"/>
              <a:t>𝑠𝑘</a:t>
            </a:r>
            <a:r>
              <a:rPr lang="en-US" altLang="zh-TW" dirty="0"/>
              <a:t>_</a:t>
            </a:r>
            <a:r>
              <a:rPr lang="zh-TW" altLang="en-US" dirty="0"/>
              <a:t>𝐼：完整解密金鑰</a:t>
            </a:r>
          </a:p>
          <a:p>
            <a:r>
              <a:rPr lang="zh-TW" altLang="en-US" dirty="0"/>
              <a:t>攻擊者可以構造密文 𝑐，使得：</a:t>
            </a:r>
          </a:p>
          <a:p>
            <a:r>
              <a:rPr lang="zh-TW" altLang="en-US" dirty="0"/>
              <a:t>𝐷</a:t>
            </a:r>
            <a:r>
              <a:rPr lang="en-US" altLang="zh-TW" dirty="0"/>
              <a:t>(</a:t>
            </a:r>
            <a:r>
              <a:rPr lang="zh-TW" altLang="en-US" dirty="0"/>
              <a:t>𝑠𝑘</a:t>
            </a:r>
            <a:r>
              <a:rPr lang="en-US" altLang="zh-TW" dirty="0"/>
              <a:t>_</a:t>
            </a:r>
            <a:r>
              <a:rPr lang="zh-TW" altLang="en-US" dirty="0"/>
              <a:t>𝑃 </a:t>
            </a:r>
            <a:r>
              <a:rPr lang="en-US" altLang="zh-TW" dirty="0"/>
              <a:t>,</a:t>
            </a:r>
            <a:r>
              <a:rPr lang="zh-TW" altLang="en-US" dirty="0"/>
              <a:t>𝑐</a:t>
            </a:r>
            <a:r>
              <a:rPr lang="en-US" altLang="zh-TW" dirty="0"/>
              <a:t>)=0</a:t>
            </a:r>
            <a:r>
              <a:rPr lang="zh-TW" altLang="en-US" dirty="0"/>
              <a:t>（非垃圾郵件）</a:t>
            </a:r>
          </a:p>
          <a:p>
            <a:r>
              <a:rPr lang="zh-TW" altLang="en-US" dirty="0"/>
              <a:t>𝐷</a:t>
            </a:r>
            <a:r>
              <a:rPr lang="en-US" altLang="zh-TW" dirty="0"/>
              <a:t>(</a:t>
            </a:r>
            <a:r>
              <a:rPr lang="zh-TW" altLang="en-US" dirty="0"/>
              <a:t>𝑠𝑘</a:t>
            </a:r>
            <a:r>
              <a:rPr lang="en-US" altLang="zh-TW" dirty="0"/>
              <a:t>_</a:t>
            </a:r>
            <a:r>
              <a:rPr lang="zh-TW" altLang="en-US" dirty="0"/>
              <a:t>𝐼</a:t>
            </a:r>
            <a:r>
              <a:rPr lang="en-US" altLang="zh-TW" dirty="0"/>
              <a:t>,</a:t>
            </a:r>
            <a:r>
              <a:rPr lang="zh-TW" altLang="en-US" dirty="0"/>
              <a:t>𝑐</a:t>
            </a:r>
            <a:r>
              <a:rPr lang="en-US" altLang="zh-TW" dirty="0"/>
              <a:t>)=</a:t>
            </a:r>
            <a:r>
              <a:rPr lang="zh-TW" altLang="en-US" dirty="0"/>
              <a:t>𝑚</a:t>
            </a:r>
            <a:r>
              <a:rPr lang="en-US" altLang="zh-TW" dirty="0"/>
              <a:t>"</a:t>
            </a:r>
            <a:r>
              <a:rPr lang="zh-TW" altLang="en-US" dirty="0"/>
              <a:t>，其中 </a:t>
            </a:r>
            <a:r>
              <a:rPr lang="en-US" altLang="zh-TW" dirty="0"/>
              <a:t>P(m)=1"</a:t>
            </a:r>
            <a:r>
              <a:rPr lang="zh-TW" altLang="en-US" dirty="0"/>
              <a:t>（實際為垃圾郵件）</a:t>
            </a:r>
          </a:p>
          <a:p>
            <a:r>
              <a:rPr lang="zh-TW" altLang="en-US" dirty="0"/>
              <a:t>這可以繞過垃圾郵件過濾器！</a:t>
            </a:r>
          </a:p>
          <a:p>
            <a:r>
              <a:rPr lang="zh-TW" altLang="en-US" dirty="0"/>
              <a:t>穩健性定義</a:t>
            </a:r>
          </a:p>
          <a:p>
            <a:r>
              <a:rPr lang="zh-TW" altLang="en-US" dirty="0"/>
              <a:t>𝑃 𝑟⁡</a:t>
            </a:r>
            <a:r>
              <a:rPr lang="en-US" altLang="zh-TW" dirty="0"/>
              <a:t>[</a:t>
            </a:r>
            <a:r>
              <a:rPr lang="zh-TW" altLang="en-US" dirty="0"/>
              <a:t>𝑓</a:t>
            </a:r>
            <a:r>
              <a:rPr lang="en-US" altLang="zh-TW" dirty="0"/>
              <a:t>(</a:t>
            </a:r>
            <a:r>
              <a:rPr lang="zh-TW" altLang="en-US" dirty="0"/>
              <a:t>𝑚</a:t>
            </a:r>
            <a:r>
              <a:rPr lang="en-US" altLang="zh-TW" dirty="0"/>
              <a:t>)=</a:t>
            </a:r>
            <a:r>
              <a:rPr lang="zh-TW" altLang="en-US" dirty="0"/>
              <a:t>𝐷</a:t>
            </a:r>
            <a:r>
              <a:rPr lang="en-US" altLang="zh-TW" dirty="0"/>
              <a:t>(</a:t>
            </a:r>
            <a:r>
              <a:rPr lang="zh-TW" altLang="en-US" dirty="0"/>
              <a:t>𝑠𝑘</a:t>
            </a:r>
            <a:r>
              <a:rPr lang="en-US" altLang="zh-TW" dirty="0"/>
              <a:t>_</a:t>
            </a:r>
            <a:r>
              <a:rPr lang="zh-TW" altLang="en-US" dirty="0"/>
              <a:t>𝑓 </a:t>
            </a:r>
            <a:r>
              <a:rPr lang="en-US" altLang="zh-TW" dirty="0"/>
              <a:t>,</a:t>
            </a:r>
            <a:r>
              <a:rPr lang="zh-TW" altLang="en-US" dirty="0"/>
              <a:t>𝑐</a:t>
            </a:r>
            <a:r>
              <a:rPr lang="en-US" altLang="zh-TW" dirty="0"/>
              <a:t>)]=1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B3F4672-CE3A-FA8F-A4DC-5C96F7E7D72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8FA0F2F-397F-5642-DE18-598D5FD465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07816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B9BE3-A716-9FB5-4F07-24001DD30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88A4BE1-680D-0397-83A6-2C9172D4F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6FE9C0-A56D-8FCB-CD9A-BE475C779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D284D65-DB0C-C97E-5F34-FAEC027742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8C58B28-4FE2-ABEF-62DD-A78DAB6742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51442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9E0F5-FD47-6C44-554A-A22D9D276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5AD0692-30AC-CAB3-C99A-3F2E61DBA5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777E9D2-CDD6-8522-466D-5F652E5BD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基於屬性的加密</a:t>
            </a:r>
          </a:p>
          <a:p>
            <a:r>
              <a:rPr lang="en-US" altLang="zh-TW" dirty="0"/>
              <a:t>1. </a:t>
            </a:r>
            <a:r>
              <a:rPr lang="zh-TW" altLang="en-US" dirty="0"/>
              <a:t>謂詞族 𝒫 </a:t>
            </a:r>
            <a:r>
              <a:rPr lang="en-US" altLang="zh-TW" dirty="0"/>
              <a:t>= {</a:t>
            </a:r>
            <a:r>
              <a:rPr lang="zh-TW" altLang="en-US" dirty="0"/>
              <a:t>𝑃</a:t>
            </a:r>
            <a:r>
              <a:rPr lang="en-US" altLang="zh-TW" dirty="0"/>
              <a:t>:</a:t>
            </a:r>
            <a:r>
              <a:rPr lang="zh-TW" altLang="en-US" dirty="0"/>
              <a:t>𝒳→</a:t>
            </a:r>
            <a:r>
              <a:rPr lang="en-US" altLang="zh-TW" dirty="0"/>
              <a:t>{0,1}}</a:t>
            </a:r>
          </a:p>
          <a:p>
            <a:r>
              <a:rPr lang="zh-TW" altLang="en-US" dirty="0"/>
              <a:t>𝒳：屬性空間（所有可能屬性的集合）</a:t>
            </a:r>
          </a:p>
          <a:p>
            <a:r>
              <a:rPr lang="zh-TW" altLang="en-US" dirty="0"/>
              <a:t>𝑃：謂詞（策略、條件、布林函數）</a:t>
            </a:r>
          </a:p>
          <a:p>
            <a:r>
              <a:rPr lang="zh-TW" altLang="en-US" dirty="0"/>
              <a:t>𝑃</a:t>
            </a:r>
            <a:r>
              <a:rPr lang="en-US" altLang="zh-TW" dirty="0"/>
              <a:t>(</a:t>
            </a:r>
            <a:r>
              <a:rPr lang="zh-TW" altLang="en-US" dirty="0"/>
              <a:t>𝑥</a:t>
            </a:r>
            <a:r>
              <a:rPr lang="en-US" altLang="zh-TW" dirty="0"/>
              <a:t>) = 1 </a:t>
            </a:r>
            <a:r>
              <a:rPr lang="zh-TW" altLang="en-US" dirty="0"/>
              <a:t>表示“屬性 𝑥 滿足策略 𝑃”</a:t>
            </a:r>
          </a:p>
          <a:p>
            <a:r>
              <a:rPr lang="en-US" altLang="zh-TW" dirty="0"/>
              <a:t>ABE </a:t>
            </a:r>
            <a:r>
              <a:rPr lang="zh-TW" altLang="en-US" dirty="0"/>
              <a:t>函數：</a:t>
            </a:r>
          </a:p>
          <a:p>
            <a:r>
              <a:rPr lang="zh-TW" altLang="en-US" dirty="0"/>
              <a:t>𝐹</a:t>
            </a:r>
            <a:r>
              <a:rPr lang="en-US" altLang="zh-TW" dirty="0"/>
              <a:t>:</a:t>
            </a:r>
            <a:r>
              <a:rPr lang="zh-TW" altLang="en-US" dirty="0"/>
              <a:t>𝑃</a:t>
            </a:r>
            <a:r>
              <a:rPr lang="en-US" altLang="zh-TW" dirty="0"/>
              <a:t>×(</a:t>
            </a:r>
            <a:r>
              <a:rPr lang="zh-TW" altLang="en-US" dirty="0"/>
              <a:t>𝑋</a:t>
            </a:r>
            <a:r>
              <a:rPr lang="en-US" altLang="zh-TW" dirty="0"/>
              <a:t>×</a:t>
            </a:r>
            <a:r>
              <a:rPr lang="zh-TW" altLang="en-US" dirty="0"/>
              <a:t>𝑀</a:t>
            </a:r>
            <a:r>
              <a:rPr lang="en-US" altLang="zh-TW" dirty="0"/>
              <a:t>)→(</a:t>
            </a:r>
            <a:r>
              <a:rPr lang="zh-TW" altLang="en-US" dirty="0"/>
              <a:t>𝑀∪</a:t>
            </a:r>
            <a:r>
              <a:rPr lang="en-US" altLang="zh-TW" dirty="0"/>
              <a:t>{⊥})</a:t>
            </a:r>
          </a:p>
          <a:p>
            <a:r>
              <a:rPr lang="zh-TW" altLang="en-US" dirty="0"/>
              <a:t>𝐹</a:t>
            </a:r>
            <a:r>
              <a:rPr lang="en-US" altLang="zh-TW" dirty="0"/>
              <a:t>(</a:t>
            </a:r>
            <a:r>
              <a:rPr lang="zh-TW" altLang="en-US" dirty="0"/>
              <a:t>𝑃</a:t>
            </a:r>
            <a:r>
              <a:rPr lang="en-US" altLang="zh-TW" dirty="0"/>
              <a:t>,(</a:t>
            </a:r>
            <a:r>
              <a:rPr lang="zh-TW" altLang="en-US" dirty="0"/>
              <a:t>𝑥</a:t>
            </a:r>
            <a:r>
              <a:rPr lang="en-US" altLang="zh-TW" dirty="0"/>
              <a:t>,</a:t>
            </a:r>
            <a:r>
              <a:rPr lang="zh-TW" altLang="en-US" dirty="0"/>
              <a:t>𝑚</a:t>
            </a:r>
            <a:r>
              <a:rPr lang="en-US" altLang="zh-TW" dirty="0"/>
              <a:t>))={█(m ,</a:t>
            </a:r>
            <a:r>
              <a:rPr lang="zh-TW" altLang="en-US" dirty="0"/>
              <a:t>若 </a:t>
            </a:r>
            <a:r>
              <a:rPr lang="en-US" altLang="zh-TW" dirty="0"/>
              <a:t>P(x)=1@⊥ , </a:t>
            </a:r>
            <a:r>
              <a:rPr lang="zh-TW" altLang="en-US" dirty="0"/>
              <a:t>其他</a:t>
            </a:r>
            <a:r>
              <a:rPr lang="en-US" altLang="zh-TW" dirty="0"/>
              <a:t>)┤</a:t>
            </a:r>
          </a:p>
          <a:p>
            <a:r>
              <a:rPr lang="en-US" altLang="zh-TW" dirty="0"/>
              <a:t>ABE </a:t>
            </a:r>
            <a:r>
              <a:rPr lang="zh-TW" altLang="en-US" dirty="0"/>
              <a:t>流</a:t>
            </a:r>
          </a:p>
          <a:p>
            <a:r>
              <a:rPr lang="zh-TW" altLang="en-US" dirty="0"/>
              <a:t>初始值：𝑐←𝐸</a:t>
            </a:r>
            <a:r>
              <a:rPr lang="en-US" altLang="zh-TW" dirty="0"/>
              <a:t>(</a:t>
            </a:r>
            <a:r>
              <a:rPr lang="zh-TW" altLang="en-US" dirty="0"/>
              <a:t>𝑚</a:t>
            </a:r>
            <a:r>
              <a:rPr lang="en-US" altLang="zh-TW" dirty="0"/>
              <a:t>,</a:t>
            </a:r>
            <a:r>
              <a:rPr lang="zh-TW" altLang="en-US" dirty="0"/>
              <a:t>𝑝𝑘</a:t>
            </a:r>
            <a:r>
              <a:rPr lang="en-US" altLang="zh-TW" dirty="0"/>
              <a:t>(</a:t>
            </a:r>
            <a:r>
              <a:rPr lang="zh-TW" altLang="en-US" dirty="0"/>
              <a:t>𝑥</a:t>
            </a:r>
            <a:r>
              <a:rPr lang="en-US" altLang="zh-TW" dirty="0"/>
              <a:t>,</a:t>
            </a:r>
            <a:r>
              <a:rPr lang="zh-TW" altLang="en-US" dirty="0"/>
              <a:t>𝑚</a:t>
            </a:r>
            <a:r>
              <a:rPr lang="en-US" altLang="zh-TW" dirty="0"/>
              <a:t>)), x:</a:t>
            </a:r>
            <a:r>
              <a:rPr lang="zh-TW" altLang="en-US" dirty="0"/>
              <a:t>屬性，</a:t>
            </a:r>
            <a:r>
              <a:rPr lang="en-US" altLang="zh-TW" dirty="0"/>
              <a:t>m</a:t>
            </a:r>
            <a:r>
              <a:rPr lang="zh-TW" altLang="en-US" dirty="0"/>
              <a:t>：實際數據</a:t>
            </a:r>
          </a:p>
          <a:p>
            <a:r>
              <a:rPr lang="zh-TW" altLang="en-US" dirty="0"/>
              <a:t>定義存取策略 𝑃</a:t>
            </a:r>
            <a:r>
              <a:rPr lang="en-US" altLang="zh-TW" dirty="0"/>
              <a:t>:</a:t>
            </a:r>
            <a:r>
              <a:rPr lang="zh-TW" altLang="en-US" dirty="0"/>
              <a:t>𝒳→</a:t>
            </a:r>
            <a:r>
              <a:rPr lang="en-US" altLang="zh-TW" dirty="0"/>
              <a:t>{0,1}</a:t>
            </a:r>
          </a:p>
          <a:p>
            <a:r>
              <a:rPr lang="zh-TW" altLang="en-US" dirty="0"/>
              <a:t>產生功能鍵：𝑠𝑘</a:t>
            </a:r>
            <a:r>
              <a:rPr lang="en-US" altLang="zh-TW" dirty="0"/>
              <a:t>_</a:t>
            </a:r>
            <a:r>
              <a:rPr lang="zh-TW" altLang="en-US" dirty="0"/>
              <a:t>𝑃←𝐺</a:t>
            </a:r>
            <a:r>
              <a:rPr lang="en-US" altLang="zh-TW" dirty="0"/>
              <a:t>(m</a:t>
            </a:r>
            <a:r>
              <a:rPr lang="zh-TW" altLang="en-US" dirty="0"/>
              <a:t>𝑠𝑘</a:t>
            </a:r>
            <a:r>
              <a:rPr lang="en-US" altLang="zh-TW" dirty="0"/>
              <a:t>,</a:t>
            </a:r>
            <a:r>
              <a:rPr lang="zh-TW" altLang="en-US" dirty="0"/>
              <a:t>𝑃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最終結果：𝑟𝑒𝑠𝑢𝑙𝑡←𝐷</a:t>
            </a:r>
            <a:r>
              <a:rPr lang="en-US" altLang="zh-TW" dirty="0"/>
              <a:t>(</a:t>
            </a:r>
            <a:r>
              <a:rPr lang="zh-TW" altLang="en-US" dirty="0"/>
              <a:t>𝑠𝑘</a:t>
            </a:r>
            <a:r>
              <a:rPr lang="en-US" altLang="zh-TW" dirty="0"/>
              <a:t>_</a:t>
            </a:r>
            <a:r>
              <a:rPr lang="zh-TW" altLang="en-US" dirty="0"/>
              <a:t>𝑃</a:t>
            </a:r>
            <a:r>
              <a:rPr lang="en-US" altLang="zh-TW" dirty="0"/>
              <a:t>,</a:t>
            </a:r>
            <a:r>
              <a:rPr lang="zh-TW" altLang="en-US" dirty="0"/>
              <a:t>𝑐</a:t>
            </a:r>
            <a:r>
              <a:rPr lang="en-US" altLang="zh-TW" dirty="0"/>
              <a:t>)</a:t>
            </a:r>
            <a:r>
              <a:rPr lang="zh-TW" altLang="en-US" dirty="0"/>
              <a:t>，如果 𝑃</a:t>
            </a:r>
            <a:r>
              <a:rPr lang="en-US" altLang="zh-TW" dirty="0"/>
              <a:t>(</a:t>
            </a:r>
            <a:r>
              <a:rPr lang="zh-TW" altLang="en-US" dirty="0"/>
              <a:t>𝑥</a:t>
            </a:r>
            <a:r>
              <a:rPr lang="en-US" altLang="zh-TW" dirty="0"/>
              <a:t>) = 1</a:t>
            </a:r>
            <a:r>
              <a:rPr lang="zh-TW" altLang="en-US" dirty="0"/>
              <a:t>：𝑟𝑠𝑠𝑠𝑠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A891270-45E5-47AB-70FE-20E51DEFE6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FD639E6-EF59-A033-A089-22C312FEFC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814753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1E225-9390-D408-BA0C-10E8F131B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EF5323D-C2E5-0CF1-BAB0-CF039FE04C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D1109E9-D7DF-D58F-44A5-68C9F8085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定義：</a:t>
            </a:r>
          </a:p>
          <a:p>
            <a:r>
              <a:rPr lang="zh-TW" altLang="en-US" dirty="0"/>
              <a:t>𝑒</a:t>
            </a:r>
            <a:r>
              <a:rPr lang="en-US" altLang="zh-TW" dirty="0"/>
              <a:t>:</a:t>
            </a:r>
            <a:r>
              <a:rPr lang="zh-TW" altLang="en-US" dirty="0"/>
              <a:t>𝐺</a:t>
            </a:r>
            <a:r>
              <a:rPr lang="en-US" altLang="zh-TW" dirty="0"/>
              <a:t>^</a:t>
            </a:r>
            <a:r>
              <a:rPr lang="zh-TW" altLang="en-US" dirty="0"/>
              <a:t>𝑑→𝐺</a:t>
            </a:r>
            <a:r>
              <a:rPr lang="en-US" altLang="zh-TW" dirty="0"/>
              <a:t>_</a:t>
            </a:r>
            <a:r>
              <a:rPr lang="zh-TW" altLang="en-US" dirty="0"/>
              <a:t>𝑇</a:t>
            </a:r>
          </a:p>
          <a:p>
            <a:r>
              <a:rPr lang="zh-TW" altLang="en-US" dirty="0"/>
              <a:t>多線性：若 𝑢</a:t>
            </a:r>
            <a:r>
              <a:rPr lang="en-US" altLang="zh-TW" dirty="0"/>
              <a:t>_1,…,</a:t>
            </a:r>
            <a:r>
              <a:rPr lang="zh-TW" altLang="en-US" dirty="0"/>
              <a:t>𝑢</a:t>
            </a:r>
            <a:r>
              <a:rPr lang="en-US" altLang="zh-TW" dirty="0"/>
              <a:t>_</a:t>
            </a:r>
            <a:r>
              <a:rPr lang="zh-TW" altLang="en-US" dirty="0"/>
              <a:t>𝑑∈𝔾 且 𝛼</a:t>
            </a:r>
            <a:r>
              <a:rPr lang="en-US" altLang="zh-TW" dirty="0"/>
              <a:t>_1,…,</a:t>
            </a:r>
            <a:r>
              <a:rPr lang="zh-TW" altLang="en-US" dirty="0"/>
              <a:t>𝛼</a:t>
            </a:r>
            <a:r>
              <a:rPr lang="en-US" altLang="zh-TW" dirty="0"/>
              <a:t>_</a:t>
            </a:r>
            <a:r>
              <a:rPr lang="zh-TW" altLang="en-US" dirty="0"/>
              <a:t>𝑑∈</a:t>
            </a:r>
            <a:r>
              <a:rPr lang="en-US" altLang="zh-TW" dirty="0"/>
              <a:t>ℤ_</a:t>
            </a:r>
            <a:r>
              <a:rPr lang="zh-TW" altLang="en-US" dirty="0"/>
              <a:t>𝑞，</a:t>
            </a:r>
          </a:p>
          <a:p>
            <a:r>
              <a:rPr lang="zh-TW" altLang="en-US" dirty="0"/>
              <a:t>則 𝑒</a:t>
            </a:r>
            <a:r>
              <a:rPr lang="en-US" altLang="zh-TW" dirty="0"/>
              <a:t>(</a:t>
            </a:r>
            <a:r>
              <a:rPr lang="zh-TW" altLang="en-US" dirty="0"/>
              <a:t>𝑢</a:t>
            </a:r>
            <a:r>
              <a:rPr lang="en-US" altLang="zh-TW" dirty="0"/>
              <a:t>_1^(</a:t>
            </a:r>
            <a:r>
              <a:rPr lang="zh-TW" altLang="en-US" dirty="0"/>
              <a:t>𝛼</a:t>
            </a:r>
            <a:r>
              <a:rPr lang="en-US" altLang="zh-TW" dirty="0"/>
              <a:t>_1 )ⓜ,…ⓜ,</a:t>
            </a:r>
            <a:r>
              <a:rPr lang="zh-TW" altLang="en-US" dirty="0"/>
              <a:t>𝑢</a:t>
            </a:r>
            <a:r>
              <a:rPr lang="en-US" altLang="zh-TW" dirty="0"/>
              <a:t>_</a:t>
            </a:r>
            <a:r>
              <a:rPr lang="zh-TW" altLang="en-US" dirty="0"/>
              <a:t>𝑑</a:t>
            </a:r>
            <a:r>
              <a:rPr lang="en-US" altLang="zh-TW" dirty="0"/>
              <a:t>^(</a:t>
            </a:r>
            <a:r>
              <a:rPr lang="zh-TW" altLang="en-US" dirty="0"/>
              <a:t>𝛼</a:t>
            </a:r>
            <a:r>
              <a:rPr lang="en-US" altLang="zh-TW" dirty="0"/>
              <a:t>_</a:t>
            </a:r>
            <a:r>
              <a:rPr lang="zh-TW" altLang="en-US" dirty="0"/>
              <a:t>𝑑 </a:t>
            </a:r>
            <a:r>
              <a:rPr lang="en-US" altLang="zh-TW" dirty="0"/>
              <a:t>) )=</a:t>
            </a:r>
            <a:r>
              <a:rPr lang="zh-TW" altLang="en-US" dirty="0"/>
              <a:t>𝑒</a:t>
            </a:r>
            <a:r>
              <a:rPr lang="en-US" altLang="zh-TW" dirty="0"/>
              <a:t>(</a:t>
            </a:r>
            <a:r>
              <a:rPr lang="zh-TW" altLang="en-US" dirty="0"/>
              <a:t>𝑢</a:t>
            </a:r>
            <a:r>
              <a:rPr lang="en-US" altLang="zh-TW" dirty="0"/>
              <a:t>_1ⓜ,…</a:t>
            </a:r>
            <a:r>
              <a:rPr lang="zh-TW" altLang="en-US" dirty="0"/>
              <a:t>𝑢</a:t>
            </a:r>
            <a:r>
              <a:rPr lang="en-US" altLang="zh-TW" dirty="0"/>
              <a:t>_</a:t>
            </a:r>
            <a:r>
              <a:rPr lang="zh-TW" altLang="en-US" dirty="0"/>
              <a:t>𝑑 ┝𝑎</a:t>
            </a:r>
          </a:p>
          <a:p>
            <a:r>
              <a:rPr lang="zh-TW" altLang="en-US" dirty="0"/>
              <a:t>非退化： 𝑔</a:t>
            </a:r>
            <a:r>
              <a:rPr lang="en-US" altLang="zh-TW" dirty="0"/>
              <a:t>_</a:t>
            </a:r>
            <a:r>
              <a:rPr lang="zh-TW" altLang="en-US" dirty="0"/>
              <a:t>𝑇</a:t>
            </a:r>
            <a:r>
              <a:rPr lang="en-US" altLang="zh-TW" dirty="0"/>
              <a:t>:=</a:t>
            </a:r>
            <a:r>
              <a:rPr lang="zh-TW" altLang="en-US" dirty="0"/>
              <a:t>𝑒</a:t>
            </a:r>
            <a:r>
              <a:rPr lang="en-US" altLang="zh-TW" dirty="0"/>
              <a:t>(</a:t>
            </a:r>
            <a:r>
              <a:rPr lang="zh-TW" altLang="en-US" dirty="0"/>
              <a:t>𝑔ⓜ</a:t>
            </a:r>
            <a:r>
              <a:rPr lang="en-US" altLang="zh-TW" dirty="0"/>
              <a:t>,…ⓜ,</a:t>
            </a:r>
            <a:r>
              <a:rPr lang="zh-TW" altLang="en-US" dirty="0"/>
              <a:t>𝑔</a:t>
            </a:r>
            <a:r>
              <a:rPr lang="en-US" altLang="zh-TW" dirty="0"/>
              <a:t>) </a:t>
            </a:r>
            <a:r>
              <a:rPr lang="zh-TW" altLang="en-US" dirty="0"/>
              <a:t>是 𝔾</a:t>
            </a:r>
            <a:r>
              <a:rPr lang="en-US" altLang="zh-TW" dirty="0"/>
              <a:t>_</a:t>
            </a:r>
            <a:r>
              <a:rPr lang="zh-TW" altLang="en-US" dirty="0"/>
              <a:t>𝑇 的產生器</a:t>
            </a:r>
          </a:p>
          <a:p>
            <a:r>
              <a:rPr lang="zh-TW" altLang="en-US" dirty="0"/>
              <a:t>攻擊遊戲（決策多線性</a:t>
            </a:r>
            <a:r>
              <a:rPr lang="en-US" altLang="zh-TW" dirty="0"/>
              <a:t>Diffie-Hellman</a:t>
            </a:r>
            <a:r>
              <a:rPr lang="zh-TW" altLang="en-US" dirty="0"/>
              <a:t>）對於 𝑏</a:t>
            </a:r>
            <a:r>
              <a:rPr lang="en-US" altLang="zh-TW" dirty="0"/>
              <a:t>=0,1</a:t>
            </a:r>
            <a:r>
              <a:rPr lang="zh-TW" altLang="en-US" dirty="0"/>
              <a:t>：</a:t>
            </a:r>
          </a:p>
          <a:p>
            <a:r>
              <a:rPr lang="zh-TW" altLang="en-US" dirty="0"/>
              <a:t>挑戰者計算：</a:t>
            </a:r>
          </a:p>
          <a:p>
            <a:r>
              <a:rPr lang="zh-TW" altLang="en-US" dirty="0"/>
              <a:t>𝛼</a:t>
            </a:r>
            <a:r>
              <a:rPr lang="en-US" altLang="zh-TW" dirty="0"/>
              <a:t>_1,…,</a:t>
            </a:r>
            <a:r>
              <a:rPr lang="zh-TW" altLang="en-US" dirty="0"/>
              <a:t>𝛼</a:t>
            </a:r>
            <a:r>
              <a:rPr lang="en-US" altLang="zh-TW" dirty="0"/>
              <a:t>_(</a:t>
            </a:r>
            <a:r>
              <a:rPr lang="zh-TW" altLang="en-US" dirty="0"/>
              <a:t>𝑑</a:t>
            </a:r>
            <a:r>
              <a:rPr lang="en-US" altLang="zh-TW" dirty="0"/>
              <a:t>+1)←ℤ_</a:t>
            </a:r>
            <a:r>
              <a:rPr lang="zh-TW" altLang="en-US" dirty="0"/>
              <a:t>𝑞</a:t>
            </a:r>
          </a:p>
          <a:p>
            <a:r>
              <a:rPr lang="zh-TW" altLang="en-US" dirty="0"/>
              <a:t>𝑢</a:t>
            </a:r>
            <a:r>
              <a:rPr lang="en-US" altLang="zh-TW" dirty="0"/>
              <a:t>_</a:t>
            </a:r>
            <a:r>
              <a:rPr lang="zh-TW" altLang="en-US" dirty="0"/>
              <a:t>𝑖←𝑔</a:t>
            </a:r>
            <a:r>
              <a:rPr lang="en-US" altLang="zh-TW" dirty="0"/>
              <a:t>^(</a:t>
            </a:r>
            <a:r>
              <a:rPr lang="zh-TW" altLang="en-US" dirty="0"/>
              <a:t>𝛼</a:t>
            </a:r>
            <a:r>
              <a:rPr lang="en-US" altLang="zh-TW" dirty="0"/>
              <a:t>_</a:t>
            </a:r>
            <a:r>
              <a:rPr lang="zh-TW" altLang="en-US" dirty="0"/>
              <a:t>𝑖 </a:t>
            </a:r>
            <a:r>
              <a:rPr lang="en-US" altLang="zh-TW" dirty="0"/>
              <a:t>)∈</a:t>
            </a:r>
            <a:r>
              <a:rPr lang="zh-TW" altLang="en-US" dirty="0"/>
              <a:t>𝔾 </a:t>
            </a:r>
            <a:r>
              <a:rPr lang="en-US" altLang="zh-TW" dirty="0"/>
              <a:t>(</a:t>
            </a:r>
            <a:r>
              <a:rPr lang="zh-TW" altLang="en-US" dirty="0"/>
              <a:t>𝑖ⓜ</a:t>
            </a:r>
            <a:r>
              <a:rPr lang="en-US" altLang="zh-TW" dirty="0"/>
              <a:t>,=ⓜ,1…</a:t>
            </a:r>
            <a:r>
              <a:rPr lang="zh-TW" altLang="en-US" dirty="0"/>
              <a:t>𝑑</a:t>
            </a:r>
            <a:r>
              <a:rPr lang="en-US" altLang="zh-TW" dirty="0"/>
              <a:t>+1)</a:t>
            </a:r>
          </a:p>
          <a:p>
            <a:r>
              <a:rPr lang="zh-TW" altLang="en-US" dirty="0"/>
              <a:t>𝑧</a:t>
            </a:r>
            <a:r>
              <a:rPr lang="en-US" altLang="zh-TW" dirty="0"/>
              <a:t>^((0) )←</a:t>
            </a:r>
            <a:r>
              <a:rPr lang="zh-TW" altLang="en-US" dirty="0"/>
              <a:t>𝑒⏟</a:t>
            </a:r>
            <a:r>
              <a:rPr lang="en-US" altLang="zh-TW" dirty="0"/>
              <a:t>((</a:t>
            </a:r>
            <a:r>
              <a:rPr lang="zh-TW" altLang="en-US" dirty="0"/>
              <a:t>𝑔</a:t>
            </a:r>
            <a:r>
              <a:rPr lang="en-US" altLang="zh-TW" dirty="0"/>
              <a:t>,…,</a:t>
            </a:r>
            <a:r>
              <a:rPr lang="zh-TW" altLang="en-US" dirty="0"/>
              <a:t>𝑔</a:t>
            </a:r>
            <a:r>
              <a:rPr lang="en-US" altLang="zh-TW" dirty="0"/>
              <a:t>) )┬(</a:t>
            </a:r>
            <a:r>
              <a:rPr lang="zh-TW" altLang="en-US" dirty="0"/>
              <a:t>𝑑</a:t>
            </a:r>
            <a:r>
              <a:rPr lang="en-US" altLang="zh-TW" dirty="0"/>
              <a:t>-way map)^(</a:t>
            </a:r>
            <a:r>
              <a:rPr lang="zh-TW" altLang="en-US" dirty="0"/>
              <a:t>𝛼</a:t>
            </a:r>
            <a:r>
              <a:rPr lang="en-US" altLang="zh-TW" dirty="0"/>
              <a:t>_1⋯</a:t>
            </a:r>
            <a:r>
              <a:rPr lang="zh-TW" altLang="en-US" dirty="0"/>
              <a:t>𝛼</a:t>
            </a:r>
            <a:r>
              <a:rPr lang="en-US" altLang="zh-TW" dirty="0"/>
              <a:t>_(</a:t>
            </a:r>
            <a:r>
              <a:rPr lang="zh-TW" altLang="en-US" dirty="0"/>
              <a:t>𝑑</a:t>
            </a:r>
            <a:r>
              <a:rPr lang="en-US" altLang="zh-TW" dirty="0"/>
              <a:t>+1) ) ,</a:t>
            </a:r>
            <a:r>
              <a:rPr lang="zh-TW" altLang="en-US" dirty="0"/>
              <a:t>𝛼</a:t>
            </a:r>
            <a:r>
              <a:rPr lang="en-US" altLang="zh-TW" dirty="0"/>
              <a:t>_1⋯</a:t>
            </a:r>
            <a:r>
              <a:rPr lang="zh-TW" altLang="en-US" dirty="0"/>
              <a:t>𝛼</a:t>
            </a:r>
            <a:r>
              <a:rPr lang="en-US" altLang="zh-TW" dirty="0"/>
              <a:t>_(</a:t>
            </a:r>
            <a:r>
              <a:rPr lang="zh-TW" altLang="en-US" dirty="0"/>
              <a:t>𝑑</a:t>
            </a:r>
            <a:r>
              <a:rPr lang="en-US" altLang="zh-TW" dirty="0"/>
              <a:t>+1) ) ,</a:t>
            </a:r>
            <a:r>
              <a:rPr lang="zh-TW" altLang="en-US" dirty="0"/>
              <a:t>𝑧</a:t>
            </a:r>
            <a:r>
              <a:rPr lang="en-US" altLang="zh-TW" dirty="0"/>
              <a:t>^((1) ⑝ )┬(</a:t>
            </a:r>
            <a:r>
              <a:rPr lang="zh-TW" altLang="en-US" dirty="0"/>
              <a:t>𝑑</a:t>
            </a:r>
            <a:r>
              <a:rPr lang="en-US" altLang="zh-TW" dirty="0"/>
              <a:t>-way map)^</a:t>
            </a:r>
            <a:r>
              <a:rPr lang="zh-TW" altLang="en-US" dirty="0"/>
              <a:t>𝛽</a:t>
            </a:r>
          </a:p>
          <a:p>
            <a:r>
              <a:rPr lang="zh-TW" altLang="en-US" dirty="0"/>
              <a:t>至對手 </a:t>
            </a:r>
            <a:r>
              <a:rPr lang="en-US" altLang="zh-TW" dirty="0"/>
              <a:t>(</a:t>
            </a:r>
            <a:r>
              <a:rPr lang="zh-TW" altLang="en-US" dirty="0"/>
              <a:t>𝑢</a:t>
            </a:r>
            <a:r>
              <a:rPr lang="en-US" altLang="zh-TW" dirty="0"/>
              <a:t>_1ⓜ,…ⓜ,</a:t>
            </a:r>
            <a:r>
              <a:rPr lang="zh-TW" altLang="en-US" dirty="0"/>
              <a:t>𝑢</a:t>
            </a:r>
            <a:r>
              <a:rPr lang="en-US" altLang="zh-TW" dirty="0"/>
              <a:t>_(</a:t>
            </a:r>
            <a:r>
              <a:rPr lang="zh-TW" altLang="en-US" dirty="0"/>
              <a:t>𝑑</a:t>
            </a:r>
            <a:r>
              <a:rPr lang="en-US" altLang="zh-TW" dirty="0"/>
              <a:t>+1)ⓜ,</a:t>
            </a:r>
            <a:r>
              <a:rPr lang="zh-TW" altLang="en-US" dirty="0"/>
              <a:t>𝑧</a:t>
            </a:r>
            <a:r>
              <a:rPr lang="en-US" altLang="zh-TW" dirty="0"/>
              <a:t>^((</a:t>
            </a:r>
            <a:r>
              <a:rPr lang="zh-TW" altLang="en-US" dirty="0"/>
              <a:t>𝑏</a:t>
            </a:r>
            <a:r>
              <a:rPr lang="en-US" altLang="zh-TW" dirty="0"/>
              <a:t>) ) )</a:t>
            </a:r>
          </a:p>
          <a:p>
            <a:r>
              <a:rPr lang="zh-TW" altLang="en-US" dirty="0"/>
              <a:t>對手猜測𝑏 ̂∈</a:t>
            </a:r>
            <a:r>
              <a:rPr lang="en-US" altLang="zh-TW" dirty="0"/>
              <a:t>{0,1}</a:t>
            </a:r>
          </a:p>
          <a:p>
            <a:r>
              <a:rPr lang="zh-TW" altLang="en-US" dirty="0"/>
              <a:t>對手優勢：𝐷𝑀𝐷𝐻𝑎𝑑𝑣</a:t>
            </a:r>
            <a:r>
              <a:rPr lang="en-US" altLang="zh-TW" dirty="0"/>
              <a:t>[</a:t>
            </a:r>
            <a:r>
              <a:rPr lang="zh-TW" altLang="en-US" dirty="0"/>
              <a:t>𝐴</a:t>
            </a:r>
            <a:r>
              <a:rPr lang="en-US" altLang="zh-TW" dirty="0"/>
              <a:t>,</a:t>
            </a:r>
            <a:r>
              <a:rPr lang="zh-TW" altLang="en-US" dirty="0"/>
              <a:t>𝑒</a:t>
            </a:r>
            <a:r>
              <a:rPr lang="en-US" altLang="zh-TW" dirty="0"/>
              <a:t>,</a:t>
            </a:r>
            <a:r>
              <a:rPr lang="zh-TW" altLang="en-US" dirty="0"/>
              <a:t>𝑑</a:t>
            </a:r>
            <a:r>
              <a:rPr lang="en-US" altLang="zh-TW" dirty="0"/>
              <a:t>]=∣</a:t>
            </a:r>
            <a:r>
              <a:rPr lang="zh-TW" altLang="en-US" dirty="0"/>
              <a:t>𝑃​​ 𝑟⁡</a:t>
            </a:r>
            <a:r>
              <a:rPr lang="en-US" altLang="zh-TW" dirty="0"/>
              <a:t>[</a:t>
            </a:r>
            <a:r>
              <a:rPr lang="zh-TW" altLang="en-US" dirty="0"/>
              <a:t>𝑊</a:t>
            </a:r>
            <a:r>
              <a:rPr lang="en-US" altLang="zh-TW" dirty="0"/>
              <a:t>0]−</a:t>
            </a:r>
            <a:r>
              <a:rPr lang="zh-TW" altLang="en-US" dirty="0"/>
              <a:t>𝑃 𝑟⁡</a:t>
            </a:r>
            <a:r>
              <a:rPr lang="en-US" altLang="zh-TW" dirty="0"/>
              <a:t>[</a:t>
            </a:r>
            <a:r>
              <a:rPr lang="zh-TW" altLang="en-US" dirty="0"/>
              <a:t>𝑊</a:t>
            </a:r>
            <a:r>
              <a:rPr lang="en-US" altLang="zh-TW" dirty="0"/>
              <a:t>0]−</a:t>
            </a:r>
            <a:endParaRPr lang="zh-TW" alt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D664F08-ACCB-BECC-9E56-AD0AC98C0E8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D603F98-3FC4-FB3F-7CF9-BE6B29A72F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E0E4C-DE99-4002-A21C-D36A5701BB8C}" type="slidenum">
              <a:rPr lang="zh-TW" altLang="en-US" smtClean="0"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1639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accent5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4716833" y="949300"/>
            <a:ext cx="9380800" cy="43696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" name="Google Shape;10;p2"/>
          <p:cNvSpPr/>
          <p:nvPr/>
        </p:nvSpPr>
        <p:spPr>
          <a:xfrm>
            <a:off x="0" y="1673367"/>
            <a:ext cx="5763600" cy="5188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Google Shape;11;p2"/>
          <p:cNvSpPr/>
          <p:nvPr/>
        </p:nvSpPr>
        <p:spPr>
          <a:xfrm flipH="1">
            <a:off x="1378933" y="0"/>
            <a:ext cx="14490400" cy="6858000"/>
          </a:xfrm>
          <a:prstGeom prst="triangle">
            <a:avLst>
              <a:gd name="adj" fmla="val 4985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074333" y="2931567"/>
            <a:ext cx="5763600" cy="201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Julius Sans One"/>
              <a:buNone/>
              <a:defRPr sz="5333" b="1">
                <a:solidFill>
                  <a:schemeClr val="lt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732333" y="5539167"/>
            <a:ext cx="5105600" cy="3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3733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3733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3733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3733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3733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3733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3733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3733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03976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accent5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6379833" y="2797579"/>
            <a:ext cx="4564800" cy="114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533" b="1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6868233" y="1376012"/>
            <a:ext cx="4076400" cy="114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8169400" y="4427067"/>
            <a:ext cx="2775200" cy="6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cxnSp>
        <p:nvCxnSpPr>
          <p:cNvPr id="18" name="Google Shape;18;p3"/>
          <p:cNvCxnSpPr/>
          <p:nvPr/>
        </p:nvCxnSpPr>
        <p:spPr>
          <a:xfrm flipH="1">
            <a:off x="3752200" y="-1684000"/>
            <a:ext cx="5010000" cy="5578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Google Shape;19;p3"/>
          <p:cNvSpPr/>
          <p:nvPr/>
        </p:nvSpPr>
        <p:spPr>
          <a:xfrm flipH="1">
            <a:off x="10559833" y="5101033"/>
            <a:ext cx="1728000" cy="1843200"/>
          </a:xfrm>
          <a:prstGeom prst="rtTriangl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27409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chemeClr val="accent5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950967" y="1898867"/>
            <a:ext cx="8100000" cy="43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marR="67732" lvl="0" indent="-42332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1219170" lvl="1" indent="-42332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950967" y="707445"/>
            <a:ext cx="7690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 flipH="1">
            <a:off x="7744733" y="2045200"/>
            <a:ext cx="6400800" cy="6400800"/>
          </a:xfrm>
          <a:prstGeom prst="rtTriangl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/>
          </a:p>
        </p:txBody>
      </p:sp>
    </p:spTree>
    <p:extLst>
      <p:ext uri="{BB962C8B-B14F-4D97-AF65-F5344CB8AC3E}">
        <p14:creationId xmlns:p14="http://schemas.microsoft.com/office/powerpoint/2010/main" val="2771855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dos columnas " type="twoColTx">
  <p:cSld name="Título y dos columnas ">
    <p:bg>
      <p:bgPr>
        <a:solidFill>
          <a:schemeClr val="accent5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subTitle" idx="1"/>
          </p:nvPr>
        </p:nvSpPr>
        <p:spPr>
          <a:xfrm>
            <a:off x="1111903" y="3522103"/>
            <a:ext cx="4134400" cy="1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2"/>
          </p:nvPr>
        </p:nvSpPr>
        <p:spPr>
          <a:xfrm>
            <a:off x="6945697" y="3522103"/>
            <a:ext cx="4134400" cy="1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2073303" y="2647680"/>
            <a:ext cx="221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 idx="3"/>
          </p:nvPr>
        </p:nvSpPr>
        <p:spPr>
          <a:xfrm>
            <a:off x="7907097" y="2647680"/>
            <a:ext cx="221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9" name="Google Shape;29;p5"/>
          <p:cNvSpPr/>
          <p:nvPr/>
        </p:nvSpPr>
        <p:spPr>
          <a:xfrm rot="10800000">
            <a:off x="4784600" y="-30167"/>
            <a:ext cx="2622800" cy="11812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02592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ítulo " type="titleOnly">
  <p:cSld name="Solo título ">
    <p:bg>
      <p:bgPr>
        <a:solidFill>
          <a:schemeClr val="accent5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1189400" y="707633"/>
            <a:ext cx="9813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2" name="Google Shape;32;p6"/>
          <p:cNvSpPr/>
          <p:nvPr/>
        </p:nvSpPr>
        <p:spPr>
          <a:xfrm flipH="1">
            <a:off x="9366000" y="3467500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3" name="Google Shape;33;p6"/>
          <p:cNvSpPr/>
          <p:nvPr/>
        </p:nvSpPr>
        <p:spPr>
          <a:xfrm flipH="1">
            <a:off x="9505067" y="3467500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4" name="Google Shape;34;p6"/>
          <p:cNvSpPr/>
          <p:nvPr/>
        </p:nvSpPr>
        <p:spPr>
          <a:xfrm rot="10800000" flipH="1">
            <a:off x="-1016567" y="-1220733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5" name="Google Shape;35;p6"/>
          <p:cNvSpPr/>
          <p:nvPr/>
        </p:nvSpPr>
        <p:spPr>
          <a:xfrm rot="10800000" flipH="1">
            <a:off x="-2241867" y="-20301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728740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solidFill>
          <a:schemeClr val="accent5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950967" y="2939473"/>
            <a:ext cx="5133600" cy="9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950967" y="1230700"/>
            <a:ext cx="5627600" cy="13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174673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dk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1073400" y="2454000"/>
            <a:ext cx="10045200" cy="19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8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87595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solidFill>
          <a:schemeClr val="accent5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0" y="609600"/>
            <a:ext cx="12192000" cy="62484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" name="Google Shape;43;p9"/>
          <p:cNvSpPr/>
          <p:nvPr/>
        </p:nvSpPr>
        <p:spPr>
          <a:xfrm rot="5400000">
            <a:off x="-85900" y="85800"/>
            <a:ext cx="5657600" cy="54860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" name="Google Shape;44;p9"/>
          <p:cNvSpPr/>
          <p:nvPr/>
        </p:nvSpPr>
        <p:spPr>
          <a:xfrm rot="-5400000" flipH="1">
            <a:off x="6588933" y="35367"/>
            <a:ext cx="5819600" cy="5636800"/>
          </a:xfrm>
          <a:prstGeom prst="rtTriangl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5" name="Google Shape;45;p9"/>
          <p:cNvSpPr txBox="1">
            <a:spLocks noGrp="1"/>
          </p:cNvSpPr>
          <p:nvPr>
            <p:ph type="ctrTitle"/>
          </p:nvPr>
        </p:nvSpPr>
        <p:spPr>
          <a:xfrm>
            <a:off x="2254400" y="3293733"/>
            <a:ext cx="7683200" cy="93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4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958300" y="4445733"/>
            <a:ext cx="6275200" cy="10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06361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bg>
      <p:bgPr>
        <a:solidFill>
          <a:schemeClr val="accent5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/>
        </p:nvSpPr>
        <p:spPr>
          <a:xfrm>
            <a:off x="-67" y="7467"/>
            <a:ext cx="12192000" cy="6858000"/>
          </a:xfrm>
          <a:prstGeom prst="rect">
            <a:avLst/>
          </a:prstGeom>
          <a:solidFill>
            <a:schemeClr val="lt1">
              <a:alpha val="2356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9" name="Google Shape;49;p10"/>
          <p:cNvSpPr/>
          <p:nvPr/>
        </p:nvSpPr>
        <p:spPr>
          <a:xfrm>
            <a:off x="5749867" y="4892367"/>
            <a:ext cx="6515200" cy="140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6096000" y="4972767"/>
            <a:ext cx="5145200" cy="10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333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51" name="Google Shape;51;p10"/>
          <p:cNvSpPr/>
          <p:nvPr/>
        </p:nvSpPr>
        <p:spPr>
          <a:xfrm rot="5400000">
            <a:off x="-454949" y="-1050849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52" name="Google Shape;52;p10"/>
          <p:cNvSpPr/>
          <p:nvPr/>
        </p:nvSpPr>
        <p:spPr>
          <a:xfrm rot="5400000">
            <a:off x="-581949" y="-1342949"/>
            <a:ext cx="4541200" cy="4403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472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accent5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/>
          <p:nvPr/>
        </p:nvSpPr>
        <p:spPr>
          <a:xfrm rot="10800000">
            <a:off x="-26500" y="-25767"/>
            <a:ext cx="12270800" cy="6883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951000" y="851733"/>
            <a:ext cx="102900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12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12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12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12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12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12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12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12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12000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951000" y="3608501"/>
            <a:ext cx="10290000" cy="5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Font typeface="Didact Gothic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092326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947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solidFill>
          <a:schemeClr val="accent5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/>
          <p:nvPr/>
        </p:nvSpPr>
        <p:spPr>
          <a:xfrm>
            <a:off x="-225733" y="-86000"/>
            <a:ext cx="5934800" cy="70296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60" name="Google Shape;60;p13"/>
          <p:cNvCxnSpPr/>
          <p:nvPr/>
        </p:nvCxnSpPr>
        <p:spPr>
          <a:xfrm rot="10800000">
            <a:off x="-2139567" y="2165800"/>
            <a:ext cx="6426400" cy="5892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" name="Google Shape;61;p13"/>
          <p:cNvSpPr txBox="1">
            <a:spLocks noGrp="1"/>
          </p:cNvSpPr>
          <p:nvPr>
            <p:ph type="title"/>
          </p:nvPr>
        </p:nvSpPr>
        <p:spPr>
          <a:xfrm>
            <a:off x="7587533" y="2510967"/>
            <a:ext cx="42584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2" hasCustomPrompt="1"/>
          </p:nvPr>
        </p:nvSpPr>
        <p:spPr>
          <a:xfrm>
            <a:off x="6414361" y="1552091"/>
            <a:ext cx="912800" cy="3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3" hasCustomPrompt="1"/>
          </p:nvPr>
        </p:nvSpPr>
        <p:spPr>
          <a:xfrm>
            <a:off x="6414361" y="2709320"/>
            <a:ext cx="912800" cy="3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4"/>
          </p:nvPr>
        </p:nvSpPr>
        <p:spPr>
          <a:xfrm>
            <a:off x="7587533" y="4837700"/>
            <a:ext cx="42584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5"/>
          </p:nvPr>
        </p:nvSpPr>
        <p:spPr>
          <a:xfrm>
            <a:off x="7587533" y="1392000"/>
            <a:ext cx="42584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6"/>
          </p:nvPr>
        </p:nvSpPr>
        <p:spPr>
          <a:xfrm>
            <a:off x="7587533" y="3680467"/>
            <a:ext cx="42584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7" hasCustomPrompt="1"/>
          </p:nvPr>
        </p:nvSpPr>
        <p:spPr>
          <a:xfrm>
            <a:off x="6414361" y="3840557"/>
            <a:ext cx="912800" cy="3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8" hasCustomPrompt="1"/>
          </p:nvPr>
        </p:nvSpPr>
        <p:spPr>
          <a:xfrm>
            <a:off x="6414361" y="4997787"/>
            <a:ext cx="912800" cy="3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"/>
          </p:nvPr>
        </p:nvSpPr>
        <p:spPr>
          <a:xfrm>
            <a:off x="7587533" y="1759393"/>
            <a:ext cx="3272000" cy="3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9"/>
          </p:nvPr>
        </p:nvSpPr>
        <p:spPr>
          <a:xfrm>
            <a:off x="7587533" y="4060560"/>
            <a:ext cx="3272000" cy="3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3"/>
          </p:nvPr>
        </p:nvSpPr>
        <p:spPr>
          <a:xfrm>
            <a:off x="7587533" y="2883597"/>
            <a:ext cx="3272000" cy="3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4"/>
          </p:nvPr>
        </p:nvSpPr>
        <p:spPr>
          <a:xfrm>
            <a:off x="7587533" y="5210331"/>
            <a:ext cx="3272000" cy="3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15"/>
          </p:nvPr>
        </p:nvSpPr>
        <p:spPr>
          <a:xfrm>
            <a:off x="950967" y="2931733"/>
            <a:ext cx="4555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4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53923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bg>
      <p:bgPr>
        <a:solidFill>
          <a:schemeClr val="accent5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 hasCustomPrompt="1"/>
          </p:nvPr>
        </p:nvSpPr>
        <p:spPr>
          <a:xfrm>
            <a:off x="1087317" y="3994300"/>
            <a:ext cx="811200" cy="5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" name="Google Shape;76;p14"/>
          <p:cNvSpPr txBox="1">
            <a:spLocks noGrp="1"/>
          </p:cNvSpPr>
          <p:nvPr>
            <p:ph type="title" idx="2"/>
          </p:nvPr>
        </p:nvSpPr>
        <p:spPr>
          <a:xfrm>
            <a:off x="2177917" y="3909067"/>
            <a:ext cx="39112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ubTitle" idx="1"/>
          </p:nvPr>
        </p:nvSpPr>
        <p:spPr>
          <a:xfrm>
            <a:off x="2177917" y="4276472"/>
            <a:ext cx="39112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 rot="10800000">
            <a:off x="-26500" y="-17781"/>
            <a:ext cx="12270800" cy="3586800"/>
          </a:xfrm>
          <a:prstGeom prst="triangle">
            <a:avLst>
              <a:gd name="adj" fmla="val 49898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" name="Google Shape;79;p14"/>
          <p:cNvSpPr txBox="1">
            <a:spLocks noGrp="1"/>
          </p:cNvSpPr>
          <p:nvPr>
            <p:ph type="title" idx="3" hasCustomPrompt="1"/>
          </p:nvPr>
        </p:nvSpPr>
        <p:spPr>
          <a:xfrm>
            <a:off x="1087317" y="5185000"/>
            <a:ext cx="811200" cy="5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14"/>
          <p:cNvSpPr txBox="1">
            <a:spLocks noGrp="1"/>
          </p:cNvSpPr>
          <p:nvPr>
            <p:ph type="title" idx="4"/>
          </p:nvPr>
        </p:nvSpPr>
        <p:spPr>
          <a:xfrm>
            <a:off x="2177917" y="5099761"/>
            <a:ext cx="39112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subTitle" idx="5"/>
          </p:nvPr>
        </p:nvSpPr>
        <p:spPr>
          <a:xfrm>
            <a:off x="2177917" y="5467167"/>
            <a:ext cx="39112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title" idx="6" hasCustomPrompt="1"/>
          </p:nvPr>
        </p:nvSpPr>
        <p:spPr>
          <a:xfrm>
            <a:off x="6058500" y="3994300"/>
            <a:ext cx="811200" cy="5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14"/>
          <p:cNvSpPr txBox="1">
            <a:spLocks noGrp="1"/>
          </p:cNvSpPr>
          <p:nvPr>
            <p:ph type="title" idx="7"/>
          </p:nvPr>
        </p:nvSpPr>
        <p:spPr>
          <a:xfrm>
            <a:off x="7193547" y="3909067"/>
            <a:ext cx="39112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ubTitle" idx="8"/>
          </p:nvPr>
        </p:nvSpPr>
        <p:spPr>
          <a:xfrm>
            <a:off x="7193547" y="4276472"/>
            <a:ext cx="39112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title" idx="9" hasCustomPrompt="1"/>
          </p:nvPr>
        </p:nvSpPr>
        <p:spPr>
          <a:xfrm>
            <a:off x="6058500" y="5185000"/>
            <a:ext cx="811200" cy="53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4"/>
          <p:cNvSpPr txBox="1">
            <a:spLocks noGrp="1"/>
          </p:cNvSpPr>
          <p:nvPr>
            <p:ph type="title" idx="13"/>
          </p:nvPr>
        </p:nvSpPr>
        <p:spPr>
          <a:xfrm>
            <a:off x="7193547" y="5099763"/>
            <a:ext cx="39112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subTitle" idx="14"/>
          </p:nvPr>
        </p:nvSpPr>
        <p:spPr>
          <a:xfrm>
            <a:off x="7193547" y="5467168"/>
            <a:ext cx="39112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cxnSp>
        <p:nvCxnSpPr>
          <p:cNvPr id="88" name="Google Shape;88;p14"/>
          <p:cNvCxnSpPr/>
          <p:nvPr/>
        </p:nvCxnSpPr>
        <p:spPr>
          <a:xfrm rot="10800000">
            <a:off x="-2989300" y="2546300"/>
            <a:ext cx="6426400" cy="589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" name="Google Shape;89;p14"/>
          <p:cNvCxnSpPr/>
          <p:nvPr/>
        </p:nvCxnSpPr>
        <p:spPr>
          <a:xfrm rot="10800000" flipH="1">
            <a:off x="8754900" y="2507000"/>
            <a:ext cx="6426400" cy="589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" name="Google Shape;90;p14"/>
          <p:cNvSpPr txBox="1">
            <a:spLocks noGrp="1"/>
          </p:cNvSpPr>
          <p:nvPr>
            <p:ph type="title" idx="15"/>
          </p:nvPr>
        </p:nvSpPr>
        <p:spPr>
          <a:xfrm>
            <a:off x="950967" y="707633"/>
            <a:ext cx="10281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7160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bg>
      <p:bgPr>
        <a:solidFill>
          <a:schemeClr val="accent5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1242267" y="2692957"/>
            <a:ext cx="4337200" cy="13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533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title" idx="2" hasCustomPrompt="1"/>
          </p:nvPr>
        </p:nvSpPr>
        <p:spPr>
          <a:xfrm>
            <a:off x="1242267" y="1289407"/>
            <a:ext cx="4076400" cy="12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" name="Google Shape;104;p16"/>
          <p:cNvSpPr txBox="1">
            <a:spLocks noGrp="1"/>
          </p:cNvSpPr>
          <p:nvPr>
            <p:ph type="subTitle" idx="1"/>
          </p:nvPr>
        </p:nvSpPr>
        <p:spPr>
          <a:xfrm>
            <a:off x="1242267" y="4434973"/>
            <a:ext cx="2638000" cy="7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cxnSp>
        <p:nvCxnSpPr>
          <p:cNvPr id="105" name="Google Shape;105;p16"/>
          <p:cNvCxnSpPr/>
          <p:nvPr/>
        </p:nvCxnSpPr>
        <p:spPr>
          <a:xfrm>
            <a:off x="3442400" y="-1684000"/>
            <a:ext cx="5010000" cy="5578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6" name="Google Shape;106;p16"/>
          <p:cNvSpPr/>
          <p:nvPr/>
        </p:nvSpPr>
        <p:spPr>
          <a:xfrm>
            <a:off x="-83233" y="5101033"/>
            <a:ext cx="1728000" cy="1843200"/>
          </a:xfrm>
          <a:prstGeom prst="rtTriangle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172178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bg>
      <p:bgPr>
        <a:solidFill>
          <a:schemeClr val="accent5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 flipH="1">
            <a:off x="2428633" y="3370167"/>
            <a:ext cx="7334800" cy="6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4057800" y="2044681"/>
            <a:ext cx="4076400" cy="116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0" name="Google Shape;110;p17"/>
          <p:cNvSpPr txBox="1">
            <a:spLocks noGrp="1"/>
          </p:cNvSpPr>
          <p:nvPr>
            <p:ph type="subTitle" idx="1"/>
          </p:nvPr>
        </p:nvSpPr>
        <p:spPr>
          <a:xfrm flipH="1">
            <a:off x="4264200" y="4390916"/>
            <a:ext cx="3663600" cy="4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cxnSp>
        <p:nvCxnSpPr>
          <p:cNvPr id="111" name="Google Shape;111;p17"/>
          <p:cNvCxnSpPr/>
          <p:nvPr/>
        </p:nvCxnSpPr>
        <p:spPr>
          <a:xfrm>
            <a:off x="8466817" y="-2001500"/>
            <a:ext cx="5010000" cy="5578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" name="Google Shape;112;p17"/>
          <p:cNvSpPr/>
          <p:nvPr/>
        </p:nvSpPr>
        <p:spPr>
          <a:xfrm>
            <a:off x="-85600" y="5101033"/>
            <a:ext cx="1728000" cy="1843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3" name="Google Shape;113;p17"/>
          <p:cNvSpPr/>
          <p:nvPr/>
        </p:nvSpPr>
        <p:spPr>
          <a:xfrm>
            <a:off x="7011867" y="-317233"/>
            <a:ext cx="15205200" cy="77924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" name="Google Shape;114;p17"/>
          <p:cNvSpPr/>
          <p:nvPr/>
        </p:nvSpPr>
        <p:spPr>
          <a:xfrm rot="10800000">
            <a:off x="-7185400" y="-2882633"/>
            <a:ext cx="15205200" cy="77924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5" name="Google Shape;115;p17"/>
          <p:cNvSpPr/>
          <p:nvPr/>
        </p:nvSpPr>
        <p:spPr>
          <a:xfrm>
            <a:off x="6948367" y="5151367"/>
            <a:ext cx="3876400" cy="198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7"/>
          <p:cNvSpPr/>
          <p:nvPr/>
        </p:nvSpPr>
        <p:spPr>
          <a:xfrm rot="10800000">
            <a:off x="1477300" y="-741433"/>
            <a:ext cx="3876400" cy="198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52288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bg>
      <p:bgPr>
        <a:solidFill>
          <a:schemeClr val="accent5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6394833" y="-290100"/>
            <a:ext cx="5797200" cy="749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19" name="Google Shape;119;p18"/>
          <p:cNvSpPr txBox="1">
            <a:spLocks noGrp="1"/>
          </p:cNvSpPr>
          <p:nvPr>
            <p:ph type="title"/>
          </p:nvPr>
        </p:nvSpPr>
        <p:spPr>
          <a:xfrm>
            <a:off x="950967" y="1920267"/>
            <a:ext cx="5145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subTitle" idx="1"/>
          </p:nvPr>
        </p:nvSpPr>
        <p:spPr>
          <a:xfrm>
            <a:off x="950967" y="3017733"/>
            <a:ext cx="4534400" cy="17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867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1123800" y="719333"/>
            <a:ext cx="1066800" cy="114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74261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bg>
      <p:bgPr>
        <a:solidFill>
          <a:schemeClr val="accent5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/>
          <p:nvPr/>
        </p:nvSpPr>
        <p:spPr>
          <a:xfrm>
            <a:off x="1797633" y="927000"/>
            <a:ext cx="8762800" cy="5004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4" name="Google Shape;124;p19"/>
          <p:cNvSpPr/>
          <p:nvPr/>
        </p:nvSpPr>
        <p:spPr>
          <a:xfrm rot="10800000">
            <a:off x="4178200" y="-30367"/>
            <a:ext cx="3835600" cy="1727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5" name="Google Shape;125;p19"/>
          <p:cNvSpPr txBox="1">
            <a:spLocks noGrp="1"/>
          </p:cNvSpPr>
          <p:nvPr>
            <p:ph type="body" idx="1"/>
          </p:nvPr>
        </p:nvSpPr>
        <p:spPr>
          <a:xfrm>
            <a:off x="3356633" y="3135947"/>
            <a:ext cx="5478800" cy="19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31789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1219170" lvl="1" indent="-397923" algn="just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828754" lvl="2" indent="-397923" algn="just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2438339" lvl="3" indent="-397923" algn="just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3047924" lvl="4" indent="-397923" algn="just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3657509" lvl="5" indent="-397923" algn="just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4267093" lvl="6" indent="-397923" algn="just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4876678" lvl="7" indent="-397923" algn="just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5486263" lvl="8" indent="-397923" algn="just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6" name="Google Shape;126;p19"/>
          <p:cNvSpPr txBox="1">
            <a:spLocks noGrp="1"/>
          </p:cNvSpPr>
          <p:nvPr>
            <p:ph type="title"/>
          </p:nvPr>
        </p:nvSpPr>
        <p:spPr>
          <a:xfrm>
            <a:off x="2250600" y="2028433"/>
            <a:ext cx="7690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79386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bg>
      <p:bgPr>
        <a:solidFill>
          <a:schemeClr val="accent5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>
            <a:spLocks noGrp="1"/>
          </p:cNvSpPr>
          <p:nvPr>
            <p:ph type="title"/>
          </p:nvPr>
        </p:nvSpPr>
        <p:spPr>
          <a:xfrm>
            <a:off x="1149933" y="4557448"/>
            <a:ext cx="235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subTitle" idx="1"/>
          </p:nvPr>
        </p:nvSpPr>
        <p:spPr>
          <a:xfrm>
            <a:off x="565933" y="4879215"/>
            <a:ext cx="3519600" cy="10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title" idx="2"/>
          </p:nvPr>
        </p:nvSpPr>
        <p:spPr>
          <a:xfrm>
            <a:off x="8701007" y="4557448"/>
            <a:ext cx="235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ubTitle" idx="3"/>
          </p:nvPr>
        </p:nvSpPr>
        <p:spPr>
          <a:xfrm>
            <a:off x="8117001" y="4879215"/>
            <a:ext cx="3519600" cy="10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title" idx="4"/>
          </p:nvPr>
        </p:nvSpPr>
        <p:spPr>
          <a:xfrm>
            <a:off x="4920200" y="4557448"/>
            <a:ext cx="235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33" name="Google Shape;133;p20"/>
          <p:cNvSpPr txBox="1">
            <a:spLocks noGrp="1"/>
          </p:cNvSpPr>
          <p:nvPr>
            <p:ph type="subTitle" idx="5"/>
          </p:nvPr>
        </p:nvSpPr>
        <p:spPr>
          <a:xfrm>
            <a:off x="4336197" y="4879215"/>
            <a:ext cx="3519600" cy="10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134" name="Google Shape;134;p20"/>
          <p:cNvSpPr txBox="1">
            <a:spLocks noGrp="1"/>
          </p:cNvSpPr>
          <p:nvPr>
            <p:ph type="title" idx="6"/>
          </p:nvPr>
        </p:nvSpPr>
        <p:spPr>
          <a:xfrm>
            <a:off x="2250600" y="707633"/>
            <a:ext cx="7690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44291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bg>
      <p:bgPr>
        <a:solidFill>
          <a:schemeClr val="accent5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/>
          <p:nvPr/>
        </p:nvSpPr>
        <p:spPr>
          <a:xfrm rot="-5400000">
            <a:off x="6981400" y="1724733"/>
            <a:ext cx="5233200" cy="5188000"/>
          </a:xfrm>
          <a:prstGeom prst="rtTriangle">
            <a:avLst/>
          </a:prstGeom>
          <a:solidFill>
            <a:srgbClr val="686868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7" name="Google Shape;137;p21"/>
          <p:cNvSpPr/>
          <p:nvPr/>
        </p:nvSpPr>
        <p:spPr>
          <a:xfrm rot="10800000" flipH="1">
            <a:off x="50500" y="200"/>
            <a:ext cx="12141600" cy="5959600"/>
          </a:xfrm>
          <a:prstGeom prst="triangl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" name="Google Shape;138;p21"/>
          <p:cNvSpPr/>
          <p:nvPr/>
        </p:nvSpPr>
        <p:spPr>
          <a:xfrm flipH="1">
            <a:off x="4774400" y="1849700"/>
            <a:ext cx="12739200" cy="6479600"/>
          </a:xfrm>
          <a:prstGeom prst="triangle">
            <a:avLst>
              <a:gd name="adj" fmla="val 49428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9" name="Google Shape;139;p21"/>
          <p:cNvSpPr txBox="1">
            <a:spLocks noGrp="1"/>
          </p:cNvSpPr>
          <p:nvPr>
            <p:ph type="ctrTitle"/>
          </p:nvPr>
        </p:nvSpPr>
        <p:spPr>
          <a:xfrm>
            <a:off x="2254400" y="1642733"/>
            <a:ext cx="7683200" cy="7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  <a:defRPr sz="10666"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40" name="Google Shape;140;p21"/>
          <p:cNvSpPr txBox="1">
            <a:spLocks noGrp="1"/>
          </p:cNvSpPr>
          <p:nvPr>
            <p:ph type="subTitle" idx="1"/>
          </p:nvPr>
        </p:nvSpPr>
        <p:spPr>
          <a:xfrm>
            <a:off x="4078400" y="2497823"/>
            <a:ext cx="4035200" cy="13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60663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bg>
      <p:bgPr>
        <a:solidFill>
          <a:schemeClr val="accent6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/>
          <p:nvPr/>
        </p:nvSpPr>
        <p:spPr>
          <a:xfrm rot="5400000">
            <a:off x="-4587067" y="-1063800"/>
            <a:ext cx="17676800" cy="89856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3" name="Google Shape;143;p22"/>
          <p:cNvSpPr/>
          <p:nvPr/>
        </p:nvSpPr>
        <p:spPr>
          <a:xfrm rot="-5400000">
            <a:off x="5865300" y="-493733"/>
            <a:ext cx="7688000" cy="74548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4" name="Google Shape;144;p22"/>
          <p:cNvSpPr txBox="1">
            <a:spLocks noGrp="1"/>
          </p:cNvSpPr>
          <p:nvPr>
            <p:ph type="ctrTitle"/>
          </p:nvPr>
        </p:nvSpPr>
        <p:spPr>
          <a:xfrm>
            <a:off x="950967" y="2229967"/>
            <a:ext cx="4035200" cy="78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4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 b="1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subTitle" idx="1"/>
          </p:nvPr>
        </p:nvSpPr>
        <p:spPr>
          <a:xfrm>
            <a:off x="950967" y="3296005"/>
            <a:ext cx="4035200" cy="13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146" name="Google Shape;146;p22"/>
          <p:cNvSpPr/>
          <p:nvPr/>
        </p:nvSpPr>
        <p:spPr>
          <a:xfrm rot="-2700000">
            <a:off x="5344497" y="-6021020"/>
            <a:ext cx="7688231" cy="7454603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147" name="Google Shape;147;p22"/>
          <p:cNvCxnSpPr/>
          <p:nvPr/>
        </p:nvCxnSpPr>
        <p:spPr>
          <a:xfrm rot="10800000" flipH="1">
            <a:off x="6083400" y="-272100"/>
            <a:ext cx="8013600" cy="8242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97930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bg>
      <p:bgPr>
        <a:solidFill>
          <a:schemeClr val="accent5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>
            <a:off x="5386633" y="2993717"/>
            <a:ext cx="5854400" cy="8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5557333" y="1284100"/>
            <a:ext cx="5683600" cy="12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80395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bg>
      <p:bgPr>
        <a:solidFill>
          <a:schemeClr val="accent5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/>
          <p:nvPr/>
        </p:nvSpPr>
        <p:spPr>
          <a:xfrm>
            <a:off x="0" y="0"/>
            <a:ext cx="57972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53" name="Google Shape;153;p24"/>
          <p:cNvSpPr txBox="1">
            <a:spLocks noGrp="1"/>
          </p:cNvSpPr>
          <p:nvPr>
            <p:ph type="title"/>
          </p:nvPr>
        </p:nvSpPr>
        <p:spPr>
          <a:xfrm>
            <a:off x="6698913" y="1920267"/>
            <a:ext cx="45344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subTitle" idx="1"/>
          </p:nvPr>
        </p:nvSpPr>
        <p:spPr>
          <a:xfrm>
            <a:off x="6698913" y="3017733"/>
            <a:ext cx="4534400" cy="17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 sz="1867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3355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Title and text 8">
    <p:bg>
      <p:bgPr>
        <a:solidFill>
          <a:schemeClr val="dk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>
            <a:spLocks noGrp="1"/>
          </p:cNvSpPr>
          <p:nvPr>
            <p:ph type="body" idx="1"/>
          </p:nvPr>
        </p:nvSpPr>
        <p:spPr>
          <a:xfrm>
            <a:off x="950967" y="3130456"/>
            <a:ext cx="5478800" cy="19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31789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828754" lvl="2" indent="-3979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2438339" lvl="3" indent="-3979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3047924" lvl="4" indent="-3979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3657509" lvl="5" indent="-3979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4267093" lvl="6" indent="-3979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4876678" lvl="7" indent="-3979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5486263" lvl="8" indent="-397923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57" name="Google Shape;157;p25"/>
          <p:cNvSpPr txBox="1">
            <a:spLocks noGrp="1"/>
          </p:cNvSpPr>
          <p:nvPr>
            <p:ph type="title"/>
          </p:nvPr>
        </p:nvSpPr>
        <p:spPr>
          <a:xfrm>
            <a:off x="950967" y="2028433"/>
            <a:ext cx="547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4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58" name="Google Shape;158;p25"/>
          <p:cNvSpPr/>
          <p:nvPr/>
        </p:nvSpPr>
        <p:spPr>
          <a:xfrm rot="5400000">
            <a:off x="-1014683" y="-1054016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59" name="Google Shape;159;p25"/>
          <p:cNvSpPr/>
          <p:nvPr/>
        </p:nvSpPr>
        <p:spPr>
          <a:xfrm rot="5400000">
            <a:off x="-1141683" y="-1346116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60" name="Google Shape;160;p25"/>
          <p:cNvSpPr/>
          <p:nvPr/>
        </p:nvSpPr>
        <p:spPr>
          <a:xfrm rot="-5400000">
            <a:off x="3862467" y="384000"/>
            <a:ext cx="13521600" cy="60900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4058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Title and text 9">
    <p:bg>
      <p:bgPr>
        <a:solidFill>
          <a:schemeClr val="accent6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/>
          <p:nvPr/>
        </p:nvSpPr>
        <p:spPr>
          <a:xfrm rot="10800000" flipH="1">
            <a:off x="-3186800" y="-136633"/>
            <a:ext cx="18516000" cy="8763200"/>
          </a:xfrm>
          <a:prstGeom prst="triangle">
            <a:avLst>
              <a:gd name="adj" fmla="val 4985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3" name="Google Shape;163;p26"/>
          <p:cNvSpPr/>
          <p:nvPr/>
        </p:nvSpPr>
        <p:spPr>
          <a:xfrm>
            <a:off x="-7015935" y="2060167"/>
            <a:ext cx="9380800" cy="43696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4" name="Google Shape;164;p26"/>
          <p:cNvSpPr txBox="1">
            <a:spLocks noGrp="1"/>
          </p:cNvSpPr>
          <p:nvPr>
            <p:ph type="body" idx="1"/>
          </p:nvPr>
        </p:nvSpPr>
        <p:spPr>
          <a:xfrm>
            <a:off x="3245700" y="4177652"/>
            <a:ext cx="5700400" cy="6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31789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1219170" lvl="1" indent="-39792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828754" lvl="2" indent="-3979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2438339" lvl="3" indent="-3979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3047924" lvl="4" indent="-3979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3657509" lvl="5" indent="-3979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4267093" lvl="6" indent="-3979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4876678" lvl="7" indent="-397923" rtl="0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5486263" lvl="8" indent="-397923" rtl="0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100"/>
              <a:buFont typeface="Montserrat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65" name="Google Shape;165;p26"/>
          <p:cNvSpPr txBox="1">
            <a:spLocks noGrp="1"/>
          </p:cNvSpPr>
          <p:nvPr>
            <p:ph type="title"/>
          </p:nvPr>
        </p:nvSpPr>
        <p:spPr>
          <a:xfrm>
            <a:off x="2301600" y="2241933"/>
            <a:ext cx="7588800" cy="17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10666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1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66" name="Google Shape;166;p26"/>
          <p:cNvSpPr/>
          <p:nvPr/>
        </p:nvSpPr>
        <p:spPr>
          <a:xfrm rot="10800000">
            <a:off x="9225833" y="-984167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67" name="Google Shape;167;p26"/>
          <p:cNvSpPr/>
          <p:nvPr/>
        </p:nvSpPr>
        <p:spPr>
          <a:xfrm rot="10800000">
            <a:off x="9416333" y="-1060367"/>
            <a:ext cx="4541200" cy="4403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590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bg>
      <p:bgPr>
        <a:solidFill>
          <a:schemeClr val="dk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/>
          <p:nvPr/>
        </p:nvSpPr>
        <p:spPr>
          <a:xfrm rot="-5400000">
            <a:off x="9759233" y="4304400"/>
            <a:ext cx="2816800" cy="2731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0" name="Google Shape;170;p27"/>
          <p:cNvSpPr/>
          <p:nvPr/>
        </p:nvSpPr>
        <p:spPr>
          <a:xfrm>
            <a:off x="-692867" y="3182467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71" name="Google Shape;171;p27"/>
          <p:cNvSpPr/>
          <p:nvPr/>
        </p:nvSpPr>
        <p:spPr>
          <a:xfrm>
            <a:off x="-984967" y="3309467"/>
            <a:ext cx="4541200" cy="4403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72" name="Google Shape;172;p27"/>
          <p:cNvSpPr/>
          <p:nvPr/>
        </p:nvSpPr>
        <p:spPr>
          <a:xfrm rot="10800000">
            <a:off x="8970433" y="-1220733"/>
            <a:ext cx="4541200" cy="4403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73" name="Google Shape;173;p27"/>
          <p:cNvSpPr/>
          <p:nvPr/>
        </p:nvSpPr>
        <p:spPr>
          <a:xfrm rot="5400000">
            <a:off x="-349967" y="-2519833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74" name="Google Shape;174;p27"/>
          <p:cNvSpPr txBox="1">
            <a:spLocks noGrp="1"/>
          </p:cNvSpPr>
          <p:nvPr>
            <p:ph type="title"/>
          </p:nvPr>
        </p:nvSpPr>
        <p:spPr>
          <a:xfrm>
            <a:off x="950968" y="2393917"/>
            <a:ext cx="45344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4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667" b="1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75" name="Google Shape;175;p27"/>
          <p:cNvSpPr txBox="1">
            <a:spLocks noGrp="1"/>
          </p:cNvSpPr>
          <p:nvPr>
            <p:ph type="subTitle" idx="1"/>
          </p:nvPr>
        </p:nvSpPr>
        <p:spPr>
          <a:xfrm>
            <a:off x="950967" y="3506875"/>
            <a:ext cx="4534400" cy="5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3584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>
  <p:cSld name="Main point 1">
    <p:bg>
      <p:bgPr>
        <a:solidFill>
          <a:schemeClr val="accent6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/>
          <p:nvPr/>
        </p:nvSpPr>
        <p:spPr>
          <a:xfrm rot="-5400000">
            <a:off x="6190588" y="-2231145"/>
            <a:ext cx="10246800" cy="99352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78" name="Google Shape;178;p28"/>
          <p:cNvSpPr/>
          <p:nvPr/>
        </p:nvSpPr>
        <p:spPr>
          <a:xfrm rot="-5400000" flipH="1">
            <a:off x="3788733" y="384067"/>
            <a:ext cx="13521600" cy="6090000"/>
          </a:xfrm>
          <a:prstGeom prst="triangl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9" name="Google Shape;179;p28"/>
          <p:cNvSpPr txBox="1">
            <a:spLocks noGrp="1"/>
          </p:cNvSpPr>
          <p:nvPr>
            <p:ph type="title"/>
          </p:nvPr>
        </p:nvSpPr>
        <p:spPr>
          <a:xfrm>
            <a:off x="950967" y="2169533"/>
            <a:ext cx="6212400" cy="25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8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80" name="Google Shape;180;p28"/>
          <p:cNvSpPr/>
          <p:nvPr/>
        </p:nvSpPr>
        <p:spPr>
          <a:xfrm rot="5400000">
            <a:off x="-454949" y="-1050849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81" name="Google Shape;181;p28"/>
          <p:cNvSpPr/>
          <p:nvPr/>
        </p:nvSpPr>
        <p:spPr>
          <a:xfrm rot="5400000">
            <a:off x="-581949" y="-1342949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82" name="Google Shape;182;p28"/>
          <p:cNvSpPr/>
          <p:nvPr/>
        </p:nvSpPr>
        <p:spPr>
          <a:xfrm flipH="1">
            <a:off x="7211633" y="6015767"/>
            <a:ext cx="4611200" cy="25652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19305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bg>
      <p:bgPr>
        <a:solidFill>
          <a:schemeClr val="accent5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>
            <a:spLocks noGrp="1"/>
          </p:cNvSpPr>
          <p:nvPr>
            <p:ph type="title"/>
          </p:nvPr>
        </p:nvSpPr>
        <p:spPr>
          <a:xfrm>
            <a:off x="1759432" y="2681500"/>
            <a:ext cx="2612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85" name="Google Shape;185;p29"/>
          <p:cNvSpPr txBox="1">
            <a:spLocks noGrp="1"/>
          </p:cNvSpPr>
          <p:nvPr>
            <p:ph type="subTitle" idx="1"/>
          </p:nvPr>
        </p:nvSpPr>
        <p:spPr>
          <a:xfrm>
            <a:off x="1759435" y="3048767"/>
            <a:ext cx="2962000" cy="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186" name="Google Shape;186;p29"/>
          <p:cNvSpPr txBox="1">
            <a:spLocks noGrp="1"/>
          </p:cNvSpPr>
          <p:nvPr>
            <p:ph type="title" idx="2"/>
          </p:nvPr>
        </p:nvSpPr>
        <p:spPr>
          <a:xfrm>
            <a:off x="6241864" y="2681700"/>
            <a:ext cx="2612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87" name="Google Shape;187;p29"/>
          <p:cNvSpPr txBox="1">
            <a:spLocks noGrp="1"/>
          </p:cNvSpPr>
          <p:nvPr>
            <p:ph type="subTitle" idx="3"/>
          </p:nvPr>
        </p:nvSpPr>
        <p:spPr>
          <a:xfrm>
            <a:off x="6241835" y="3046733"/>
            <a:ext cx="2962000" cy="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188" name="Google Shape;188;p29"/>
          <p:cNvSpPr txBox="1">
            <a:spLocks noGrp="1"/>
          </p:cNvSpPr>
          <p:nvPr>
            <p:ph type="title" idx="4"/>
          </p:nvPr>
        </p:nvSpPr>
        <p:spPr>
          <a:xfrm>
            <a:off x="3214599" y="4357900"/>
            <a:ext cx="2612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89" name="Google Shape;189;p29"/>
          <p:cNvSpPr txBox="1">
            <a:spLocks noGrp="1"/>
          </p:cNvSpPr>
          <p:nvPr>
            <p:ph type="subTitle" idx="5"/>
          </p:nvPr>
        </p:nvSpPr>
        <p:spPr>
          <a:xfrm>
            <a:off x="3214601" y="4725167"/>
            <a:ext cx="2962000" cy="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190" name="Google Shape;190;p29"/>
          <p:cNvSpPr txBox="1">
            <a:spLocks noGrp="1"/>
          </p:cNvSpPr>
          <p:nvPr>
            <p:ph type="title" idx="6"/>
          </p:nvPr>
        </p:nvSpPr>
        <p:spPr>
          <a:xfrm>
            <a:off x="7697031" y="4358100"/>
            <a:ext cx="2612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91" name="Google Shape;191;p29"/>
          <p:cNvSpPr txBox="1">
            <a:spLocks noGrp="1"/>
          </p:cNvSpPr>
          <p:nvPr>
            <p:ph type="subTitle" idx="7"/>
          </p:nvPr>
        </p:nvSpPr>
        <p:spPr>
          <a:xfrm>
            <a:off x="7697000" y="4723133"/>
            <a:ext cx="2962000" cy="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192" name="Google Shape;192;p29"/>
          <p:cNvSpPr/>
          <p:nvPr/>
        </p:nvSpPr>
        <p:spPr>
          <a:xfrm rot="-5400000">
            <a:off x="9759233" y="4304400"/>
            <a:ext cx="2816800" cy="2731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3" name="Google Shape;193;p29"/>
          <p:cNvSpPr/>
          <p:nvPr/>
        </p:nvSpPr>
        <p:spPr>
          <a:xfrm>
            <a:off x="-692867" y="3182467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94" name="Google Shape;194;p29"/>
          <p:cNvSpPr/>
          <p:nvPr/>
        </p:nvSpPr>
        <p:spPr>
          <a:xfrm>
            <a:off x="-984967" y="3309467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95" name="Google Shape;195;p29"/>
          <p:cNvSpPr/>
          <p:nvPr/>
        </p:nvSpPr>
        <p:spPr>
          <a:xfrm rot="10800000">
            <a:off x="8970433" y="-1220733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196" name="Google Shape;196;p29"/>
          <p:cNvSpPr/>
          <p:nvPr/>
        </p:nvSpPr>
        <p:spPr>
          <a:xfrm rot="5400000">
            <a:off x="-349967" y="-2519833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197" name="Google Shape;197;p29"/>
          <p:cNvSpPr txBox="1">
            <a:spLocks noGrp="1"/>
          </p:cNvSpPr>
          <p:nvPr>
            <p:ph type="title" idx="8"/>
          </p:nvPr>
        </p:nvSpPr>
        <p:spPr>
          <a:xfrm>
            <a:off x="950967" y="707633"/>
            <a:ext cx="10281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75437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bg>
      <p:bgPr>
        <a:solidFill>
          <a:schemeClr val="accent5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1844800" y="3076600"/>
            <a:ext cx="85024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00" name="Google Shape;200;p30"/>
          <p:cNvSpPr txBox="1">
            <a:spLocks noGrp="1"/>
          </p:cNvSpPr>
          <p:nvPr>
            <p:ph type="title" idx="2"/>
          </p:nvPr>
        </p:nvSpPr>
        <p:spPr>
          <a:xfrm>
            <a:off x="1494500" y="1199300"/>
            <a:ext cx="2612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01" name="Google Shape;201;p30"/>
          <p:cNvSpPr txBox="1">
            <a:spLocks noGrp="1"/>
          </p:cNvSpPr>
          <p:nvPr>
            <p:ph type="subTitle" idx="1"/>
          </p:nvPr>
        </p:nvSpPr>
        <p:spPr>
          <a:xfrm>
            <a:off x="978900" y="1555832"/>
            <a:ext cx="3643600" cy="10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02" name="Google Shape;202;p30"/>
          <p:cNvSpPr txBox="1">
            <a:spLocks noGrp="1"/>
          </p:cNvSpPr>
          <p:nvPr>
            <p:ph type="title" idx="3"/>
          </p:nvPr>
        </p:nvSpPr>
        <p:spPr>
          <a:xfrm>
            <a:off x="1494500" y="4637300"/>
            <a:ext cx="2612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03" name="Google Shape;203;p30"/>
          <p:cNvSpPr txBox="1">
            <a:spLocks noGrp="1"/>
          </p:cNvSpPr>
          <p:nvPr>
            <p:ph type="subTitle" idx="4"/>
          </p:nvPr>
        </p:nvSpPr>
        <p:spPr>
          <a:xfrm>
            <a:off x="978900" y="4997087"/>
            <a:ext cx="3643600" cy="10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04" name="Google Shape;204;p30"/>
          <p:cNvSpPr txBox="1">
            <a:spLocks noGrp="1"/>
          </p:cNvSpPr>
          <p:nvPr>
            <p:ph type="title" idx="5"/>
          </p:nvPr>
        </p:nvSpPr>
        <p:spPr>
          <a:xfrm>
            <a:off x="8085128" y="1199300"/>
            <a:ext cx="2612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05" name="Google Shape;205;p30"/>
          <p:cNvSpPr txBox="1">
            <a:spLocks noGrp="1"/>
          </p:cNvSpPr>
          <p:nvPr>
            <p:ph type="subTitle" idx="6"/>
          </p:nvPr>
        </p:nvSpPr>
        <p:spPr>
          <a:xfrm>
            <a:off x="7569533" y="1555832"/>
            <a:ext cx="3643600" cy="10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06" name="Google Shape;206;p30"/>
          <p:cNvSpPr txBox="1">
            <a:spLocks noGrp="1"/>
          </p:cNvSpPr>
          <p:nvPr>
            <p:ph type="title" idx="7"/>
          </p:nvPr>
        </p:nvSpPr>
        <p:spPr>
          <a:xfrm>
            <a:off x="8085128" y="4637500"/>
            <a:ext cx="2612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07" name="Google Shape;207;p30"/>
          <p:cNvSpPr txBox="1">
            <a:spLocks noGrp="1"/>
          </p:cNvSpPr>
          <p:nvPr>
            <p:ph type="subTitle" idx="8"/>
          </p:nvPr>
        </p:nvSpPr>
        <p:spPr>
          <a:xfrm>
            <a:off x="7569533" y="4994784"/>
            <a:ext cx="3643600" cy="10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9530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bg>
      <p:bgPr>
        <a:solidFill>
          <a:schemeClr val="accent5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>
            <a:spLocks noGrp="1"/>
          </p:cNvSpPr>
          <p:nvPr>
            <p:ph type="title"/>
          </p:nvPr>
        </p:nvSpPr>
        <p:spPr>
          <a:xfrm>
            <a:off x="2741587" y="2765733"/>
            <a:ext cx="29696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10" name="Google Shape;210;p31"/>
          <p:cNvSpPr txBox="1">
            <a:spLocks noGrp="1"/>
          </p:cNvSpPr>
          <p:nvPr>
            <p:ph type="subTitle" idx="1"/>
          </p:nvPr>
        </p:nvSpPr>
        <p:spPr>
          <a:xfrm>
            <a:off x="2741589" y="3109900"/>
            <a:ext cx="29696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11" name="Google Shape;211;p31"/>
          <p:cNvSpPr txBox="1">
            <a:spLocks noGrp="1"/>
          </p:cNvSpPr>
          <p:nvPr>
            <p:ph type="title" idx="2"/>
          </p:nvPr>
        </p:nvSpPr>
        <p:spPr>
          <a:xfrm>
            <a:off x="2741587" y="4537232"/>
            <a:ext cx="29696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12" name="Google Shape;212;p31"/>
          <p:cNvSpPr txBox="1">
            <a:spLocks noGrp="1"/>
          </p:cNvSpPr>
          <p:nvPr>
            <p:ph type="subTitle" idx="3"/>
          </p:nvPr>
        </p:nvSpPr>
        <p:spPr>
          <a:xfrm>
            <a:off x="2741589" y="4881400"/>
            <a:ext cx="29696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13" name="Google Shape;213;p31"/>
          <p:cNvSpPr txBox="1">
            <a:spLocks noGrp="1"/>
          </p:cNvSpPr>
          <p:nvPr>
            <p:ph type="title" idx="4"/>
          </p:nvPr>
        </p:nvSpPr>
        <p:spPr>
          <a:xfrm>
            <a:off x="7259552" y="2765733"/>
            <a:ext cx="29696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14" name="Google Shape;214;p31"/>
          <p:cNvSpPr txBox="1">
            <a:spLocks noGrp="1"/>
          </p:cNvSpPr>
          <p:nvPr>
            <p:ph type="subTitle" idx="5"/>
          </p:nvPr>
        </p:nvSpPr>
        <p:spPr>
          <a:xfrm>
            <a:off x="7259552" y="3109900"/>
            <a:ext cx="29696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15" name="Google Shape;215;p31"/>
          <p:cNvSpPr txBox="1">
            <a:spLocks noGrp="1"/>
          </p:cNvSpPr>
          <p:nvPr>
            <p:ph type="title" idx="6"/>
          </p:nvPr>
        </p:nvSpPr>
        <p:spPr>
          <a:xfrm>
            <a:off x="7259552" y="4537233"/>
            <a:ext cx="29696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16" name="Google Shape;216;p31"/>
          <p:cNvSpPr txBox="1">
            <a:spLocks noGrp="1"/>
          </p:cNvSpPr>
          <p:nvPr>
            <p:ph type="subTitle" idx="7"/>
          </p:nvPr>
        </p:nvSpPr>
        <p:spPr>
          <a:xfrm>
            <a:off x="7259552" y="4881400"/>
            <a:ext cx="29696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17" name="Google Shape;217;p31"/>
          <p:cNvSpPr/>
          <p:nvPr/>
        </p:nvSpPr>
        <p:spPr>
          <a:xfrm>
            <a:off x="-1949767" y="3182467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18" name="Google Shape;218;p31"/>
          <p:cNvSpPr/>
          <p:nvPr/>
        </p:nvSpPr>
        <p:spPr>
          <a:xfrm>
            <a:off x="-2241867" y="3309467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19" name="Google Shape;219;p31"/>
          <p:cNvSpPr/>
          <p:nvPr/>
        </p:nvSpPr>
        <p:spPr>
          <a:xfrm rot="10800000">
            <a:off x="8177033" y="-1220733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20" name="Google Shape;220;p31"/>
          <p:cNvSpPr txBox="1">
            <a:spLocks noGrp="1"/>
          </p:cNvSpPr>
          <p:nvPr>
            <p:ph type="title" idx="8"/>
          </p:nvPr>
        </p:nvSpPr>
        <p:spPr>
          <a:xfrm>
            <a:off x="955400" y="707633"/>
            <a:ext cx="10281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7076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Title and four columns 3">
    <p:bg>
      <p:bgPr>
        <a:solidFill>
          <a:srgbClr val="191919">
            <a:alpha val="0"/>
          </a:srgbClr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>
            <a:spLocks noGrp="1"/>
          </p:cNvSpPr>
          <p:nvPr>
            <p:ph type="title"/>
          </p:nvPr>
        </p:nvSpPr>
        <p:spPr>
          <a:xfrm>
            <a:off x="950967" y="4466300"/>
            <a:ext cx="24616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23" name="Google Shape;223;p32"/>
          <p:cNvSpPr txBox="1">
            <a:spLocks noGrp="1"/>
          </p:cNvSpPr>
          <p:nvPr>
            <p:ph type="subTitle" idx="1"/>
          </p:nvPr>
        </p:nvSpPr>
        <p:spPr>
          <a:xfrm>
            <a:off x="950967" y="4810463"/>
            <a:ext cx="24616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24" name="Google Shape;224;p32"/>
          <p:cNvSpPr/>
          <p:nvPr/>
        </p:nvSpPr>
        <p:spPr>
          <a:xfrm flipH="1">
            <a:off x="9338833" y="3372967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225" name="Google Shape;225;p32"/>
          <p:cNvSpPr/>
          <p:nvPr/>
        </p:nvSpPr>
        <p:spPr>
          <a:xfrm flipH="1">
            <a:off x="9592833" y="3538067"/>
            <a:ext cx="4541200" cy="4403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</p:txBody>
      </p:sp>
      <p:sp>
        <p:nvSpPr>
          <p:cNvPr id="226" name="Google Shape;226;p32"/>
          <p:cNvSpPr/>
          <p:nvPr/>
        </p:nvSpPr>
        <p:spPr>
          <a:xfrm rot="10800000" flipH="1">
            <a:off x="-1016567" y="-1220733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27" name="Google Shape;227;p32"/>
          <p:cNvSpPr/>
          <p:nvPr/>
        </p:nvSpPr>
        <p:spPr>
          <a:xfrm rot="10800000" flipH="1">
            <a:off x="-2241867" y="-20301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28" name="Google Shape;228;p32"/>
          <p:cNvSpPr txBox="1">
            <a:spLocks noGrp="1"/>
          </p:cNvSpPr>
          <p:nvPr>
            <p:ph type="title" idx="2"/>
          </p:nvPr>
        </p:nvSpPr>
        <p:spPr>
          <a:xfrm>
            <a:off x="3560477" y="4466300"/>
            <a:ext cx="24616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29" name="Google Shape;229;p32"/>
          <p:cNvSpPr txBox="1">
            <a:spLocks noGrp="1"/>
          </p:cNvSpPr>
          <p:nvPr>
            <p:ph type="subTitle" idx="3"/>
          </p:nvPr>
        </p:nvSpPr>
        <p:spPr>
          <a:xfrm>
            <a:off x="3560477" y="4810463"/>
            <a:ext cx="24616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30" name="Google Shape;230;p32"/>
          <p:cNvSpPr txBox="1">
            <a:spLocks noGrp="1"/>
          </p:cNvSpPr>
          <p:nvPr>
            <p:ph type="title" idx="4"/>
          </p:nvPr>
        </p:nvSpPr>
        <p:spPr>
          <a:xfrm>
            <a:off x="6169988" y="4466300"/>
            <a:ext cx="24616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31" name="Google Shape;231;p32"/>
          <p:cNvSpPr txBox="1">
            <a:spLocks noGrp="1"/>
          </p:cNvSpPr>
          <p:nvPr>
            <p:ph type="subTitle" idx="5"/>
          </p:nvPr>
        </p:nvSpPr>
        <p:spPr>
          <a:xfrm>
            <a:off x="6169988" y="4810463"/>
            <a:ext cx="24616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32" name="Google Shape;232;p32"/>
          <p:cNvSpPr txBox="1">
            <a:spLocks noGrp="1"/>
          </p:cNvSpPr>
          <p:nvPr>
            <p:ph type="title" idx="6"/>
          </p:nvPr>
        </p:nvSpPr>
        <p:spPr>
          <a:xfrm>
            <a:off x="8779499" y="4466300"/>
            <a:ext cx="2461600" cy="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33" name="Google Shape;233;p32"/>
          <p:cNvSpPr txBox="1">
            <a:spLocks noGrp="1"/>
          </p:cNvSpPr>
          <p:nvPr>
            <p:ph type="subTitle" idx="7"/>
          </p:nvPr>
        </p:nvSpPr>
        <p:spPr>
          <a:xfrm>
            <a:off x="8779499" y="4810463"/>
            <a:ext cx="2461600" cy="6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34" name="Google Shape;234;p32"/>
          <p:cNvSpPr txBox="1">
            <a:spLocks noGrp="1"/>
          </p:cNvSpPr>
          <p:nvPr>
            <p:ph type="title" idx="8"/>
          </p:nvPr>
        </p:nvSpPr>
        <p:spPr>
          <a:xfrm>
            <a:off x="2632400" y="707633"/>
            <a:ext cx="6927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9161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bg>
      <p:bgPr>
        <a:solidFill>
          <a:schemeClr val="dk1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/>
          <p:nvPr/>
        </p:nvSpPr>
        <p:spPr>
          <a:xfrm>
            <a:off x="3225700" y="950397"/>
            <a:ext cx="11574400" cy="6009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5" name="Google Shape;245;p34"/>
          <p:cNvSpPr/>
          <p:nvPr/>
        </p:nvSpPr>
        <p:spPr>
          <a:xfrm rot="10800000">
            <a:off x="-2608100" y="-101603"/>
            <a:ext cx="11574400" cy="60092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6" name="Google Shape;246;p34"/>
          <p:cNvSpPr txBox="1">
            <a:spLocks noGrp="1"/>
          </p:cNvSpPr>
          <p:nvPr>
            <p:ph type="subTitle" idx="1"/>
          </p:nvPr>
        </p:nvSpPr>
        <p:spPr>
          <a:xfrm>
            <a:off x="1116800" y="1818545"/>
            <a:ext cx="4134400" cy="1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47" name="Google Shape;247;p34"/>
          <p:cNvSpPr txBox="1">
            <a:spLocks noGrp="1"/>
          </p:cNvSpPr>
          <p:nvPr>
            <p:ph type="subTitle" idx="2"/>
          </p:nvPr>
        </p:nvSpPr>
        <p:spPr>
          <a:xfrm>
            <a:off x="6939164" y="4704727"/>
            <a:ext cx="4134400" cy="1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cxnSp>
        <p:nvCxnSpPr>
          <p:cNvPr id="248" name="Google Shape;248;p34"/>
          <p:cNvCxnSpPr/>
          <p:nvPr/>
        </p:nvCxnSpPr>
        <p:spPr>
          <a:xfrm>
            <a:off x="-1834333" y="3233164"/>
            <a:ext cx="4106000" cy="4236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" name="Google Shape;249;p34"/>
          <p:cNvCxnSpPr/>
          <p:nvPr/>
        </p:nvCxnSpPr>
        <p:spPr>
          <a:xfrm>
            <a:off x="10451667" y="-83603"/>
            <a:ext cx="4106000" cy="42364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0" name="Google Shape;250;p34"/>
          <p:cNvSpPr txBox="1">
            <a:spLocks noGrp="1"/>
          </p:cNvSpPr>
          <p:nvPr>
            <p:ph type="title"/>
          </p:nvPr>
        </p:nvSpPr>
        <p:spPr>
          <a:xfrm>
            <a:off x="6939164" y="3606200"/>
            <a:ext cx="41344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51" name="Google Shape;251;p34"/>
          <p:cNvSpPr txBox="1">
            <a:spLocks noGrp="1"/>
          </p:cNvSpPr>
          <p:nvPr>
            <p:ph type="title" idx="3"/>
          </p:nvPr>
        </p:nvSpPr>
        <p:spPr>
          <a:xfrm>
            <a:off x="1116800" y="707633"/>
            <a:ext cx="41344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57865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bg>
      <p:bgPr>
        <a:solidFill>
          <a:schemeClr val="accent5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"/>
          <p:cNvSpPr txBox="1">
            <a:spLocks noGrp="1"/>
          </p:cNvSpPr>
          <p:nvPr>
            <p:ph type="title"/>
          </p:nvPr>
        </p:nvSpPr>
        <p:spPr>
          <a:xfrm>
            <a:off x="1569100" y="2877533"/>
            <a:ext cx="1998800" cy="54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54" name="Google Shape;254;p35"/>
          <p:cNvSpPr txBox="1">
            <a:spLocks noGrp="1"/>
          </p:cNvSpPr>
          <p:nvPr>
            <p:ph type="subTitle" idx="1"/>
          </p:nvPr>
        </p:nvSpPr>
        <p:spPr>
          <a:xfrm>
            <a:off x="950967" y="3279000"/>
            <a:ext cx="3234800" cy="9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55" name="Google Shape;255;p35"/>
          <p:cNvSpPr txBox="1">
            <a:spLocks noGrp="1"/>
          </p:cNvSpPr>
          <p:nvPr>
            <p:ph type="title" idx="2"/>
          </p:nvPr>
        </p:nvSpPr>
        <p:spPr>
          <a:xfrm>
            <a:off x="8624265" y="2877533"/>
            <a:ext cx="1998800" cy="54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56" name="Google Shape;256;p35"/>
          <p:cNvSpPr txBox="1">
            <a:spLocks noGrp="1"/>
          </p:cNvSpPr>
          <p:nvPr>
            <p:ph type="subTitle" idx="3"/>
          </p:nvPr>
        </p:nvSpPr>
        <p:spPr>
          <a:xfrm>
            <a:off x="8006244" y="3279000"/>
            <a:ext cx="3234800" cy="9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57" name="Google Shape;257;p35"/>
          <p:cNvSpPr txBox="1">
            <a:spLocks noGrp="1"/>
          </p:cNvSpPr>
          <p:nvPr>
            <p:ph type="title" idx="4"/>
          </p:nvPr>
        </p:nvSpPr>
        <p:spPr>
          <a:xfrm>
            <a:off x="5096600" y="2877533"/>
            <a:ext cx="1998800" cy="54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58" name="Google Shape;258;p35"/>
          <p:cNvSpPr txBox="1">
            <a:spLocks noGrp="1"/>
          </p:cNvSpPr>
          <p:nvPr>
            <p:ph type="subTitle" idx="5"/>
          </p:nvPr>
        </p:nvSpPr>
        <p:spPr>
          <a:xfrm>
            <a:off x="4478600" y="3279000"/>
            <a:ext cx="3234800" cy="9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59" name="Google Shape;259;p35"/>
          <p:cNvSpPr/>
          <p:nvPr/>
        </p:nvSpPr>
        <p:spPr>
          <a:xfrm>
            <a:off x="4264600" y="5019555"/>
            <a:ext cx="3637200" cy="18884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0" name="Google Shape;260;p35"/>
          <p:cNvSpPr txBox="1">
            <a:spLocks noGrp="1"/>
          </p:cNvSpPr>
          <p:nvPr>
            <p:ph type="title" idx="6"/>
          </p:nvPr>
        </p:nvSpPr>
        <p:spPr>
          <a:xfrm>
            <a:off x="2632400" y="707633"/>
            <a:ext cx="6927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9540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bg>
      <p:bgPr>
        <a:solidFill>
          <a:schemeClr val="accent5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"/>
          <p:cNvSpPr txBox="1">
            <a:spLocks noGrp="1"/>
          </p:cNvSpPr>
          <p:nvPr>
            <p:ph type="body" idx="1"/>
          </p:nvPr>
        </p:nvSpPr>
        <p:spPr>
          <a:xfrm>
            <a:off x="2771767" y="5781033"/>
            <a:ext cx="6972400" cy="5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1219170" lvl="1" indent="-42332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828754" lvl="2" indent="-42332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2438339" lvl="3" indent="-42332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3047924" lvl="4" indent="-42332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3657509" lvl="5" indent="-42332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4267093" lvl="6" indent="-42332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4876678" lvl="7" indent="-423323" algn="ctr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5486263" lvl="8" indent="-423323" algn="ctr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3" name="Google Shape;263;p36"/>
          <p:cNvSpPr txBox="1">
            <a:spLocks noGrp="1"/>
          </p:cNvSpPr>
          <p:nvPr>
            <p:ph type="title"/>
          </p:nvPr>
        </p:nvSpPr>
        <p:spPr>
          <a:xfrm>
            <a:off x="2632400" y="707633"/>
            <a:ext cx="6927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64" name="Google Shape;264;p36"/>
          <p:cNvSpPr/>
          <p:nvPr/>
        </p:nvSpPr>
        <p:spPr>
          <a:xfrm>
            <a:off x="-692867" y="3182467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65" name="Google Shape;265;p36"/>
          <p:cNvSpPr/>
          <p:nvPr/>
        </p:nvSpPr>
        <p:spPr>
          <a:xfrm>
            <a:off x="-984967" y="3309467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66" name="Google Shape;266;p36"/>
          <p:cNvSpPr/>
          <p:nvPr/>
        </p:nvSpPr>
        <p:spPr>
          <a:xfrm rot="10800000">
            <a:off x="8970433" y="-1220733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267" name="Google Shape;267;p36"/>
          <p:cNvSpPr/>
          <p:nvPr/>
        </p:nvSpPr>
        <p:spPr>
          <a:xfrm rot="10800000">
            <a:off x="6790333" y="-20301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598028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solidFill>
          <a:schemeClr val="accent5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7"/>
          <p:cNvSpPr txBox="1">
            <a:spLocks noGrp="1"/>
          </p:cNvSpPr>
          <p:nvPr>
            <p:ph type="title"/>
          </p:nvPr>
        </p:nvSpPr>
        <p:spPr>
          <a:xfrm>
            <a:off x="1275167" y="4737412"/>
            <a:ext cx="221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70" name="Google Shape;270;p37"/>
          <p:cNvSpPr txBox="1">
            <a:spLocks noGrp="1"/>
          </p:cNvSpPr>
          <p:nvPr>
            <p:ph type="subTitle" idx="1"/>
          </p:nvPr>
        </p:nvSpPr>
        <p:spPr>
          <a:xfrm>
            <a:off x="950967" y="5104007"/>
            <a:ext cx="2860000" cy="9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71" name="Google Shape;271;p37"/>
          <p:cNvSpPr txBox="1">
            <a:spLocks noGrp="1"/>
          </p:cNvSpPr>
          <p:nvPr>
            <p:ph type="title" idx="2"/>
          </p:nvPr>
        </p:nvSpPr>
        <p:spPr>
          <a:xfrm>
            <a:off x="8705233" y="4737412"/>
            <a:ext cx="221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72" name="Google Shape;272;p37"/>
          <p:cNvSpPr txBox="1">
            <a:spLocks noGrp="1"/>
          </p:cNvSpPr>
          <p:nvPr>
            <p:ph type="subTitle" idx="3"/>
          </p:nvPr>
        </p:nvSpPr>
        <p:spPr>
          <a:xfrm>
            <a:off x="8407033" y="5104007"/>
            <a:ext cx="2860000" cy="9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73" name="Google Shape;273;p37"/>
          <p:cNvSpPr txBox="1">
            <a:spLocks noGrp="1"/>
          </p:cNvSpPr>
          <p:nvPr>
            <p:ph type="title" idx="4"/>
          </p:nvPr>
        </p:nvSpPr>
        <p:spPr>
          <a:xfrm>
            <a:off x="5003200" y="4737412"/>
            <a:ext cx="221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74" name="Google Shape;274;p37"/>
          <p:cNvSpPr txBox="1">
            <a:spLocks noGrp="1"/>
          </p:cNvSpPr>
          <p:nvPr>
            <p:ph type="subTitle" idx="5"/>
          </p:nvPr>
        </p:nvSpPr>
        <p:spPr>
          <a:xfrm>
            <a:off x="4679000" y="5104007"/>
            <a:ext cx="2860000" cy="9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75" name="Google Shape;275;p37"/>
          <p:cNvSpPr txBox="1">
            <a:spLocks noGrp="1"/>
          </p:cNvSpPr>
          <p:nvPr>
            <p:ph type="title" idx="6"/>
          </p:nvPr>
        </p:nvSpPr>
        <p:spPr>
          <a:xfrm>
            <a:off x="2250600" y="707633"/>
            <a:ext cx="7690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02018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">
  <p:cSld name="Title and six columns ">
    <p:bg>
      <p:bgPr>
        <a:solidFill>
          <a:schemeClr val="accent5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8"/>
          <p:cNvSpPr/>
          <p:nvPr/>
        </p:nvSpPr>
        <p:spPr>
          <a:xfrm>
            <a:off x="-4647467" y="2249333"/>
            <a:ext cx="9870800" cy="5058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8" name="Google Shape;278;p38"/>
          <p:cNvSpPr/>
          <p:nvPr/>
        </p:nvSpPr>
        <p:spPr>
          <a:xfrm>
            <a:off x="1039500" y="1911733"/>
            <a:ext cx="10316400" cy="422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9" name="Google Shape;279;p38"/>
          <p:cNvSpPr txBox="1">
            <a:spLocks noGrp="1"/>
          </p:cNvSpPr>
          <p:nvPr>
            <p:ph type="title"/>
          </p:nvPr>
        </p:nvSpPr>
        <p:spPr>
          <a:xfrm>
            <a:off x="1391705" y="2440767"/>
            <a:ext cx="25300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80" name="Google Shape;280;p38"/>
          <p:cNvSpPr txBox="1">
            <a:spLocks noGrp="1"/>
          </p:cNvSpPr>
          <p:nvPr>
            <p:ph type="subTitle" idx="1"/>
          </p:nvPr>
        </p:nvSpPr>
        <p:spPr>
          <a:xfrm>
            <a:off x="1412305" y="2853711"/>
            <a:ext cx="248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81" name="Google Shape;281;p38"/>
          <p:cNvSpPr txBox="1">
            <a:spLocks noGrp="1"/>
          </p:cNvSpPr>
          <p:nvPr>
            <p:ph type="title" idx="2"/>
          </p:nvPr>
        </p:nvSpPr>
        <p:spPr>
          <a:xfrm>
            <a:off x="1391705" y="4374468"/>
            <a:ext cx="25300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82" name="Google Shape;282;p38"/>
          <p:cNvSpPr txBox="1">
            <a:spLocks noGrp="1"/>
          </p:cNvSpPr>
          <p:nvPr>
            <p:ph type="subTitle" idx="3"/>
          </p:nvPr>
        </p:nvSpPr>
        <p:spPr>
          <a:xfrm>
            <a:off x="1412305" y="4819256"/>
            <a:ext cx="248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83" name="Google Shape;283;p38"/>
          <p:cNvSpPr txBox="1">
            <a:spLocks noGrp="1"/>
          </p:cNvSpPr>
          <p:nvPr>
            <p:ph type="title" idx="4"/>
          </p:nvPr>
        </p:nvSpPr>
        <p:spPr>
          <a:xfrm>
            <a:off x="4841813" y="2440767"/>
            <a:ext cx="25092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84" name="Google Shape;284;p38"/>
          <p:cNvSpPr txBox="1">
            <a:spLocks noGrp="1"/>
          </p:cNvSpPr>
          <p:nvPr>
            <p:ph type="subTitle" idx="5"/>
          </p:nvPr>
        </p:nvSpPr>
        <p:spPr>
          <a:xfrm>
            <a:off x="4852013" y="2853701"/>
            <a:ext cx="248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85" name="Google Shape;285;p38"/>
          <p:cNvSpPr txBox="1">
            <a:spLocks noGrp="1"/>
          </p:cNvSpPr>
          <p:nvPr>
            <p:ph type="title" idx="6"/>
          </p:nvPr>
        </p:nvSpPr>
        <p:spPr>
          <a:xfrm>
            <a:off x="4841813" y="4374468"/>
            <a:ext cx="25092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86" name="Google Shape;286;p38"/>
          <p:cNvSpPr txBox="1">
            <a:spLocks noGrp="1"/>
          </p:cNvSpPr>
          <p:nvPr>
            <p:ph type="subTitle" idx="7"/>
          </p:nvPr>
        </p:nvSpPr>
        <p:spPr>
          <a:xfrm>
            <a:off x="4852013" y="4819256"/>
            <a:ext cx="248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87" name="Google Shape;287;p38"/>
          <p:cNvSpPr txBox="1">
            <a:spLocks noGrp="1"/>
          </p:cNvSpPr>
          <p:nvPr>
            <p:ph type="title" idx="8"/>
          </p:nvPr>
        </p:nvSpPr>
        <p:spPr>
          <a:xfrm>
            <a:off x="8286836" y="2440767"/>
            <a:ext cx="25008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88" name="Google Shape;288;p38"/>
          <p:cNvSpPr txBox="1">
            <a:spLocks noGrp="1"/>
          </p:cNvSpPr>
          <p:nvPr>
            <p:ph type="subTitle" idx="9"/>
          </p:nvPr>
        </p:nvSpPr>
        <p:spPr>
          <a:xfrm>
            <a:off x="8292836" y="2853701"/>
            <a:ext cx="248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89" name="Google Shape;289;p38"/>
          <p:cNvSpPr txBox="1">
            <a:spLocks noGrp="1"/>
          </p:cNvSpPr>
          <p:nvPr>
            <p:ph type="title" idx="13"/>
          </p:nvPr>
        </p:nvSpPr>
        <p:spPr>
          <a:xfrm>
            <a:off x="8286836" y="4374468"/>
            <a:ext cx="25008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90" name="Google Shape;290;p38"/>
          <p:cNvSpPr txBox="1">
            <a:spLocks noGrp="1"/>
          </p:cNvSpPr>
          <p:nvPr>
            <p:ph type="subTitle" idx="14"/>
          </p:nvPr>
        </p:nvSpPr>
        <p:spPr>
          <a:xfrm>
            <a:off x="8292836" y="4819256"/>
            <a:ext cx="248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91" name="Google Shape;291;p38"/>
          <p:cNvSpPr txBox="1">
            <a:spLocks noGrp="1"/>
          </p:cNvSpPr>
          <p:nvPr>
            <p:ph type="title" idx="15"/>
          </p:nvPr>
        </p:nvSpPr>
        <p:spPr>
          <a:xfrm>
            <a:off x="2632400" y="707633"/>
            <a:ext cx="6927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92314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bg>
      <p:bgPr>
        <a:solidFill>
          <a:schemeClr val="dk1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9"/>
          <p:cNvSpPr txBox="1">
            <a:spLocks noGrp="1"/>
          </p:cNvSpPr>
          <p:nvPr>
            <p:ph type="title"/>
          </p:nvPr>
        </p:nvSpPr>
        <p:spPr>
          <a:xfrm>
            <a:off x="1391705" y="4272868"/>
            <a:ext cx="25300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94" name="Google Shape;294;p39"/>
          <p:cNvSpPr txBox="1">
            <a:spLocks noGrp="1"/>
          </p:cNvSpPr>
          <p:nvPr>
            <p:ph type="subTitle" idx="1"/>
          </p:nvPr>
        </p:nvSpPr>
        <p:spPr>
          <a:xfrm>
            <a:off x="1412305" y="4717656"/>
            <a:ext cx="248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95" name="Google Shape;295;p39"/>
          <p:cNvSpPr txBox="1">
            <a:spLocks noGrp="1"/>
          </p:cNvSpPr>
          <p:nvPr>
            <p:ph type="title" idx="2"/>
          </p:nvPr>
        </p:nvSpPr>
        <p:spPr>
          <a:xfrm>
            <a:off x="3123089" y="2339167"/>
            <a:ext cx="25092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96" name="Google Shape;296;p39"/>
          <p:cNvSpPr txBox="1">
            <a:spLocks noGrp="1"/>
          </p:cNvSpPr>
          <p:nvPr>
            <p:ph type="subTitle" idx="3"/>
          </p:nvPr>
        </p:nvSpPr>
        <p:spPr>
          <a:xfrm>
            <a:off x="3133289" y="2752101"/>
            <a:ext cx="248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97" name="Google Shape;297;p39"/>
          <p:cNvSpPr txBox="1">
            <a:spLocks noGrp="1"/>
          </p:cNvSpPr>
          <p:nvPr>
            <p:ph type="title" idx="4"/>
          </p:nvPr>
        </p:nvSpPr>
        <p:spPr>
          <a:xfrm>
            <a:off x="4841813" y="4272868"/>
            <a:ext cx="25092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98" name="Google Shape;298;p39"/>
          <p:cNvSpPr txBox="1">
            <a:spLocks noGrp="1"/>
          </p:cNvSpPr>
          <p:nvPr>
            <p:ph type="subTitle" idx="5"/>
          </p:nvPr>
        </p:nvSpPr>
        <p:spPr>
          <a:xfrm>
            <a:off x="4852013" y="4717656"/>
            <a:ext cx="248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299" name="Google Shape;299;p39"/>
          <p:cNvSpPr txBox="1">
            <a:spLocks noGrp="1"/>
          </p:cNvSpPr>
          <p:nvPr>
            <p:ph type="title" idx="6"/>
          </p:nvPr>
        </p:nvSpPr>
        <p:spPr>
          <a:xfrm>
            <a:off x="6568111" y="2339167"/>
            <a:ext cx="25008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00" name="Google Shape;300;p39"/>
          <p:cNvSpPr txBox="1">
            <a:spLocks noGrp="1"/>
          </p:cNvSpPr>
          <p:nvPr>
            <p:ph type="subTitle" idx="7"/>
          </p:nvPr>
        </p:nvSpPr>
        <p:spPr>
          <a:xfrm>
            <a:off x="6574111" y="2752101"/>
            <a:ext cx="248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01" name="Google Shape;301;p39"/>
          <p:cNvSpPr txBox="1">
            <a:spLocks noGrp="1"/>
          </p:cNvSpPr>
          <p:nvPr>
            <p:ph type="title" idx="8"/>
          </p:nvPr>
        </p:nvSpPr>
        <p:spPr>
          <a:xfrm>
            <a:off x="8286836" y="4272868"/>
            <a:ext cx="2500800" cy="53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02" name="Google Shape;302;p39"/>
          <p:cNvSpPr txBox="1">
            <a:spLocks noGrp="1"/>
          </p:cNvSpPr>
          <p:nvPr>
            <p:ph type="subTitle" idx="9"/>
          </p:nvPr>
        </p:nvSpPr>
        <p:spPr>
          <a:xfrm>
            <a:off x="8292836" y="4717656"/>
            <a:ext cx="2488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03" name="Google Shape;303;p39"/>
          <p:cNvSpPr txBox="1">
            <a:spLocks noGrp="1"/>
          </p:cNvSpPr>
          <p:nvPr>
            <p:ph type="title" idx="13"/>
          </p:nvPr>
        </p:nvSpPr>
        <p:spPr>
          <a:xfrm>
            <a:off x="2632400" y="707633"/>
            <a:ext cx="6927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4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29499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4">
  <p:cSld name="Title and three columns 4">
    <p:bg>
      <p:bgPr>
        <a:solidFill>
          <a:schemeClr val="accent5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/>
          <p:nvPr/>
        </p:nvSpPr>
        <p:spPr>
          <a:xfrm rot="10800000">
            <a:off x="7855800" y="-516133"/>
            <a:ext cx="7018800" cy="359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6" name="Google Shape;306;p40"/>
          <p:cNvSpPr/>
          <p:nvPr/>
        </p:nvSpPr>
        <p:spPr>
          <a:xfrm>
            <a:off x="-6922433" y="3080667"/>
            <a:ext cx="9870800" cy="50588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7" name="Google Shape;307;p40"/>
          <p:cNvSpPr txBox="1">
            <a:spLocks noGrp="1"/>
          </p:cNvSpPr>
          <p:nvPr>
            <p:ph type="title"/>
          </p:nvPr>
        </p:nvSpPr>
        <p:spPr>
          <a:xfrm>
            <a:off x="1149933" y="4432600"/>
            <a:ext cx="235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08" name="Google Shape;308;p40"/>
          <p:cNvSpPr txBox="1">
            <a:spLocks noGrp="1"/>
          </p:cNvSpPr>
          <p:nvPr>
            <p:ph type="subTitle" idx="1"/>
          </p:nvPr>
        </p:nvSpPr>
        <p:spPr>
          <a:xfrm>
            <a:off x="565933" y="4777615"/>
            <a:ext cx="3519600" cy="10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09" name="Google Shape;309;p40"/>
          <p:cNvSpPr txBox="1">
            <a:spLocks noGrp="1"/>
          </p:cNvSpPr>
          <p:nvPr>
            <p:ph type="title" idx="2"/>
          </p:nvPr>
        </p:nvSpPr>
        <p:spPr>
          <a:xfrm>
            <a:off x="8701007" y="4432600"/>
            <a:ext cx="235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10" name="Google Shape;310;p40"/>
          <p:cNvSpPr txBox="1">
            <a:spLocks noGrp="1"/>
          </p:cNvSpPr>
          <p:nvPr>
            <p:ph type="subTitle" idx="3"/>
          </p:nvPr>
        </p:nvSpPr>
        <p:spPr>
          <a:xfrm>
            <a:off x="8117001" y="4777615"/>
            <a:ext cx="3519600" cy="10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11" name="Google Shape;311;p40"/>
          <p:cNvSpPr txBox="1">
            <a:spLocks noGrp="1"/>
          </p:cNvSpPr>
          <p:nvPr>
            <p:ph type="title" idx="4"/>
          </p:nvPr>
        </p:nvSpPr>
        <p:spPr>
          <a:xfrm>
            <a:off x="4920200" y="4432600"/>
            <a:ext cx="235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12" name="Google Shape;312;p40"/>
          <p:cNvSpPr txBox="1">
            <a:spLocks noGrp="1"/>
          </p:cNvSpPr>
          <p:nvPr>
            <p:ph type="subTitle" idx="5"/>
          </p:nvPr>
        </p:nvSpPr>
        <p:spPr>
          <a:xfrm>
            <a:off x="4336197" y="4777615"/>
            <a:ext cx="3519600" cy="10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13" name="Google Shape;313;p40"/>
          <p:cNvSpPr txBox="1">
            <a:spLocks noGrp="1"/>
          </p:cNvSpPr>
          <p:nvPr>
            <p:ph type="title" idx="6"/>
          </p:nvPr>
        </p:nvSpPr>
        <p:spPr>
          <a:xfrm>
            <a:off x="2250600" y="707633"/>
            <a:ext cx="76908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44767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bg>
      <p:bgPr>
        <a:solidFill>
          <a:schemeClr val="accent5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1"/>
          <p:cNvSpPr/>
          <p:nvPr/>
        </p:nvSpPr>
        <p:spPr>
          <a:xfrm rot="5400000" flipH="1">
            <a:off x="-4226800" y="129233"/>
            <a:ext cx="14234800" cy="64108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6" name="Google Shape;316;p41"/>
          <p:cNvSpPr txBox="1">
            <a:spLocks noGrp="1"/>
          </p:cNvSpPr>
          <p:nvPr>
            <p:ph type="title"/>
          </p:nvPr>
        </p:nvSpPr>
        <p:spPr>
          <a:xfrm>
            <a:off x="7495800" y="1376300"/>
            <a:ext cx="235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17" name="Google Shape;317;p41"/>
          <p:cNvSpPr txBox="1">
            <a:spLocks noGrp="1"/>
          </p:cNvSpPr>
          <p:nvPr>
            <p:ph type="subTitle" idx="1"/>
          </p:nvPr>
        </p:nvSpPr>
        <p:spPr>
          <a:xfrm>
            <a:off x="7060800" y="1701500"/>
            <a:ext cx="3221600" cy="7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18" name="Google Shape;318;p41"/>
          <p:cNvSpPr txBox="1">
            <a:spLocks noGrp="1"/>
          </p:cNvSpPr>
          <p:nvPr>
            <p:ph type="title" idx="2"/>
          </p:nvPr>
        </p:nvSpPr>
        <p:spPr>
          <a:xfrm>
            <a:off x="950967" y="3039600"/>
            <a:ext cx="4438400" cy="7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19" name="Google Shape;319;p41"/>
          <p:cNvSpPr txBox="1">
            <a:spLocks noGrp="1"/>
          </p:cNvSpPr>
          <p:nvPr>
            <p:ph type="title" idx="3"/>
          </p:nvPr>
        </p:nvSpPr>
        <p:spPr>
          <a:xfrm>
            <a:off x="7495800" y="3281080"/>
            <a:ext cx="235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20" name="Google Shape;320;p41"/>
          <p:cNvSpPr txBox="1">
            <a:spLocks noGrp="1"/>
          </p:cNvSpPr>
          <p:nvPr>
            <p:ph type="subTitle" idx="4"/>
          </p:nvPr>
        </p:nvSpPr>
        <p:spPr>
          <a:xfrm>
            <a:off x="7060800" y="3612629"/>
            <a:ext cx="3221600" cy="7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21" name="Google Shape;321;p41"/>
          <p:cNvSpPr txBox="1">
            <a:spLocks noGrp="1"/>
          </p:cNvSpPr>
          <p:nvPr>
            <p:ph type="title" idx="5"/>
          </p:nvPr>
        </p:nvSpPr>
        <p:spPr>
          <a:xfrm>
            <a:off x="7495800" y="5169892"/>
            <a:ext cx="2351600" cy="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22" name="Google Shape;322;p41"/>
          <p:cNvSpPr txBox="1">
            <a:spLocks noGrp="1"/>
          </p:cNvSpPr>
          <p:nvPr>
            <p:ph type="subTitle" idx="6"/>
          </p:nvPr>
        </p:nvSpPr>
        <p:spPr>
          <a:xfrm>
            <a:off x="7060800" y="5501443"/>
            <a:ext cx="3221600" cy="75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23" name="Google Shape;323;p41"/>
          <p:cNvSpPr/>
          <p:nvPr/>
        </p:nvSpPr>
        <p:spPr>
          <a:xfrm rot="10800000">
            <a:off x="9312167" y="-819167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24" name="Google Shape;324;p41"/>
          <p:cNvSpPr/>
          <p:nvPr/>
        </p:nvSpPr>
        <p:spPr>
          <a:xfrm rot="10800000">
            <a:off x="9392167" y="-946167"/>
            <a:ext cx="4541200" cy="4403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25" name="Google Shape;325;p41"/>
          <p:cNvSpPr/>
          <p:nvPr/>
        </p:nvSpPr>
        <p:spPr>
          <a:xfrm flipH="1">
            <a:off x="10617867" y="5318167"/>
            <a:ext cx="1807200" cy="17524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26" name="Google Shape;326;p41"/>
          <p:cNvSpPr/>
          <p:nvPr/>
        </p:nvSpPr>
        <p:spPr>
          <a:xfrm>
            <a:off x="9784267" y="5674667"/>
            <a:ext cx="3884400" cy="18220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37571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accent5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2"/>
          <p:cNvSpPr txBox="1">
            <a:spLocks noGrp="1"/>
          </p:cNvSpPr>
          <p:nvPr>
            <p:ph type="title"/>
          </p:nvPr>
        </p:nvSpPr>
        <p:spPr>
          <a:xfrm>
            <a:off x="5680400" y="707633"/>
            <a:ext cx="6927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29" name="Google Shape;329;p42"/>
          <p:cNvSpPr/>
          <p:nvPr/>
        </p:nvSpPr>
        <p:spPr>
          <a:xfrm rot="10800000">
            <a:off x="9210567" y="-1078067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30" name="Google Shape;330;p42"/>
          <p:cNvSpPr/>
          <p:nvPr/>
        </p:nvSpPr>
        <p:spPr>
          <a:xfrm rot="10800000">
            <a:off x="9290567" y="-1205067"/>
            <a:ext cx="4541200" cy="4403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190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bg>
      <p:bgPr>
        <a:solidFill>
          <a:schemeClr val="accent5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3"/>
          <p:cNvSpPr/>
          <p:nvPr/>
        </p:nvSpPr>
        <p:spPr>
          <a:xfrm>
            <a:off x="-696633" y="4574267"/>
            <a:ext cx="3056800" cy="27788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3" name="Google Shape;333;p43"/>
          <p:cNvSpPr txBox="1">
            <a:spLocks noGrp="1"/>
          </p:cNvSpPr>
          <p:nvPr>
            <p:ph type="title"/>
          </p:nvPr>
        </p:nvSpPr>
        <p:spPr>
          <a:xfrm>
            <a:off x="1189400" y="707633"/>
            <a:ext cx="9813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34" name="Google Shape;334;p43"/>
          <p:cNvSpPr/>
          <p:nvPr/>
        </p:nvSpPr>
        <p:spPr>
          <a:xfrm rot="10800000">
            <a:off x="9682400" y="-736700"/>
            <a:ext cx="3056800" cy="2778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5" name="Google Shape;335;p43"/>
          <p:cNvSpPr/>
          <p:nvPr/>
        </p:nvSpPr>
        <p:spPr>
          <a:xfrm flipH="1">
            <a:off x="-3151233" y="59878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36" name="Google Shape;336;p43"/>
          <p:cNvSpPr/>
          <p:nvPr/>
        </p:nvSpPr>
        <p:spPr>
          <a:xfrm rot="-5400000" flipH="1">
            <a:off x="10612067" y="450167"/>
            <a:ext cx="3276400" cy="153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427726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 only 7">
    <p:bg>
      <p:bgPr>
        <a:solidFill>
          <a:schemeClr val="dk1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4"/>
          <p:cNvSpPr txBox="1">
            <a:spLocks noGrp="1"/>
          </p:cNvSpPr>
          <p:nvPr>
            <p:ph type="title"/>
          </p:nvPr>
        </p:nvSpPr>
        <p:spPr>
          <a:xfrm>
            <a:off x="1189400" y="707633"/>
            <a:ext cx="9813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39" name="Google Shape;339;p44"/>
          <p:cNvSpPr/>
          <p:nvPr/>
        </p:nvSpPr>
        <p:spPr>
          <a:xfrm rot="10800000" flipH="1">
            <a:off x="-306367" y="-480333"/>
            <a:ext cx="3056800" cy="2778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40" name="Google Shape;340;p44"/>
          <p:cNvSpPr/>
          <p:nvPr/>
        </p:nvSpPr>
        <p:spPr>
          <a:xfrm>
            <a:off x="9319867" y="45970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716263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bg>
      <p:bgPr>
        <a:solidFill>
          <a:schemeClr val="accent5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6"/>
          <p:cNvSpPr txBox="1">
            <a:spLocks noGrp="1"/>
          </p:cNvSpPr>
          <p:nvPr>
            <p:ph type="title"/>
          </p:nvPr>
        </p:nvSpPr>
        <p:spPr>
          <a:xfrm>
            <a:off x="950967" y="707633"/>
            <a:ext cx="9813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46" name="Google Shape;346;p46"/>
          <p:cNvSpPr/>
          <p:nvPr/>
        </p:nvSpPr>
        <p:spPr>
          <a:xfrm>
            <a:off x="-2368867" y="3601567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47" name="Google Shape;347;p46"/>
          <p:cNvSpPr/>
          <p:nvPr/>
        </p:nvSpPr>
        <p:spPr>
          <a:xfrm rot="10800000">
            <a:off x="8659633" y="-1576333"/>
            <a:ext cx="4541200" cy="4403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48" name="Google Shape;348;p46"/>
          <p:cNvSpPr/>
          <p:nvPr/>
        </p:nvSpPr>
        <p:spPr>
          <a:xfrm rot="10800000">
            <a:off x="7272933" y="-23857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22579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bg>
      <p:bgPr>
        <a:solidFill>
          <a:schemeClr val="accent5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7"/>
          <p:cNvSpPr txBox="1">
            <a:spLocks noGrp="1"/>
          </p:cNvSpPr>
          <p:nvPr>
            <p:ph type="title"/>
          </p:nvPr>
        </p:nvSpPr>
        <p:spPr>
          <a:xfrm>
            <a:off x="1189400" y="707633"/>
            <a:ext cx="9813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51" name="Google Shape;351;p47"/>
          <p:cNvSpPr/>
          <p:nvPr/>
        </p:nvSpPr>
        <p:spPr>
          <a:xfrm rot="10800000" flipH="1">
            <a:off x="-383667" y="-151700"/>
            <a:ext cx="3971600" cy="4110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52" name="Google Shape;352;p47"/>
          <p:cNvSpPr/>
          <p:nvPr/>
        </p:nvSpPr>
        <p:spPr>
          <a:xfrm>
            <a:off x="6678633" y="2249333"/>
            <a:ext cx="9870800" cy="5058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65431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bg>
      <p:bgPr>
        <a:solidFill>
          <a:schemeClr val="accent5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8"/>
          <p:cNvSpPr txBox="1">
            <a:spLocks noGrp="1"/>
          </p:cNvSpPr>
          <p:nvPr>
            <p:ph type="title"/>
          </p:nvPr>
        </p:nvSpPr>
        <p:spPr>
          <a:xfrm>
            <a:off x="955400" y="707633"/>
            <a:ext cx="10281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55" name="Google Shape;355;p48"/>
          <p:cNvSpPr/>
          <p:nvPr/>
        </p:nvSpPr>
        <p:spPr>
          <a:xfrm>
            <a:off x="-2241867" y="3309467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56" name="Google Shape;356;p48"/>
          <p:cNvSpPr/>
          <p:nvPr/>
        </p:nvSpPr>
        <p:spPr>
          <a:xfrm rot="10800000">
            <a:off x="8659633" y="-1576333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57" name="Google Shape;357;p48"/>
          <p:cNvSpPr/>
          <p:nvPr/>
        </p:nvSpPr>
        <p:spPr>
          <a:xfrm rot="10800000">
            <a:off x="7272933" y="-23857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6194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0">
  <p:cSld name="Title and text 10">
    <p:bg>
      <p:bgPr>
        <a:solidFill>
          <a:schemeClr val="accent5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9"/>
          <p:cNvSpPr txBox="1">
            <a:spLocks noGrp="1"/>
          </p:cNvSpPr>
          <p:nvPr>
            <p:ph type="title"/>
          </p:nvPr>
        </p:nvSpPr>
        <p:spPr>
          <a:xfrm>
            <a:off x="950967" y="707633"/>
            <a:ext cx="10281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60" name="Google Shape;360;p49"/>
          <p:cNvSpPr/>
          <p:nvPr/>
        </p:nvSpPr>
        <p:spPr>
          <a:xfrm>
            <a:off x="-2241867" y="3309467"/>
            <a:ext cx="4541200" cy="4403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61" name="Google Shape;361;p49"/>
          <p:cNvSpPr/>
          <p:nvPr/>
        </p:nvSpPr>
        <p:spPr>
          <a:xfrm rot="10800000">
            <a:off x="8659633" y="-1576333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62" name="Google Shape;362;p49"/>
          <p:cNvSpPr/>
          <p:nvPr/>
        </p:nvSpPr>
        <p:spPr>
          <a:xfrm rot="10800000">
            <a:off x="7353633" y="-24094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3" name="Google Shape;363;p49"/>
          <p:cNvSpPr txBox="1">
            <a:spLocks noGrp="1"/>
          </p:cNvSpPr>
          <p:nvPr>
            <p:ph type="body" idx="1"/>
          </p:nvPr>
        </p:nvSpPr>
        <p:spPr>
          <a:xfrm>
            <a:off x="950967" y="1898867"/>
            <a:ext cx="10281200" cy="43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marR="67732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25427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1">
  <p:cSld name="Title and text 11">
    <p:bg>
      <p:bgPr>
        <a:solidFill>
          <a:schemeClr val="accent5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0"/>
          <p:cNvSpPr txBox="1">
            <a:spLocks noGrp="1"/>
          </p:cNvSpPr>
          <p:nvPr>
            <p:ph type="title"/>
          </p:nvPr>
        </p:nvSpPr>
        <p:spPr>
          <a:xfrm>
            <a:off x="950967" y="707633"/>
            <a:ext cx="10281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66" name="Google Shape;366;p50"/>
          <p:cNvSpPr/>
          <p:nvPr/>
        </p:nvSpPr>
        <p:spPr>
          <a:xfrm flipH="1">
            <a:off x="9884933" y="3309467"/>
            <a:ext cx="4541200" cy="4403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67" name="Google Shape;367;p50"/>
          <p:cNvSpPr/>
          <p:nvPr/>
        </p:nvSpPr>
        <p:spPr>
          <a:xfrm rot="10800000" flipH="1">
            <a:off x="-1232733" y="-1805433"/>
            <a:ext cx="4541200" cy="4403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68" name="Google Shape;368;p50"/>
          <p:cNvSpPr/>
          <p:nvPr/>
        </p:nvSpPr>
        <p:spPr>
          <a:xfrm rot="10800000" flipH="1">
            <a:off x="-2662300" y="-26475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69" name="Google Shape;369;p50"/>
          <p:cNvSpPr txBox="1">
            <a:spLocks noGrp="1"/>
          </p:cNvSpPr>
          <p:nvPr>
            <p:ph type="body" idx="1"/>
          </p:nvPr>
        </p:nvSpPr>
        <p:spPr>
          <a:xfrm>
            <a:off x="950967" y="1898867"/>
            <a:ext cx="10281200" cy="43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marR="67732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B9F5D58-5A62-4EEA-8759-91FBFDC21A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533"/>
          <a:stretch/>
        </p:blipFill>
        <p:spPr>
          <a:xfrm>
            <a:off x="0" y="6077990"/>
            <a:ext cx="950966" cy="73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210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5">
  <p:cSld name="Title and three columns 5">
    <p:bg>
      <p:bgPr>
        <a:solidFill>
          <a:schemeClr val="accent5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1"/>
          <p:cNvSpPr txBox="1">
            <a:spLocks noGrp="1"/>
          </p:cNvSpPr>
          <p:nvPr>
            <p:ph type="title"/>
          </p:nvPr>
        </p:nvSpPr>
        <p:spPr>
          <a:xfrm>
            <a:off x="2632400" y="707633"/>
            <a:ext cx="6927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72" name="Google Shape;372;p51"/>
          <p:cNvSpPr txBox="1">
            <a:spLocks noGrp="1"/>
          </p:cNvSpPr>
          <p:nvPr>
            <p:ph type="title" idx="2"/>
          </p:nvPr>
        </p:nvSpPr>
        <p:spPr>
          <a:xfrm>
            <a:off x="1712908" y="4360033"/>
            <a:ext cx="1546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73" name="Google Shape;373;p51"/>
          <p:cNvSpPr txBox="1">
            <a:spLocks noGrp="1"/>
          </p:cNvSpPr>
          <p:nvPr>
            <p:ph type="subTitle" idx="1"/>
          </p:nvPr>
        </p:nvSpPr>
        <p:spPr>
          <a:xfrm>
            <a:off x="1254108" y="4721593"/>
            <a:ext cx="2464000" cy="2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74" name="Google Shape;374;p51"/>
          <p:cNvSpPr txBox="1">
            <a:spLocks noGrp="1"/>
          </p:cNvSpPr>
          <p:nvPr>
            <p:ph type="title" idx="3"/>
          </p:nvPr>
        </p:nvSpPr>
        <p:spPr>
          <a:xfrm>
            <a:off x="8932692" y="4343300"/>
            <a:ext cx="1546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75" name="Google Shape;375;p51"/>
          <p:cNvSpPr txBox="1">
            <a:spLocks noGrp="1"/>
          </p:cNvSpPr>
          <p:nvPr>
            <p:ph type="subTitle" idx="4"/>
          </p:nvPr>
        </p:nvSpPr>
        <p:spPr>
          <a:xfrm>
            <a:off x="8473892" y="4693476"/>
            <a:ext cx="2464000" cy="2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76" name="Google Shape;376;p51"/>
          <p:cNvSpPr txBox="1">
            <a:spLocks noGrp="1"/>
          </p:cNvSpPr>
          <p:nvPr>
            <p:ph type="title" idx="5"/>
          </p:nvPr>
        </p:nvSpPr>
        <p:spPr>
          <a:xfrm>
            <a:off x="5320029" y="4360033"/>
            <a:ext cx="15464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77" name="Google Shape;377;p51"/>
          <p:cNvSpPr txBox="1">
            <a:spLocks noGrp="1"/>
          </p:cNvSpPr>
          <p:nvPr>
            <p:ph type="subTitle" idx="6"/>
          </p:nvPr>
        </p:nvSpPr>
        <p:spPr>
          <a:xfrm>
            <a:off x="4861229" y="4721593"/>
            <a:ext cx="2464000" cy="2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757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bg>
      <p:bgPr>
        <a:solidFill>
          <a:schemeClr val="accent5"/>
        </a:solid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2"/>
          <p:cNvSpPr/>
          <p:nvPr/>
        </p:nvSpPr>
        <p:spPr>
          <a:xfrm flipH="1">
            <a:off x="5944916" y="-1257300"/>
            <a:ext cx="11000800" cy="10666400"/>
          </a:xfrm>
          <a:prstGeom prst="rtTriangl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80" name="Google Shape;380;p52"/>
          <p:cNvSpPr/>
          <p:nvPr/>
        </p:nvSpPr>
        <p:spPr>
          <a:xfrm>
            <a:off x="4413400" y="2596667"/>
            <a:ext cx="3365200" cy="26996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1" name="Google Shape;381;p52"/>
          <p:cNvSpPr/>
          <p:nvPr/>
        </p:nvSpPr>
        <p:spPr>
          <a:xfrm>
            <a:off x="713400" y="2596667"/>
            <a:ext cx="3365200" cy="26996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2" name="Google Shape;382;p52"/>
          <p:cNvSpPr/>
          <p:nvPr/>
        </p:nvSpPr>
        <p:spPr>
          <a:xfrm>
            <a:off x="8113400" y="2596667"/>
            <a:ext cx="3365200" cy="2699600"/>
          </a:xfrm>
          <a:prstGeom prst="rect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83" name="Google Shape;383;p52"/>
          <p:cNvSpPr txBox="1">
            <a:spLocks noGrp="1"/>
          </p:cNvSpPr>
          <p:nvPr>
            <p:ph type="subTitle" idx="1"/>
          </p:nvPr>
        </p:nvSpPr>
        <p:spPr>
          <a:xfrm>
            <a:off x="871599" y="4188233"/>
            <a:ext cx="3048800" cy="10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84" name="Google Shape;384;p52"/>
          <p:cNvSpPr txBox="1">
            <a:spLocks noGrp="1"/>
          </p:cNvSpPr>
          <p:nvPr>
            <p:ph type="subTitle" idx="2"/>
          </p:nvPr>
        </p:nvSpPr>
        <p:spPr>
          <a:xfrm>
            <a:off x="4586232" y="4188233"/>
            <a:ext cx="3048800" cy="10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85" name="Google Shape;385;p52"/>
          <p:cNvSpPr txBox="1">
            <a:spLocks noGrp="1"/>
          </p:cNvSpPr>
          <p:nvPr>
            <p:ph type="subTitle" idx="3"/>
          </p:nvPr>
        </p:nvSpPr>
        <p:spPr>
          <a:xfrm>
            <a:off x="8271601" y="4188233"/>
            <a:ext cx="3048800" cy="10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86" name="Google Shape;386;p52"/>
          <p:cNvSpPr txBox="1">
            <a:spLocks noGrp="1"/>
          </p:cNvSpPr>
          <p:nvPr>
            <p:ph type="title" hasCustomPrompt="1"/>
          </p:nvPr>
        </p:nvSpPr>
        <p:spPr>
          <a:xfrm>
            <a:off x="784399" y="3290833"/>
            <a:ext cx="3223200" cy="1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7" name="Google Shape;387;p52"/>
          <p:cNvSpPr txBox="1">
            <a:spLocks noGrp="1"/>
          </p:cNvSpPr>
          <p:nvPr>
            <p:ph type="title" idx="4" hasCustomPrompt="1"/>
          </p:nvPr>
        </p:nvSpPr>
        <p:spPr>
          <a:xfrm>
            <a:off x="4484400" y="3290833"/>
            <a:ext cx="3223200" cy="1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8" name="Google Shape;388;p52"/>
          <p:cNvSpPr txBox="1">
            <a:spLocks noGrp="1"/>
          </p:cNvSpPr>
          <p:nvPr>
            <p:ph type="title" idx="5" hasCustomPrompt="1"/>
          </p:nvPr>
        </p:nvSpPr>
        <p:spPr>
          <a:xfrm>
            <a:off x="8184401" y="3290833"/>
            <a:ext cx="3223200" cy="1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5333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9" name="Google Shape;389;p52"/>
          <p:cNvSpPr txBox="1">
            <a:spLocks noGrp="1"/>
          </p:cNvSpPr>
          <p:nvPr>
            <p:ph type="title" idx="6"/>
          </p:nvPr>
        </p:nvSpPr>
        <p:spPr>
          <a:xfrm>
            <a:off x="2632400" y="707633"/>
            <a:ext cx="6927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390" name="Google Shape;390;p52"/>
          <p:cNvSpPr/>
          <p:nvPr/>
        </p:nvSpPr>
        <p:spPr>
          <a:xfrm flipH="1">
            <a:off x="9559600" y="3189233"/>
            <a:ext cx="4541200" cy="4403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91" name="Google Shape;391;p52"/>
          <p:cNvSpPr/>
          <p:nvPr/>
        </p:nvSpPr>
        <p:spPr>
          <a:xfrm rot="10800000" flipH="1">
            <a:off x="-1016567" y="-1576333"/>
            <a:ext cx="4541200" cy="44032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392" name="Google Shape;392;p52"/>
          <p:cNvSpPr/>
          <p:nvPr/>
        </p:nvSpPr>
        <p:spPr>
          <a:xfrm rot="10800000" flipH="1">
            <a:off x="-2241867" y="-23857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27951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bg>
      <p:bgPr>
        <a:solidFill>
          <a:schemeClr val="dk1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3"/>
          <p:cNvSpPr txBox="1">
            <a:spLocks noGrp="1"/>
          </p:cNvSpPr>
          <p:nvPr>
            <p:ph type="subTitle" idx="1"/>
          </p:nvPr>
        </p:nvSpPr>
        <p:spPr>
          <a:xfrm>
            <a:off x="951000" y="1686172"/>
            <a:ext cx="10290000" cy="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95" name="Google Shape;395;p53"/>
          <p:cNvSpPr txBox="1">
            <a:spLocks noGrp="1"/>
          </p:cNvSpPr>
          <p:nvPr>
            <p:ph type="title" hasCustomPrompt="1"/>
          </p:nvPr>
        </p:nvSpPr>
        <p:spPr>
          <a:xfrm>
            <a:off x="950969" y="853095"/>
            <a:ext cx="10290000" cy="1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6" name="Google Shape;396;p53"/>
          <p:cNvSpPr txBox="1">
            <a:spLocks noGrp="1"/>
          </p:cNvSpPr>
          <p:nvPr>
            <p:ph type="subTitle" idx="2"/>
          </p:nvPr>
        </p:nvSpPr>
        <p:spPr>
          <a:xfrm>
            <a:off x="951000" y="3602539"/>
            <a:ext cx="10290000" cy="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97" name="Google Shape;397;p53"/>
          <p:cNvSpPr txBox="1">
            <a:spLocks noGrp="1"/>
          </p:cNvSpPr>
          <p:nvPr>
            <p:ph type="title" idx="3" hasCustomPrompt="1"/>
          </p:nvPr>
        </p:nvSpPr>
        <p:spPr>
          <a:xfrm>
            <a:off x="950969" y="2769461"/>
            <a:ext cx="10290000" cy="1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8" name="Google Shape;398;p53"/>
          <p:cNvSpPr txBox="1">
            <a:spLocks noGrp="1"/>
          </p:cNvSpPr>
          <p:nvPr>
            <p:ph type="subTitle" idx="4"/>
          </p:nvPr>
        </p:nvSpPr>
        <p:spPr>
          <a:xfrm>
            <a:off x="951000" y="5518905"/>
            <a:ext cx="10290000" cy="4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 sz="18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399" name="Google Shape;399;p53"/>
          <p:cNvSpPr txBox="1">
            <a:spLocks noGrp="1"/>
          </p:cNvSpPr>
          <p:nvPr>
            <p:ph type="title" idx="5" hasCustomPrompt="1"/>
          </p:nvPr>
        </p:nvSpPr>
        <p:spPr>
          <a:xfrm>
            <a:off x="950969" y="4685828"/>
            <a:ext cx="10290000" cy="100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6667" b="1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00" name="Google Shape;400;p53"/>
          <p:cNvSpPr/>
          <p:nvPr/>
        </p:nvSpPr>
        <p:spPr>
          <a:xfrm rot="10800000">
            <a:off x="7884867" y="-548500"/>
            <a:ext cx="7018800" cy="359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1" name="Google Shape;401;p53"/>
          <p:cNvSpPr/>
          <p:nvPr/>
        </p:nvSpPr>
        <p:spPr>
          <a:xfrm>
            <a:off x="-6922433" y="3080667"/>
            <a:ext cx="9870800" cy="50588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2" name="Google Shape;402;p53"/>
          <p:cNvSpPr/>
          <p:nvPr/>
        </p:nvSpPr>
        <p:spPr>
          <a:xfrm flipH="1">
            <a:off x="-1232133" y="5330600"/>
            <a:ext cx="4439600" cy="20824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628329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4"/>
          <p:cNvSpPr txBox="1">
            <a:spLocks noGrp="1"/>
          </p:cNvSpPr>
          <p:nvPr>
            <p:ph type="title"/>
          </p:nvPr>
        </p:nvSpPr>
        <p:spPr>
          <a:xfrm>
            <a:off x="955400" y="707633"/>
            <a:ext cx="10281200" cy="70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4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405" name="Google Shape;405;p54"/>
          <p:cNvSpPr/>
          <p:nvPr/>
        </p:nvSpPr>
        <p:spPr>
          <a:xfrm>
            <a:off x="-2241867" y="3309467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406" name="Google Shape;406;p54"/>
          <p:cNvSpPr/>
          <p:nvPr/>
        </p:nvSpPr>
        <p:spPr>
          <a:xfrm rot="10800000">
            <a:off x="8659633" y="-1576333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407" name="Google Shape;407;p54"/>
          <p:cNvSpPr/>
          <p:nvPr/>
        </p:nvSpPr>
        <p:spPr>
          <a:xfrm rot="10800000">
            <a:off x="7272933" y="-23857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8" name="Google Shape;408;p54"/>
          <p:cNvSpPr txBox="1">
            <a:spLocks noGrp="1"/>
          </p:cNvSpPr>
          <p:nvPr>
            <p:ph type="title" idx="2"/>
          </p:nvPr>
        </p:nvSpPr>
        <p:spPr>
          <a:xfrm>
            <a:off x="1237400" y="4754367"/>
            <a:ext cx="20128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409" name="Google Shape;409;p54"/>
          <p:cNvSpPr txBox="1">
            <a:spLocks noGrp="1"/>
          </p:cNvSpPr>
          <p:nvPr>
            <p:ph type="subTitle" idx="1"/>
          </p:nvPr>
        </p:nvSpPr>
        <p:spPr>
          <a:xfrm>
            <a:off x="1011800" y="5267320"/>
            <a:ext cx="2464000" cy="5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410" name="Google Shape;410;p54"/>
          <p:cNvSpPr txBox="1">
            <a:spLocks noGrp="1"/>
          </p:cNvSpPr>
          <p:nvPr>
            <p:ph type="title" idx="3"/>
          </p:nvPr>
        </p:nvSpPr>
        <p:spPr>
          <a:xfrm>
            <a:off x="8915769" y="4754367"/>
            <a:ext cx="20128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411" name="Google Shape;411;p54"/>
          <p:cNvSpPr txBox="1">
            <a:spLocks noGrp="1"/>
          </p:cNvSpPr>
          <p:nvPr>
            <p:ph type="subTitle" idx="4"/>
          </p:nvPr>
        </p:nvSpPr>
        <p:spPr>
          <a:xfrm>
            <a:off x="8690163" y="5267320"/>
            <a:ext cx="2464000" cy="5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412" name="Google Shape;412;p54"/>
          <p:cNvSpPr txBox="1">
            <a:spLocks noGrp="1"/>
          </p:cNvSpPr>
          <p:nvPr>
            <p:ph type="title" idx="5"/>
          </p:nvPr>
        </p:nvSpPr>
        <p:spPr>
          <a:xfrm>
            <a:off x="5086835" y="4754367"/>
            <a:ext cx="20128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413" name="Google Shape;413;p54"/>
          <p:cNvSpPr txBox="1">
            <a:spLocks noGrp="1"/>
          </p:cNvSpPr>
          <p:nvPr>
            <p:ph type="subTitle" idx="6"/>
          </p:nvPr>
        </p:nvSpPr>
        <p:spPr>
          <a:xfrm>
            <a:off x="4861228" y="5267320"/>
            <a:ext cx="2464000" cy="5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  <p:sp>
        <p:nvSpPr>
          <p:cNvPr id="414" name="Google Shape;414;p54"/>
          <p:cNvSpPr txBox="1">
            <a:spLocks noGrp="1"/>
          </p:cNvSpPr>
          <p:nvPr>
            <p:ph type="title" idx="7" hasCustomPrompt="1"/>
          </p:nvPr>
        </p:nvSpPr>
        <p:spPr>
          <a:xfrm>
            <a:off x="5342017" y="3330500"/>
            <a:ext cx="1508000" cy="5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15" name="Google Shape;415;p54"/>
          <p:cNvSpPr txBox="1">
            <a:spLocks noGrp="1"/>
          </p:cNvSpPr>
          <p:nvPr>
            <p:ph type="title" idx="8" hasCustomPrompt="1"/>
          </p:nvPr>
        </p:nvSpPr>
        <p:spPr>
          <a:xfrm>
            <a:off x="1489800" y="3330497"/>
            <a:ext cx="1508000" cy="5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16" name="Google Shape;416;p54"/>
          <p:cNvSpPr txBox="1">
            <a:spLocks noGrp="1"/>
          </p:cNvSpPr>
          <p:nvPr>
            <p:ph type="title" idx="9" hasCustomPrompt="1"/>
          </p:nvPr>
        </p:nvSpPr>
        <p:spPr>
          <a:xfrm>
            <a:off x="9168151" y="3330497"/>
            <a:ext cx="1508000" cy="5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3" b="1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842649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aption 1">
    <p:bg>
      <p:bgPr>
        <a:solidFill>
          <a:schemeClr val="accent5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5"/>
          <p:cNvSpPr/>
          <p:nvPr/>
        </p:nvSpPr>
        <p:spPr>
          <a:xfrm>
            <a:off x="-67" y="7467"/>
            <a:ext cx="12192000" cy="6858000"/>
          </a:xfrm>
          <a:prstGeom prst="rect">
            <a:avLst/>
          </a:prstGeom>
          <a:solidFill>
            <a:schemeClr val="lt1">
              <a:alpha val="2356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9" name="Google Shape;419;p55"/>
          <p:cNvSpPr/>
          <p:nvPr/>
        </p:nvSpPr>
        <p:spPr>
          <a:xfrm>
            <a:off x="-100733" y="617733"/>
            <a:ext cx="6515200" cy="140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0" name="Google Shape;420;p55"/>
          <p:cNvSpPr/>
          <p:nvPr/>
        </p:nvSpPr>
        <p:spPr>
          <a:xfrm rot="10800000">
            <a:off x="8707267" y="-819167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421" name="Google Shape;421;p55"/>
          <p:cNvSpPr/>
          <p:nvPr/>
        </p:nvSpPr>
        <p:spPr>
          <a:xfrm rot="10800000">
            <a:off x="8999367" y="-946167"/>
            <a:ext cx="4541200" cy="44032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422" name="Google Shape;422;p55"/>
          <p:cNvSpPr txBox="1">
            <a:spLocks noGrp="1"/>
          </p:cNvSpPr>
          <p:nvPr>
            <p:ph type="title"/>
          </p:nvPr>
        </p:nvSpPr>
        <p:spPr>
          <a:xfrm>
            <a:off x="950967" y="707633"/>
            <a:ext cx="5145200" cy="112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333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68176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bg>
      <p:bgPr>
        <a:solidFill>
          <a:schemeClr val="dk1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6"/>
          <p:cNvSpPr/>
          <p:nvPr/>
        </p:nvSpPr>
        <p:spPr>
          <a:xfrm>
            <a:off x="5554133" y="3760568"/>
            <a:ext cx="10769600" cy="51676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25" name="Google Shape;425;p56"/>
          <p:cNvSpPr/>
          <p:nvPr/>
        </p:nvSpPr>
        <p:spPr>
          <a:xfrm rot="10800000">
            <a:off x="-1342033" y="-392933"/>
            <a:ext cx="5372400" cy="25780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26" name="Google Shape;426;p56"/>
          <p:cNvSpPr txBox="1">
            <a:spLocks noGrp="1"/>
          </p:cNvSpPr>
          <p:nvPr>
            <p:ph type="title"/>
          </p:nvPr>
        </p:nvSpPr>
        <p:spPr>
          <a:xfrm>
            <a:off x="951000" y="896984"/>
            <a:ext cx="10290000" cy="17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10666" b="1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427" name="Google Shape;427;p56"/>
          <p:cNvSpPr txBox="1">
            <a:spLocks noGrp="1"/>
          </p:cNvSpPr>
          <p:nvPr>
            <p:ph type="body" idx="1"/>
          </p:nvPr>
        </p:nvSpPr>
        <p:spPr>
          <a:xfrm>
            <a:off x="4091000" y="2839364"/>
            <a:ext cx="4010000" cy="9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●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Char char="○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Font typeface="Didact Gothic"/>
              <a:buChar char="■"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28" name="Google Shape;428;p56"/>
          <p:cNvSpPr txBox="1"/>
          <p:nvPr/>
        </p:nvSpPr>
        <p:spPr>
          <a:xfrm>
            <a:off x="3311400" y="4523533"/>
            <a:ext cx="5569200" cy="9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CREDITS: This presentation template was created by </a:t>
            </a:r>
            <a:r>
              <a:rPr lang="en" sz="1467" b="1">
                <a:solidFill>
                  <a:schemeClr val="lt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4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including icons by </a:t>
            </a:r>
            <a:r>
              <a:rPr lang="en" sz="1467" b="1">
                <a:solidFill>
                  <a:schemeClr val="lt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4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infographics &amp; images by </a:t>
            </a:r>
            <a:r>
              <a:rPr lang="en" sz="1467" b="1">
                <a:solidFill>
                  <a:schemeClr val="lt1"/>
                </a:solidFill>
                <a:uFill>
                  <a:noFill/>
                </a:u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467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endParaRPr sz="1467">
              <a:solidFill>
                <a:schemeClr val="lt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429" name="Google Shape;429;p56"/>
          <p:cNvSpPr txBox="1">
            <a:spLocks noGrp="1"/>
          </p:cNvSpPr>
          <p:nvPr>
            <p:ph type="subTitle" idx="2"/>
          </p:nvPr>
        </p:nvSpPr>
        <p:spPr>
          <a:xfrm>
            <a:off x="4092233" y="2457500"/>
            <a:ext cx="4010000" cy="5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Font typeface="Didact Gothic"/>
              <a:buNone/>
              <a:defRPr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r>
              <a:rPr lang="zh-TW" altLang="en-US"/>
              <a:t>按一下以編輯母片子標題樣式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54500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Background "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7"/>
          <p:cNvSpPr/>
          <p:nvPr/>
        </p:nvSpPr>
        <p:spPr>
          <a:xfrm flipH="1">
            <a:off x="9366000" y="3467500"/>
            <a:ext cx="4541200" cy="4403200"/>
          </a:xfrm>
          <a:prstGeom prst="rtTriangl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432" name="Google Shape;432;p57"/>
          <p:cNvSpPr/>
          <p:nvPr/>
        </p:nvSpPr>
        <p:spPr>
          <a:xfrm flipH="1">
            <a:off x="9505067" y="3467500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433" name="Google Shape;433;p57"/>
          <p:cNvSpPr/>
          <p:nvPr/>
        </p:nvSpPr>
        <p:spPr>
          <a:xfrm rot="10800000" flipH="1">
            <a:off x="-1016567" y="-1220733"/>
            <a:ext cx="4541200" cy="44032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</p:txBody>
      </p:sp>
      <p:sp>
        <p:nvSpPr>
          <p:cNvPr id="434" name="Google Shape;434;p57"/>
          <p:cNvSpPr/>
          <p:nvPr/>
        </p:nvSpPr>
        <p:spPr>
          <a:xfrm rot="10800000" flipH="1">
            <a:off x="-2241867" y="-2030167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40731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Background  1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8"/>
          <p:cNvSpPr/>
          <p:nvPr/>
        </p:nvSpPr>
        <p:spPr>
          <a:xfrm rot="10800000" flipH="1">
            <a:off x="0" y="-48267"/>
            <a:ext cx="3056800" cy="2778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37" name="Google Shape;437;p58"/>
          <p:cNvSpPr/>
          <p:nvPr/>
        </p:nvSpPr>
        <p:spPr>
          <a:xfrm>
            <a:off x="8070800" y="4086433"/>
            <a:ext cx="7153200" cy="3355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27373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2">
  <p:cSld name="Background  2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9" name="Google Shape;439;p59"/>
          <p:cNvCxnSpPr/>
          <p:nvPr/>
        </p:nvCxnSpPr>
        <p:spPr>
          <a:xfrm>
            <a:off x="8466817" y="-2001500"/>
            <a:ext cx="5010000" cy="55784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0" name="Google Shape;440;p59"/>
          <p:cNvSpPr/>
          <p:nvPr/>
        </p:nvSpPr>
        <p:spPr>
          <a:xfrm>
            <a:off x="-85600" y="5101033"/>
            <a:ext cx="1728000" cy="18432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1" name="Google Shape;441;p59"/>
          <p:cNvSpPr/>
          <p:nvPr/>
        </p:nvSpPr>
        <p:spPr>
          <a:xfrm>
            <a:off x="7011867" y="-317233"/>
            <a:ext cx="15205200" cy="77924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2" name="Google Shape;442;p59"/>
          <p:cNvSpPr/>
          <p:nvPr/>
        </p:nvSpPr>
        <p:spPr>
          <a:xfrm rot="10800000">
            <a:off x="-7185400" y="-2882633"/>
            <a:ext cx="15205200" cy="7792400"/>
          </a:xfrm>
          <a:prstGeom prst="triangle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3" name="Google Shape;443;p59"/>
          <p:cNvSpPr/>
          <p:nvPr/>
        </p:nvSpPr>
        <p:spPr>
          <a:xfrm>
            <a:off x="6948367" y="5151367"/>
            <a:ext cx="3876400" cy="198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44" name="Google Shape;444;p59"/>
          <p:cNvSpPr/>
          <p:nvPr/>
        </p:nvSpPr>
        <p:spPr>
          <a:xfrm rot="10800000">
            <a:off x="1477300" y="-741433"/>
            <a:ext cx="3876400" cy="19868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29145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0940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5531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8237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6"/>
          <p:cNvSpPr txBox="1">
            <a:spLocks noGrp="1"/>
          </p:cNvSpPr>
          <p:nvPr>
            <p:ph type="title"/>
          </p:nvPr>
        </p:nvSpPr>
        <p:spPr>
          <a:xfrm>
            <a:off x="1397800" y="431800"/>
            <a:ext cx="9396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74187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10290000" cy="15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700"/>
              <a:buFont typeface="Julius Sans One"/>
              <a:buNone/>
              <a:defRPr sz="27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6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●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○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■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●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○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■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●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○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hlink"/>
              </a:buClr>
              <a:buSzPts val="1400"/>
              <a:buFont typeface="Questrial"/>
              <a:buChar char="■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378585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5" r:id="rId31"/>
    <p:sldLayoutId id="2147483706" r:id="rId32"/>
    <p:sldLayoutId id="2147483707" r:id="rId33"/>
    <p:sldLayoutId id="2147483708" r:id="rId34"/>
    <p:sldLayoutId id="2147483709" r:id="rId35"/>
    <p:sldLayoutId id="2147483710" r:id="rId36"/>
    <p:sldLayoutId id="2147483711" r:id="rId37"/>
    <p:sldLayoutId id="2147483712" r:id="rId38"/>
    <p:sldLayoutId id="2147483713" r:id="rId39"/>
    <p:sldLayoutId id="2147483714" r:id="rId40"/>
    <p:sldLayoutId id="2147483715" r:id="rId41"/>
    <p:sldLayoutId id="2147483717" r:id="rId42"/>
    <p:sldLayoutId id="2147483718" r:id="rId43"/>
    <p:sldLayoutId id="2147483719" r:id="rId44"/>
    <p:sldLayoutId id="2147483720" r:id="rId45"/>
    <p:sldLayoutId id="2147483721" r:id="rId46"/>
    <p:sldLayoutId id="2147483722" r:id="rId47"/>
    <p:sldLayoutId id="2147483723" r:id="rId48"/>
    <p:sldLayoutId id="2147483724" r:id="rId49"/>
    <p:sldLayoutId id="2147483725" r:id="rId50"/>
    <p:sldLayoutId id="2147483726" r:id="rId51"/>
    <p:sldLayoutId id="2147483727" r:id="rId52"/>
    <p:sldLayoutId id="2147483728" r:id="rId53"/>
    <p:sldLayoutId id="2147483729" r:id="rId54"/>
    <p:sldLayoutId id="2147483730" r:id="rId55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pos="2880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0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47" name="Google Shape;447;p60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933868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4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2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51" name="Google Shape;451;p62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4309976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6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4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55" name="Google Shape;455;p64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6775861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3ABFCB-2C7F-B44B-6FEE-380716DEC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4539" y="3884912"/>
            <a:ext cx="8728239" cy="2011200"/>
          </a:xfrm>
        </p:spPr>
        <p:txBody>
          <a:bodyPr/>
          <a:lstStyle/>
          <a:p>
            <a:r>
              <a:rPr lang="en-US" altLang="zh-TW" sz="6000" dirty="0"/>
              <a:t>Chapter 15.6-15.9 </a:t>
            </a:r>
            <a:br>
              <a:rPr lang="en-US" altLang="zh-TW" sz="6000" dirty="0"/>
            </a:br>
            <a:r>
              <a:rPr lang="en-US" altLang="zh-TW" sz="6000" dirty="0"/>
              <a:t>Elliptic curve </a:t>
            </a:r>
            <a:br>
              <a:rPr lang="en-US" altLang="zh-TW" sz="6000" dirty="0"/>
            </a:br>
            <a:r>
              <a:rPr lang="en-US" altLang="zh-TW" sz="6000" dirty="0"/>
              <a:t>cryptography and pairings</a:t>
            </a:r>
            <a:endParaRPr lang="zh-TW" altLang="en-US" sz="6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098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051A6FCC-31FC-43A5-9A06-BC86B25AC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800" dirty="0">
                <a:latin typeface="+mj-lt"/>
              </a:rPr>
              <a:t>Advanced encryption schemes from pairings</a:t>
            </a:r>
          </a:p>
          <a:p>
            <a:r>
              <a:rPr lang="en-US" altLang="zh-TW" sz="2800" dirty="0">
                <a:latin typeface="+mj-lt"/>
              </a:rPr>
              <a:t>The functional encryption paradigm</a:t>
            </a:r>
          </a:p>
          <a:p>
            <a:r>
              <a:rPr lang="en-US" altLang="zh-TW" sz="2800" b="0" i="0" dirty="0">
                <a:effectLst/>
                <a:latin typeface="+mj-lt"/>
              </a:rPr>
              <a:t>Multilinear map</a:t>
            </a:r>
            <a:endParaRPr lang="zh-TW" altLang="en-US" sz="28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D079DCBA-5F34-46B6-9558-AC97CF744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564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E1E18D-2872-4F1C-EC02-B970F5F76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58890" y="3120200"/>
            <a:ext cx="10674221" cy="617600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Advanced encryption schemes from pairings</a:t>
            </a:r>
          </a:p>
        </p:txBody>
      </p:sp>
    </p:spTree>
    <p:extLst>
      <p:ext uri="{BB962C8B-B14F-4D97-AF65-F5344CB8AC3E}">
        <p14:creationId xmlns:p14="http://schemas.microsoft.com/office/powerpoint/2010/main" val="1464715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Identity based encryption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A64B47D-AAFD-44B7-9F0B-5A7CA3AD1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000" dirty="0">
                <a:latin typeface="+mj-lt"/>
                <a:cs typeface="Times New Roman" panose="02020603050405020304" pitchFamily="18" charset="0"/>
              </a:rPr>
              <a:t>Core Concept: What Problem Does It Solve?</a:t>
            </a:r>
          </a:p>
          <a:p>
            <a:pPr lvl="1"/>
            <a:r>
              <a:rPr lang="en-US" altLang="zh-TW" sz="2000" dirty="0">
                <a:latin typeface="+mj-lt"/>
                <a:cs typeface="Times New Roman" panose="02020603050405020304" pitchFamily="18" charset="0"/>
              </a:rPr>
              <a:t>In traditional public-key cryptography:</a:t>
            </a:r>
          </a:p>
          <a:p>
            <a:pPr lvl="1"/>
            <a:r>
              <a:rPr lang="en-US" altLang="zh-TW" sz="2000" dirty="0">
                <a:latin typeface="+mj-lt"/>
                <a:cs typeface="Times New Roman" panose="02020603050405020304" pitchFamily="18" charset="0"/>
              </a:rPr>
              <a:t>If Alice wants to encrypt a message to Bob, she must first obtain Bob's current public key.</a:t>
            </a:r>
          </a:p>
          <a:p>
            <a:pPr lvl="1"/>
            <a:r>
              <a:rPr lang="en-US" altLang="zh-TW" dirty="0">
                <a:latin typeface="+mj-lt"/>
              </a:rPr>
              <a:t>She must query this key using a certificate or public key directory, which typically requires an </a:t>
            </a:r>
            <a:r>
              <a:rPr lang="en-US" altLang="zh-TW" dirty="0">
                <a:solidFill>
                  <a:srgbClr val="FF0000"/>
                </a:solidFill>
                <a:latin typeface="+mj-lt"/>
              </a:rPr>
              <a:t>additional</a:t>
            </a:r>
            <a:r>
              <a:rPr lang="en-US" altLang="zh-TW" dirty="0">
                <a:latin typeface="+mj-lt"/>
              </a:rPr>
              <a:t> round of communication.</a:t>
            </a:r>
          </a:p>
          <a:p>
            <a:r>
              <a:rPr lang="en-US" altLang="zh-TW" dirty="0">
                <a:latin typeface="+mj-lt"/>
              </a:rPr>
              <a:t>IBE's goals:</a:t>
            </a:r>
          </a:p>
          <a:p>
            <a:pPr lvl="1"/>
            <a:r>
              <a:rPr lang="en-US" altLang="zh-TW" dirty="0">
                <a:latin typeface="+mj-lt"/>
              </a:rPr>
              <a:t>Eliminate this </a:t>
            </a:r>
            <a:r>
              <a:rPr lang="en-US" altLang="zh-TW" dirty="0">
                <a:solidFill>
                  <a:srgbClr val="FF0000"/>
                </a:solidFill>
                <a:latin typeface="+mj-lt"/>
              </a:rPr>
              <a:t>initial round </a:t>
            </a:r>
            <a:r>
              <a:rPr lang="en-US" altLang="zh-TW" dirty="0">
                <a:latin typeface="+mj-lt"/>
              </a:rPr>
              <a:t>of communication.</a:t>
            </a:r>
          </a:p>
          <a:p>
            <a:pPr lvl="1"/>
            <a:r>
              <a:rPr lang="en-US" altLang="zh-TW" dirty="0">
                <a:latin typeface="+mj-lt"/>
              </a:rPr>
              <a:t>Allow </a:t>
            </a:r>
            <a:r>
              <a:rPr lang="en-US" altLang="zh-TW" dirty="0">
                <a:solidFill>
                  <a:srgbClr val="FF0000"/>
                </a:solidFill>
                <a:latin typeface="+mj-lt"/>
              </a:rPr>
              <a:t>any string</a:t>
            </a:r>
            <a:r>
              <a:rPr lang="en-US" altLang="zh-TW" dirty="0">
                <a:latin typeface="+mj-lt"/>
              </a:rPr>
              <a:t> (e.g., Bob's email address, the current date, or the numbers 1, 2, or 3) to serve as a public key.</a:t>
            </a:r>
          </a:p>
        </p:txBody>
      </p:sp>
    </p:spTree>
    <p:extLst>
      <p:ext uri="{BB962C8B-B14F-4D97-AF65-F5344CB8AC3E}">
        <p14:creationId xmlns:p14="http://schemas.microsoft.com/office/powerpoint/2010/main" val="1128342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9909C-9A6C-1827-4F0A-CFC0CCA99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08950906-0021-53F0-598F-FE13E761D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Identity based encryption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765A45B-DF3D-CF79-38C8-F2A70B195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0967" y="1921727"/>
            <a:ext cx="10281200" cy="4346400"/>
          </a:xfrm>
        </p:spPr>
        <p:txBody>
          <a:bodyPr/>
          <a:lstStyle/>
          <a:p>
            <a:r>
              <a:rPr lang="en-US" altLang="zh-TW" sz="2000" dirty="0">
                <a:latin typeface="+mj-lt"/>
                <a:cs typeface="Times New Roman" panose="02020603050405020304" pitchFamily="18" charset="0"/>
              </a:rPr>
              <a:t>How it works ?</a:t>
            </a:r>
          </a:p>
          <a:p>
            <a:pPr lvl="1"/>
            <a:endParaRPr lang="en-US" altLang="zh-TW" sz="2000" dirty="0">
              <a:latin typeface="+mj-lt"/>
              <a:cs typeface="Times New Roman" panose="02020603050405020304" pitchFamily="18" charset="0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22FC755F-E575-FF62-DFC8-E94BC646C811}"/>
              </a:ext>
            </a:extLst>
          </p:cNvPr>
          <p:cNvGrpSpPr/>
          <p:nvPr/>
        </p:nvGrpSpPr>
        <p:grpSpPr>
          <a:xfrm>
            <a:off x="5044440" y="2190750"/>
            <a:ext cx="1607820" cy="1142167"/>
            <a:chOff x="5044440" y="2190750"/>
            <a:chExt cx="1607820" cy="1142167"/>
          </a:xfrm>
        </p:grpSpPr>
        <p:sp>
          <p:nvSpPr>
            <p:cNvPr id="2" name="矩形: 圓角 1">
              <a:extLst>
                <a:ext uri="{FF2B5EF4-FFF2-40B4-BE49-F238E27FC236}">
                  <a16:creationId xmlns:a16="http://schemas.microsoft.com/office/drawing/2014/main" id="{12AA830C-910E-CC33-031F-49B4CB777DC9}"/>
                </a:ext>
              </a:extLst>
            </p:cNvPr>
            <p:cNvSpPr/>
            <p:nvPr/>
          </p:nvSpPr>
          <p:spPr>
            <a:xfrm>
              <a:off x="5044440" y="2190750"/>
              <a:ext cx="1607820" cy="83439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Tracy(private key generator)</a:t>
              </a:r>
              <a:endParaRPr lang="zh-TW" altLang="en-US" dirty="0"/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CDBAB6A4-7E59-BECC-5701-D8FD89273996}"/>
                </a:ext>
              </a:extLst>
            </p:cNvPr>
            <p:cNvSpPr txBox="1"/>
            <p:nvPr/>
          </p:nvSpPr>
          <p:spPr>
            <a:xfrm>
              <a:off x="5166913" y="3025140"/>
              <a:ext cx="13628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S()=(</a:t>
              </a:r>
              <a:r>
                <a:rPr lang="en-US" altLang="zh-TW" dirty="0" err="1"/>
                <a:t>mpk,msk</a:t>
              </a:r>
              <a:r>
                <a:rPr lang="en-US" altLang="zh-TW" dirty="0"/>
                <a:t>)</a:t>
              </a:r>
              <a:endParaRPr lang="zh-TW" altLang="en-US" dirty="0"/>
            </a:p>
          </p:txBody>
        </p:sp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9D8C40A2-D538-F936-92C7-5E04CE1AA285}"/>
              </a:ext>
            </a:extLst>
          </p:cNvPr>
          <p:cNvGrpSpPr/>
          <p:nvPr/>
        </p:nvGrpSpPr>
        <p:grpSpPr>
          <a:xfrm>
            <a:off x="1889760" y="3844290"/>
            <a:ext cx="1607820" cy="1142167"/>
            <a:chOff x="5044440" y="2190750"/>
            <a:chExt cx="1607820" cy="1142167"/>
          </a:xfrm>
        </p:grpSpPr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670B8346-2CB0-3F97-EE6A-277117AB8727}"/>
                </a:ext>
              </a:extLst>
            </p:cNvPr>
            <p:cNvSpPr/>
            <p:nvPr/>
          </p:nvSpPr>
          <p:spPr>
            <a:xfrm>
              <a:off x="5044440" y="2190750"/>
              <a:ext cx="1607820" cy="83439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Alice</a:t>
              </a:r>
              <a:endParaRPr lang="zh-TW" altLang="en-US" dirty="0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E5C6997B-495A-BD32-74D7-0EE5AE06CB42}"/>
                </a:ext>
              </a:extLst>
            </p:cNvPr>
            <p:cNvSpPr txBox="1"/>
            <p:nvPr/>
          </p:nvSpPr>
          <p:spPr>
            <a:xfrm>
              <a:off x="5166913" y="3025140"/>
              <a:ext cx="1244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m=D(</a:t>
              </a:r>
              <a:r>
                <a:rPr lang="en-US" altLang="zh-TW" dirty="0" err="1"/>
                <a:t>sk_id,c</a:t>
              </a:r>
              <a:r>
                <a:rPr lang="en-US" altLang="zh-TW" dirty="0"/>
                <a:t>)</a:t>
              </a:r>
              <a:endParaRPr lang="zh-TW" altLang="en-US" dirty="0"/>
            </a:p>
          </p:txBody>
        </p:sp>
      </p:grp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0480EBEE-1089-C278-CBAC-1157F57C32D2}"/>
              </a:ext>
            </a:extLst>
          </p:cNvPr>
          <p:cNvCxnSpPr>
            <a:cxnSpLocks/>
          </p:cNvCxnSpPr>
          <p:nvPr/>
        </p:nvCxnSpPr>
        <p:spPr>
          <a:xfrm flipV="1">
            <a:off x="2788920" y="2607945"/>
            <a:ext cx="2133047" cy="1163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65D3ED2-6DFA-E100-5A01-2C792221E0AB}"/>
              </a:ext>
            </a:extLst>
          </p:cNvPr>
          <p:cNvSpPr txBox="1"/>
          <p:nvPr/>
        </p:nvSpPr>
        <p:spPr>
          <a:xfrm rot="19867744">
            <a:off x="2711258" y="2871252"/>
            <a:ext cx="1891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 err="1"/>
              <a:t>Id:Alice@gmail.com</a:t>
            </a:r>
            <a:endParaRPr lang="zh-TW" altLang="en-US" dirty="0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263439A4-E0F3-D21A-29C1-1131C8C9479A}"/>
              </a:ext>
            </a:extLst>
          </p:cNvPr>
          <p:cNvCxnSpPr>
            <a:cxnSpLocks/>
          </p:cNvCxnSpPr>
          <p:nvPr/>
        </p:nvCxnSpPr>
        <p:spPr>
          <a:xfrm flipH="1">
            <a:off x="3078480" y="2801183"/>
            <a:ext cx="1843487" cy="1031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8E6843B-3673-BCB9-6254-70B2E55C6DB8}"/>
              </a:ext>
            </a:extLst>
          </p:cNvPr>
          <p:cNvSpPr txBox="1"/>
          <p:nvPr/>
        </p:nvSpPr>
        <p:spPr>
          <a:xfrm rot="19750859">
            <a:off x="3318502" y="3229844"/>
            <a:ext cx="1891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 err="1"/>
              <a:t>sk_id</a:t>
            </a:r>
            <a:r>
              <a:rPr lang="en-US" altLang="zh-TW" dirty="0"/>
              <a:t>=G(</a:t>
            </a:r>
            <a:r>
              <a:rPr lang="en-US" altLang="zh-TW" dirty="0" err="1"/>
              <a:t>msk,id</a:t>
            </a:r>
            <a:r>
              <a:rPr lang="en-US" altLang="zh-TW" dirty="0"/>
              <a:t>)</a:t>
            </a:r>
            <a:endParaRPr lang="zh-TW" altLang="en-US" dirty="0"/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B9412C89-03C5-2E77-2A37-E96E79C1182D}"/>
              </a:ext>
            </a:extLst>
          </p:cNvPr>
          <p:cNvGrpSpPr/>
          <p:nvPr/>
        </p:nvGrpSpPr>
        <p:grpSpPr>
          <a:xfrm>
            <a:off x="7623422" y="3844290"/>
            <a:ext cx="1607820" cy="1142167"/>
            <a:chOff x="5044440" y="2190750"/>
            <a:chExt cx="1607820" cy="1142167"/>
          </a:xfrm>
        </p:grpSpPr>
        <p:sp>
          <p:nvSpPr>
            <p:cNvPr id="21" name="矩形: 圓角 20">
              <a:extLst>
                <a:ext uri="{FF2B5EF4-FFF2-40B4-BE49-F238E27FC236}">
                  <a16:creationId xmlns:a16="http://schemas.microsoft.com/office/drawing/2014/main" id="{DB483EDE-5C98-6FFC-E206-95FA6EB2417E}"/>
                </a:ext>
              </a:extLst>
            </p:cNvPr>
            <p:cNvSpPr/>
            <p:nvPr/>
          </p:nvSpPr>
          <p:spPr>
            <a:xfrm>
              <a:off x="5044440" y="2190750"/>
              <a:ext cx="1607820" cy="834390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Bob</a:t>
              </a:r>
              <a:endParaRPr lang="zh-TW" altLang="en-US" dirty="0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D3E155B4-B32D-2837-20F7-7E153E133D79}"/>
                </a:ext>
              </a:extLst>
            </p:cNvPr>
            <p:cNvSpPr txBox="1"/>
            <p:nvPr/>
          </p:nvSpPr>
          <p:spPr>
            <a:xfrm>
              <a:off x="5166913" y="3025140"/>
              <a:ext cx="13436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/>
                <a:t>c=E(</a:t>
              </a:r>
              <a:r>
                <a:rPr lang="en-US" altLang="zh-TW" dirty="0" err="1"/>
                <a:t>mpk,id,m</a:t>
              </a:r>
              <a:r>
                <a:rPr lang="en-US" altLang="zh-TW" dirty="0"/>
                <a:t>)</a:t>
              </a:r>
              <a:endParaRPr lang="zh-TW" altLang="en-US" dirty="0"/>
            </a:p>
          </p:txBody>
        </p:sp>
      </p:grp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58B34CDB-EEE5-FDC8-6FCC-2B4B7286BB54}"/>
              </a:ext>
            </a:extLst>
          </p:cNvPr>
          <p:cNvCxnSpPr>
            <a:cxnSpLocks/>
          </p:cNvCxnSpPr>
          <p:nvPr/>
        </p:nvCxnSpPr>
        <p:spPr>
          <a:xfrm>
            <a:off x="6687182" y="2569516"/>
            <a:ext cx="1775072" cy="12363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71D0FCC-1548-120D-2BB2-5B4E203BF894}"/>
              </a:ext>
            </a:extLst>
          </p:cNvPr>
          <p:cNvSpPr txBox="1"/>
          <p:nvPr/>
        </p:nvSpPr>
        <p:spPr>
          <a:xfrm rot="2118206">
            <a:off x="6577132" y="2768332"/>
            <a:ext cx="2164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 err="1"/>
              <a:t>mpk</a:t>
            </a:r>
            <a:endParaRPr lang="zh-TW" altLang="en-US" dirty="0"/>
          </a:p>
        </p:txBody>
      </p: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E5C25257-8481-8B33-DB71-9313A5D362F8}"/>
              </a:ext>
            </a:extLst>
          </p:cNvPr>
          <p:cNvCxnSpPr>
            <a:cxnSpLocks/>
          </p:cNvCxnSpPr>
          <p:nvPr/>
        </p:nvCxnSpPr>
        <p:spPr>
          <a:xfrm flipH="1">
            <a:off x="3726180" y="4261485"/>
            <a:ext cx="37033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82FB1E2-477F-EAA7-5E6D-90DF1787A2D3}"/>
              </a:ext>
            </a:extLst>
          </p:cNvPr>
          <p:cNvSpPr txBox="1"/>
          <p:nvPr/>
        </p:nvSpPr>
        <p:spPr>
          <a:xfrm>
            <a:off x="5440623" y="3874572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99955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BF96D-AD17-D89E-0346-256E3B1B1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CFBBC38-F376-7CD2-A802-9F9D17E98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Formal definition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07DA7899-55B7-4BA3-B120-6AACF18639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112392"/>
              </p:ext>
            </p:extLst>
          </p:nvPr>
        </p:nvGraphicFramePr>
        <p:xfrm>
          <a:off x="2074101" y="1797558"/>
          <a:ext cx="8043798" cy="326288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35235">
                  <a:extLst>
                    <a:ext uri="{9D8B030D-6E8A-4147-A177-3AD203B41FA5}">
                      <a16:colId xmlns:a16="http://schemas.microsoft.com/office/drawing/2014/main" val="46613461"/>
                    </a:ext>
                  </a:extLst>
                </a:gridCol>
                <a:gridCol w="2069521">
                  <a:extLst>
                    <a:ext uri="{9D8B030D-6E8A-4147-A177-3AD203B41FA5}">
                      <a16:colId xmlns:a16="http://schemas.microsoft.com/office/drawing/2014/main" val="1297712670"/>
                    </a:ext>
                  </a:extLst>
                </a:gridCol>
                <a:gridCol w="2069521">
                  <a:extLst>
                    <a:ext uri="{9D8B030D-6E8A-4147-A177-3AD203B41FA5}">
                      <a16:colId xmlns:a16="http://schemas.microsoft.com/office/drawing/2014/main" val="46376631"/>
                    </a:ext>
                  </a:extLst>
                </a:gridCol>
                <a:gridCol w="2069521">
                  <a:extLst>
                    <a:ext uri="{9D8B030D-6E8A-4147-A177-3AD203B41FA5}">
                      <a16:colId xmlns:a16="http://schemas.microsoft.com/office/drawing/2014/main" val="36909935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altLang="zh-TW" b="0" dirty="0">
                          <a:effectLst/>
                          <a:latin typeface="quote-cjk-patch"/>
                        </a:rPr>
                        <a:t>algor</a:t>
                      </a:r>
                      <a:endParaRPr lang="zh-TW" altLang="en-US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altLang="zh-TW" b="0" dirty="0">
                          <a:effectLst/>
                          <a:latin typeface="quote-cjk-patch"/>
                        </a:rPr>
                        <a:t>input</a:t>
                      </a:r>
                      <a:endParaRPr lang="zh-TW" alt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altLang="zh-TW" b="0" dirty="0">
                          <a:effectLst/>
                        </a:rPr>
                        <a:t>output</a:t>
                      </a:r>
                      <a:endParaRPr lang="zh-TW" alt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altLang="zh-TW" b="0" dirty="0">
                          <a:effectLst/>
                        </a:rPr>
                        <a:t>explain</a:t>
                      </a:r>
                      <a:endParaRPr lang="zh-TW" alt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557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S </a:t>
                      </a:r>
                      <a:endParaRPr lang="en-US" altLang="zh-TW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b="0" dirty="0">
                          <a:effectLst/>
                        </a:rPr>
                        <a:t>-</a:t>
                      </a:r>
                      <a:endParaRPr lang="en-US" altLang="zh-TW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</a:rPr>
                        <a:t>(mpk, msk)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TW" b="0" dirty="0">
                          <a:effectLst/>
                        </a:rPr>
                        <a:t>Generate the system's master key pair</a:t>
                      </a:r>
                      <a:endParaRPr lang="zh-TW" altLang="en-US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737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G </a:t>
                      </a:r>
                      <a:endParaRPr lang="en-US" altLang="zh-TW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(</a:t>
                      </a:r>
                      <a:r>
                        <a:rPr lang="en-US" b="0" dirty="0" err="1">
                          <a:effectLst/>
                        </a:rPr>
                        <a:t>msk</a:t>
                      </a:r>
                      <a:r>
                        <a:rPr lang="en-US" b="0" dirty="0">
                          <a:effectLst/>
                        </a:rPr>
                        <a:t>, id)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 dirty="0" err="1">
                          <a:effectLst/>
                        </a:rPr>
                        <a:t>sk_id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altLang="zh-TW" b="0" dirty="0">
                          <a:effectLst/>
                        </a:rPr>
                        <a:t>Generate a private key for a specific identity id</a:t>
                      </a:r>
                      <a:endParaRPr lang="zh-TW" altLang="en-US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160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E </a:t>
                      </a:r>
                      <a:endParaRPr lang="en-US" altLang="zh-TW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(</a:t>
                      </a:r>
                      <a:r>
                        <a:rPr lang="en-US" b="0" dirty="0" err="1">
                          <a:effectLst/>
                        </a:rPr>
                        <a:t>mpk</a:t>
                      </a:r>
                      <a:r>
                        <a:rPr lang="en-US" b="0" dirty="0">
                          <a:effectLst/>
                        </a:rPr>
                        <a:t>, id, m)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c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altLang="zh-TW" b="0" dirty="0">
                          <a:effectLst/>
                        </a:rPr>
                        <a:t>Use identity id to encrypt message m</a:t>
                      </a:r>
                      <a:endParaRPr lang="zh-TW" altLang="en-US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578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D </a:t>
                      </a:r>
                      <a:endParaRPr lang="en-US" altLang="zh-TW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(</a:t>
                      </a:r>
                      <a:r>
                        <a:rPr lang="en-US" b="0" dirty="0" err="1">
                          <a:effectLst/>
                        </a:rPr>
                        <a:t>sk_id</a:t>
                      </a:r>
                      <a:r>
                        <a:rPr lang="en-US" b="0" dirty="0">
                          <a:effectLst/>
                        </a:rPr>
                        <a:t>, c)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 dirty="0">
                          <a:effectLst/>
                        </a:rPr>
                        <a:t>m or</a:t>
                      </a:r>
                      <a:r>
                        <a:rPr lang="zh-TW" altLang="en-US" b="0" dirty="0">
                          <a:effectLst/>
                        </a:rPr>
                        <a:t> </a:t>
                      </a:r>
                      <a:r>
                        <a:rPr lang="en-US" b="0" dirty="0">
                          <a:effectLst/>
                        </a:rPr>
                        <a:t>reject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altLang="zh-TW" b="0" dirty="0">
                          <a:effectLst/>
                        </a:rPr>
                        <a:t>Decrypt ciphertext c using </a:t>
                      </a:r>
                      <a:r>
                        <a:rPr lang="en-US" altLang="zh-TW" b="0" dirty="0" err="1">
                          <a:effectLst/>
                        </a:rPr>
                        <a:t>sk_id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2420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0393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Game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950966" y="1898867"/>
                <a:ext cx="10281200" cy="4346400"/>
              </a:xfrm>
            </p:spPr>
            <p:txBody>
              <a:bodyPr/>
              <a:lstStyle/>
              <a:p>
                <a:r>
                  <a:rPr lang="en-US" altLang="zh-TW" sz="2000" dirty="0"/>
                  <a:t>Experiment b (b = 0, 1):</a:t>
                </a:r>
              </a:p>
              <a:p>
                <a:pPr marL="1253047" lvl="1" indent="-457200">
                  <a:buSzPct val="100000"/>
                  <a:buFont typeface="+mj-lt"/>
                  <a:buAutoNum type="arabicPeriod"/>
                </a:pPr>
                <a:r>
                  <a:rPr lang="en-US" altLang="zh-TW" sz="2000" dirty="0"/>
                  <a:t>The challenger computes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𝑚𝑝𝑘</m:t>
                        </m:r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𝑚𝑠𝑘</m:t>
                        </m:r>
                      </m:e>
                    </m:d>
                    <m:groupChr>
                      <m:groupChrPr>
                        <m:chr m:val="→"/>
                        <m:vertJc m:val="bot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sty m:val="p"/>
                            <m:brk m:alnAt="2"/>
                          </m:rP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groupCh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( )</m:t>
                    </m:r>
                  </m:oMath>
                </a14:m>
                <a:r>
                  <a:rPr lang="en-US" altLang="zh-TW" dirty="0"/>
                  <a:t>,</a:t>
                </a:r>
                <a:r>
                  <a:rPr lang="en-US" altLang="zh-TW" sz="2000" dirty="0"/>
                  <a:t> and sends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𝑚𝑝𝑘</m:t>
                    </m:r>
                  </m:oMath>
                </a14:m>
                <a:r>
                  <a:rPr lang="en-US" altLang="zh-TW" sz="2000" dirty="0"/>
                  <a:t> to the adversary A.</a:t>
                </a:r>
              </a:p>
              <a:p>
                <a:pPr marL="1253047" lvl="1" indent="-457200">
                  <a:buSzPct val="100000"/>
                  <a:buFont typeface="+mj-lt"/>
                  <a:buAutoNum type="arabicPeriod"/>
                </a:pPr>
                <a:r>
                  <a:rPr lang="en-US" altLang="zh-TW" sz="2000" dirty="0"/>
                  <a:t>A then makes a series of queries to the challenger. Each query can be one of </a:t>
                </a:r>
                <a:r>
                  <a:rPr lang="en-US" altLang="zh-TW" sz="2000" dirty="0">
                    <a:solidFill>
                      <a:srgbClr val="FF0000"/>
                    </a:solidFill>
                  </a:rPr>
                  <a:t>two types: </a:t>
                </a:r>
              </a:p>
              <a:p>
                <a:pPr lvl="2"/>
                <a:r>
                  <a:rPr lang="en-US" altLang="zh-TW" sz="2000" dirty="0"/>
                  <a:t>Key query: For an identity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sz="2000" i="1" dirty="0" err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000" dirty="0"/>
                  <a:t>, the challenger computes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err="1">
                            <a:latin typeface="Cambria Math" panose="02040503050406030204" pitchFamily="18" charset="0"/>
                          </a:rPr>
                          <m:t>𝑚𝑠𝑘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altLang="zh-TW" sz="20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 err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TW" sz="2000" i="1" dirty="0" err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sz="2000" dirty="0"/>
                  <a:t> </a:t>
                </a:r>
                <a:r>
                  <a:rPr lang="en-US" altLang="zh-TW" sz="2000" dirty="0"/>
                  <a:t>and sends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000" dirty="0"/>
                  <a:t> to </a:t>
                </a:r>
                <a:r>
                  <a:rPr lang="zh-TW" altLang="en-US" sz="2000" dirty="0"/>
                  <a:t>𝒜</a:t>
                </a:r>
                <a:r>
                  <a:rPr lang="en-US" altLang="zh-TW" sz="2000" dirty="0"/>
                  <a:t>. (adversary can’t choose</a:t>
                </a:r>
                <a:r>
                  <a:rPr lang="zh-TW" altLang="en-US" sz="2000" dirty="0"/>
                  <a:t> </a:t>
                </a:r>
                <a:r>
                  <a:rPr lang="en-US" altLang="zh-TW" sz="2000" dirty="0" err="1"/>
                  <a:t>id</a:t>
                </a:r>
                <a:r>
                  <a:rPr lang="en-US" altLang="zh-TW" sz="2000" baseline="-25000" dirty="0" err="1"/>
                  <a:t>j</a:t>
                </a:r>
                <a:r>
                  <a:rPr lang="en-US" altLang="zh-TW" sz="2000" dirty="0"/>
                  <a:t> attack)</a:t>
                </a:r>
              </a:p>
              <a:p>
                <a:pPr lvl="2"/>
                <a:r>
                  <a:rPr lang="en-US" altLang="zh-TW" sz="2000" dirty="0"/>
                  <a:t>Encrypted query: </a:t>
                </a:r>
                <a:r>
                  <a:rPr lang="zh-TW" altLang="en-US" sz="2000" dirty="0"/>
                  <a:t>𝒜 </a:t>
                </a:r>
                <a:r>
                  <a:rPr lang="en-US" altLang="zh-TW" sz="2000" dirty="0"/>
                  <a:t>submits a triple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𝑖𝑑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TW" sz="20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 dirty="0"/>
                  <a:t>are messages of equal length. The challenger computes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err="1">
                            <a:latin typeface="Cambria Math" panose="02040503050406030204" pitchFamily="18" charset="0"/>
                          </a:rPr>
                          <m:t>𝑚𝑝𝑘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𝑖𝑑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 err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sz="2000" i="1" dirty="0" err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000" dirty="0"/>
                  <a:t>and sends c to </a:t>
                </a:r>
                <a:r>
                  <a:rPr lang="zh-TW" altLang="en-US" sz="2000" dirty="0"/>
                  <a:t>𝒜</a:t>
                </a:r>
                <a:r>
                  <a:rPr lang="en-US" altLang="zh-TW" sz="2000" dirty="0"/>
                  <a:t>.</a:t>
                </a:r>
                <a:endParaRPr lang="en-US" altLang="zh-TW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A64B47D-AAFD-44B7-9F0B-5A7CA3AD15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50966" y="1898867"/>
                <a:ext cx="10281200" cy="4346400"/>
              </a:xfrm>
              <a:blipFill>
                <a:blip r:embed="rId2"/>
                <a:stretch>
                  <a:fillRect r="-11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9649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C9572-47FB-B007-1031-775777C1E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2FD7FA9A-33AC-A8A1-A863-7F9589F14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Game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7A021AA-D05C-95B0-4B7B-33734F9C7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0966" y="1898867"/>
            <a:ext cx="10281200" cy="4346400"/>
          </a:xfrm>
        </p:spPr>
        <p:txBody>
          <a:bodyPr/>
          <a:lstStyle/>
          <a:p>
            <a:pPr marL="1253047" lvl="1" indent="-457200">
              <a:buSzPct val="100000"/>
              <a:buFont typeface="+mj-lt"/>
              <a:buAutoNum type="arabicPeriod" startAt="3"/>
            </a:pPr>
            <a:r>
              <a:rPr lang="en-US" altLang="zh-TW" sz="20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lvl="2"/>
            <a:r>
              <a:rPr lang="en-US" altLang="zh-TW" sz="20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adversary cannot perform a key query on the ID used in the encrypted query. Otherwise, the adversary could simply decrypt the data using the private key and easily win the game.</a:t>
            </a:r>
          </a:p>
          <a:p>
            <a:pPr marL="1253047" lvl="1" indent="-457200">
              <a:buSzPct val="100000"/>
              <a:buFont typeface="+mj-lt"/>
              <a:buAutoNum type="arabicPeriod" startAt="3"/>
            </a:pPr>
            <a:r>
              <a:rPr lang="en-US" altLang="zh-TW" sz="20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Guess: Eventually, the adversary outputs a bit b' as its guess about b.</a:t>
            </a:r>
          </a:p>
          <a:p>
            <a:pPr marL="186262" indent="0">
              <a:buNone/>
            </a:pPr>
            <a:endParaRPr lang="en-US" altLang="zh-TW" sz="20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129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9829A-554A-14F3-C65B-3ACB6B51B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F5A111C-2AB7-32DB-168E-3319E6782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Game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C3A0014E-385C-D24D-826C-09327B7ECAF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950966" y="1898867"/>
                <a:ext cx="10281200" cy="4346400"/>
              </a:xfrm>
            </p:spPr>
            <p:txBody>
              <a:bodyPr/>
              <a:lstStyle/>
              <a:p>
                <a:r>
                  <a:rPr lang="en-US" altLang="zh-TW" sz="2000" dirty="0">
                    <a:solidFill>
                      <a:schemeClr val="bg1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 of the Adversary's Advantage:</a:t>
                </a:r>
              </a:p>
              <a:p>
                <a:pPr lvl="1"/>
                <a:r>
                  <a:rPr lang="en-US" altLang="zh-TW" sz="2000" dirty="0">
                    <a:solidFill>
                      <a:schemeClr val="bg1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sz="2000" i="1" dirty="0" smtClean="0">
                            <a:solidFill>
                              <a:schemeClr val="bg1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TW" sz="2000" dirty="0">
                    <a:solidFill>
                      <a:schemeClr val="bg1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the event where the adversary outputs 1 in Experiment b. The adversary's advantage </a:t>
                </a:r>
                <a:r>
                  <a:rPr lang="zh-TW" altLang="en-US" sz="2000" dirty="0">
                    <a:solidFill>
                      <a:schemeClr val="bg1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𝒜 </a:t>
                </a:r>
                <a:r>
                  <a:rPr lang="en-US" altLang="zh-TW" sz="2000" dirty="0">
                    <a:solidFill>
                      <a:schemeClr val="bg1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defined as:</a:t>
                </a:r>
              </a:p>
              <a:p>
                <a:pPr marL="795847" lvl="1" indent="0">
                  <a:buNone/>
                </a:pPr>
                <a:endParaRPr lang="en-US" altLang="zh-TW" sz="2000" dirty="0">
                  <a:solidFill>
                    <a:schemeClr val="bg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9584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 smtClean="0">
                          <a:solidFill>
                            <a:schemeClr val="bg1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𝑆𝑆𝑎𝑑𝑣</m:t>
                      </m:r>
                      <m:r>
                        <a:rPr lang="en-US" altLang="zh-TW" sz="2000" i="1" dirty="0">
                          <a:solidFill>
                            <a:schemeClr val="bg1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[</m:t>
                      </m:r>
                      <m:r>
                        <a:rPr lang="zh-TW" altLang="en-US" sz="2000" i="1" dirty="0">
                          <a:solidFill>
                            <a:schemeClr val="bg1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𝒜</m:t>
                      </m:r>
                      <m:r>
                        <a:rPr lang="en-US" altLang="zh-TW" sz="2000" i="1" dirty="0">
                          <a:solidFill>
                            <a:schemeClr val="bg1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sz="2000" b="0" i="1" dirty="0" smtClean="0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ℰ</m:t>
                          </m:r>
                        </m:e>
                        <m:sub>
                          <m:r>
                            <a:rPr lang="en-US" altLang="zh-TW" sz="2000" i="1" dirty="0" err="1">
                              <a:solidFill>
                                <a:schemeClr val="bg1">
                                  <a:lumMod val="10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𝑖𝑑</m:t>
                          </m:r>
                        </m:sub>
                      </m:sSub>
                      <m:r>
                        <a:rPr lang="en-US" altLang="zh-TW" sz="2000" i="1" dirty="0">
                          <a:solidFill>
                            <a:schemeClr val="bg1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 = | </m:t>
                      </m:r>
                      <m:r>
                        <a:rPr lang="en-US" altLang="zh-TW" sz="2000" i="1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𝑃𝑟</m:t>
                      </m:r>
                      <m:r>
                        <a:rPr lang="en-US" altLang="zh-TW" sz="2000" i="1" dirty="0">
                          <a:solidFill>
                            <a:schemeClr val="bg1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⁡[</m:t>
                      </m:r>
                      <m:r>
                        <a:rPr lang="en-US" altLang="zh-TW" sz="2000" i="1" dirty="0">
                          <a:solidFill>
                            <a:schemeClr val="bg1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𝑊</m:t>
                      </m:r>
                      <m:r>
                        <a:rPr lang="en-US" altLang="zh-TW" sz="2000" i="1" dirty="0">
                          <a:solidFill>
                            <a:schemeClr val="bg1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₀] − </m:t>
                      </m:r>
                      <m:r>
                        <a:rPr lang="en-US" altLang="zh-TW" sz="2000" i="1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𝑃𝑟</m:t>
                      </m:r>
                      <m:r>
                        <a:rPr lang="en-US" altLang="zh-TW" sz="2000" i="1" dirty="0">
                          <a:solidFill>
                            <a:schemeClr val="bg1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⁡[</m:t>
                      </m:r>
                      <m:r>
                        <a:rPr lang="en-US" altLang="zh-TW" sz="2000" i="1" dirty="0">
                          <a:solidFill>
                            <a:schemeClr val="bg1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𝑊</m:t>
                      </m:r>
                      <m:r>
                        <a:rPr lang="en-US" altLang="zh-TW" sz="2000" i="1" dirty="0">
                          <a:solidFill>
                            <a:schemeClr val="bg1">
                              <a:lumMod val="10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₁] |</m:t>
                      </m:r>
                    </m:oMath>
                  </m:oMathPara>
                </a14:m>
                <a:endParaRPr lang="en-US" altLang="zh-TW" sz="2000" dirty="0">
                  <a:solidFill>
                    <a:schemeClr val="bg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000" dirty="0">
                    <a:solidFill>
                      <a:schemeClr val="bg1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adaptively secure IBE</a:t>
                </a:r>
              </a:p>
              <a:p>
                <a:pPr lvl="1"/>
                <a:r>
                  <a:rPr lang="en-US" altLang="zh-TW" sz="2000" dirty="0">
                    <a:solidFill>
                      <a:schemeClr val="bg1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because the adversary can </a:t>
                </a:r>
                <a:r>
                  <a:rPr lang="en-US" altLang="zh-TW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choose</a:t>
                </a:r>
                <a:r>
                  <a:rPr lang="en-US" altLang="zh-TW" sz="2000" dirty="0">
                    <a:solidFill>
                      <a:schemeClr val="bg1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challenge identity id </a:t>
                </a:r>
                <a:r>
                  <a:rPr lang="en-US" altLang="zh-TW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adaptively</a:t>
                </a:r>
                <a:r>
                  <a:rPr lang="en-US" altLang="zh-TW" sz="2000" dirty="0">
                    <a:solidFill>
                      <a:schemeClr val="bg1">
                        <a:lumMod val="1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after seeing many secret keys of its choice.</a:t>
                </a: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C3A0014E-385C-D24D-826C-09327B7ECA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50966" y="1898867"/>
                <a:ext cx="10281200" cy="43464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403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E8F0DA0-8F94-47A0-9687-46DE968A0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Related security notions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A64B47D-AAFD-44B7-9F0B-5A7CA3AD1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defining basic semantic security (adaptive security), the document introduces three important related security concepts:</a:t>
            </a:r>
          </a:p>
          <a:p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(IBE)</a:t>
            </a:r>
          </a:p>
          <a:p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Security (IBE)</a:t>
            </a:r>
          </a:p>
          <a:p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Ciphertext Security (IBE)</a:t>
            </a:r>
          </a:p>
        </p:txBody>
      </p:sp>
    </p:spTree>
    <p:extLst>
      <p:ext uri="{BB962C8B-B14F-4D97-AF65-F5344CB8AC3E}">
        <p14:creationId xmlns:p14="http://schemas.microsoft.com/office/powerpoint/2010/main" val="2579934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A06D3-8F85-CED2-8534-BD127806F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05D4251-0255-8AE2-373A-844A5BA08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Related security notions</a:t>
            </a:r>
            <a:r>
              <a:rPr lang="zh-TW" altLang="en-US" dirty="0"/>
              <a:t>──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(IBE)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9EB5C1D6-CF65-B8EF-8B02-F8A09EE8332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164" y="1678914"/>
                <a:ext cx="11027673" cy="4471453"/>
              </a:xfrm>
            </p:spPr>
            <p:txBody>
              <a:bodyPr/>
              <a:lstStyle/>
              <a:p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Difference from Basic Security</a:t>
                </a:r>
              </a:p>
              <a:p>
                <a:pPr lvl="1"/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Basic IBE security: Only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←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𝑚𝑝𝑘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𝑖𝑑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is guaranteed not to reveal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.</a:t>
                </a:r>
              </a:p>
              <a:p>
                <a:pPr lvl="1"/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Private IBE: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←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𝑚𝑝𝑘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𝑖𝑑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is guaranteed not to reveal either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TW" sz="2000" dirty="0">
                    <a:solidFill>
                      <a:srgbClr val="FF0000"/>
                    </a:solidFill>
                    <a:latin typeface="+mj-lt"/>
                    <a:cs typeface="Times New Roman" panose="02020603050405020304" pitchFamily="18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𝑖𝑑</m:t>
                    </m:r>
                  </m:oMath>
                </a14:m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Attack Game : Safe Game Modifications</a:t>
                </a:r>
              </a:p>
              <a:p>
                <a:pPr lvl="1" indent="-216000"/>
                <a:r>
                  <a:rPr lang="en-US" altLang="zh-TW" sz="2000" b="1" dirty="0">
                    <a:latin typeface="+mj-lt"/>
                    <a:cs typeface="Times New Roman" panose="02020603050405020304" pitchFamily="18" charset="0"/>
                  </a:rPr>
                  <a:t>Origin : </a:t>
                </a:r>
              </a:p>
              <a:p>
                <a:pPr lvl="2" indent="-216000">
                  <a:spcBef>
                    <a:spcPts val="0"/>
                  </a:spcBef>
                </a:pPr>
                <a:r>
                  <a:rPr lang="en-US" altLang="zh-TW" sz="2000" dirty="0">
                    <a:latin typeface="+mj-lt"/>
                  </a:rPr>
                  <a:t>Encrypted query: </a:t>
                </a:r>
                <a:r>
                  <a:rPr lang="zh-TW" altLang="en-US" sz="2000" dirty="0">
                    <a:latin typeface="+mj-lt"/>
                  </a:rPr>
                  <a:t>𝒜 </a:t>
                </a:r>
                <a:r>
                  <a:rPr lang="en-US" altLang="zh-TW" sz="2000" dirty="0">
                    <a:latin typeface="+mj-lt"/>
                  </a:rPr>
                  <a:t>submits a triple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𝑖𝑑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TW" sz="2000" dirty="0">
                    <a:latin typeface="+mj-lt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+mj-lt"/>
                  </a:rPr>
                  <a:t>are messages of equal length. The challenger computes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err="1">
                            <a:latin typeface="Cambria Math" panose="02040503050406030204" pitchFamily="18" charset="0"/>
                          </a:rPr>
                          <m:t>𝑚𝑝𝑘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𝑖𝑑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 err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sz="2000" i="1" dirty="0" err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000" dirty="0">
                    <a:latin typeface="+mj-lt"/>
                  </a:rPr>
                  <a:t> and sends c to </a:t>
                </a:r>
                <a:r>
                  <a:rPr lang="zh-TW" altLang="en-US" sz="2000" dirty="0">
                    <a:latin typeface="+mj-lt"/>
                  </a:rPr>
                  <a:t>𝒜</a:t>
                </a:r>
                <a:r>
                  <a:rPr lang="en-US" altLang="zh-TW" sz="2000" dirty="0">
                    <a:latin typeface="+mj-lt"/>
                  </a:rPr>
                  <a:t>.</a:t>
                </a:r>
              </a:p>
              <a:p>
                <a:pPr lvl="1" indent="-216000"/>
                <a:r>
                  <a:rPr lang="en-US" altLang="zh-TW" sz="2000" b="1" dirty="0">
                    <a:solidFill>
                      <a:schemeClr val="bg1">
                        <a:lumMod val="10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Modification :</a:t>
                </a:r>
              </a:p>
              <a:p>
                <a:pPr lvl="2" indent="-216000">
                  <a:spcBef>
                    <a:spcPts val="0"/>
                  </a:spcBef>
                </a:pPr>
                <a:r>
                  <a:rPr lang="en-US" altLang="zh-TW" sz="2000" dirty="0">
                    <a:latin typeface="+mj-lt"/>
                  </a:rPr>
                  <a:t>Encrypted query: </a:t>
                </a:r>
                <a:r>
                  <a:rPr lang="zh-TW" altLang="en-US" sz="2000" dirty="0">
                    <a:latin typeface="+mj-lt"/>
                  </a:rPr>
                  <a:t>𝒜 </a:t>
                </a:r>
                <a:r>
                  <a:rPr lang="en-US" altLang="zh-TW" sz="2000" dirty="0">
                    <a:latin typeface="+mj-lt"/>
                  </a:rPr>
                  <a:t>submits </a:t>
                </a:r>
                <a:r>
                  <a:rPr lang="en-US" altLang="zh-TW" sz="2000" dirty="0">
                    <a:solidFill>
                      <a:srgbClr val="FF0000"/>
                    </a:solidFill>
                    <a:latin typeface="+mj-lt"/>
                  </a:rPr>
                  <a:t>two pair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altLang="zh-TW" sz="20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TW" sz="20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TW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altLang="zh-TW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TW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altLang="zh-TW" sz="20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TW" sz="20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sz="20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TW" sz="2000" dirty="0">
                    <a:latin typeface="+mj-lt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+mj-lt"/>
                  </a:rPr>
                  <a:t>are messages of equal </a:t>
                </a:r>
                <a:r>
                  <a:rPr lang="en-US" altLang="zh-TW" sz="2000" dirty="0" err="1">
                    <a:latin typeface="+mj-lt"/>
                  </a:rPr>
                  <a:t>length.The</a:t>
                </a:r>
                <a:r>
                  <a:rPr lang="en-US" altLang="zh-TW" sz="2000" dirty="0">
                    <a:latin typeface="+mj-lt"/>
                  </a:rPr>
                  <a:t> challenger computes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err="1">
                            <a:latin typeface="Cambria Math" panose="02040503050406030204" pitchFamily="18" charset="0"/>
                          </a:rPr>
                          <m:t>𝑚𝑝𝑘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 err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sz="2000" i="1" dirty="0" err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000" dirty="0">
                    <a:latin typeface="+mj-lt"/>
                  </a:rPr>
                  <a:t> and sends c to </a:t>
                </a:r>
                <a:r>
                  <a:rPr lang="zh-TW" altLang="en-US" sz="2000" dirty="0">
                    <a:latin typeface="+mj-lt"/>
                  </a:rPr>
                  <a:t>𝒜</a:t>
                </a:r>
                <a:r>
                  <a:rPr lang="en-US" altLang="zh-TW" sz="2000" dirty="0">
                    <a:latin typeface="+mj-lt"/>
                  </a:rPr>
                  <a:t>.</a:t>
                </a:r>
              </a:p>
              <a:p>
                <a:pPr lvl="1" indent="-216000"/>
                <a:r>
                  <a:rPr lang="en-US" altLang="zh-TW" sz="2000" dirty="0">
                    <a:solidFill>
                      <a:schemeClr val="bg1">
                        <a:lumMod val="10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Security goal: The adversary cannot distinguish whether c is encrypting (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TW" sz="2000" i="1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₀</m:t>
                    </m:r>
                    <m:r>
                      <a:rPr lang="en-US" altLang="zh-TW" sz="2000" b="0" i="0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000" i="1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𝑖𝑑</m:t>
                    </m:r>
                    <m:r>
                      <a:rPr lang="en-US" altLang="zh-TW" sz="2000" i="1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₀</m:t>
                    </m:r>
                    <m:r>
                      <a:rPr lang="en-US" altLang="zh-TW" sz="2000" i="1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altLang="zh-TW" sz="2000" dirty="0">
                    <a:solidFill>
                      <a:schemeClr val="bg1">
                        <a:lumMod val="10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or </a:t>
                </a:r>
                <a14:m>
                  <m:oMath xmlns:m="http://schemas.openxmlformats.org/officeDocument/2006/math">
                    <m:r>
                      <a:rPr lang="en-US" altLang="zh-TW" sz="2000" b="0" i="0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000" i="1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TW" sz="2000" i="1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₁</m:t>
                    </m:r>
                    <m:r>
                      <a:rPr lang="en-US" altLang="zh-TW" sz="2000" b="0" i="0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TW" sz="2000" i="1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𝑖𝑑</m:t>
                    </m:r>
                    <m:r>
                      <a:rPr lang="en-US" altLang="zh-TW" sz="2000" i="1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₁</m:t>
                    </m:r>
                    <m:r>
                      <a:rPr lang="en-US" altLang="zh-TW" sz="2000" i="1" dirty="0" smtClean="0">
                        <a:solidFill>
                          <a:schemeClr val="bg1">
                            <a:lumMod val="10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000" dirty="0">
                  <a:solidFill>
                    <a:schemeClr val="bg1">
                      <a:lumMod val="10000"/>
                    </a:schemeClr>
                  </a:solidFill>
                  <a:latin typeface="+mj-lt"/>
                  <a:cs typeface="Times New Roman" panose="02020603050405020304" pitchFamily="18" charset="0"/>
                </a:endParaRPr>
              </a:p>
              <a:p>
                <a:pPr lvl="1"/>
                <a:endParaRPr lang="en-US" altLang="zh-TW" sz="2000" dirty="0">
                  <a:solidFill>
                    <a:schemeClr val="bg1">
                      <a:lumMod val="1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9EB5C1D6-CF65-B8EF-8B02-F8A09EE833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164" y="1678914"/>
                <a:ext cx="11027673" cy="4471453"/>
              </a:xfrm>
              <a:blipFill>
                <a:blip r:embed="rId3"/>
                <a:stretch>
                  <a:fillRect r="-8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57608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47BAB-EFDC-9811-93F9-F0DA722E1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4CDE9CF-74DA-A398-5D87-381C71F63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66" y="707633"/>
            <a:ext cx="11027673" cy="704800"/>
          </a:xfrm>
        </p:spPr>
        <p:txBody>
          <a:bodyPr/>
          <a:lstStyle/>
          <a:p>
            <a:r>
              <a:rPr lang="en-US" altLang="zh-TW" dirty="0"/>
              <a:t>Related security notions</a:t>
            </a:r>
            <a:r>
              <a:rPr lang="zh-TW" altLang="en-US" dirty="0"/>
              <a:t>──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Security (IBE)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DB93EB8F-76F6-C0E7-820E-A7B31310DDC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163" y="1763975"/>
                <a:ext cx="11027673" cy="4471453"/>
              </a:xfrm>
            </p:spPr>
            <p:txBody>
              <a:bodyPr/>
              <a:lstStyle/>
              <a:p>
                <a:r>
                  <a:rPr lang="en-US" altLang="zh-TW" b="1" dirty="0">
                    <a:latin typeface="+mj-lt"/>
                  </a:rPr>
                  <a:t>Core Concept: Weakened Adversary Model</a:t>
                </a:r>
              </a:p>
              <a:p>
                <a:pPr lvl="1"/>
                <a:r>
                  <a:rPr lang="en-US" altLang="zh-TW" dirty="0">
                    <a:latin typeface="+mj-lt"/>
                  </a:rPr>
                  <a:t>In selective security, the adversary must commit to the challenge identity id* to attack before seeing the </a:t>
                </a:r>
                <a:r>
                  <a:rPr lang="en-US" altLang="zh-TW" dirty="0" err="1">
                    <a:latin typeface="+mj-lt"/>
                  </a:rPr>
                  <a:t>mpk</a:t>
                </a:r>
                <a:r>
                  <a:rPr lang="en-US" altLang="zh-TW" dirty="0">
                    <a:latin typeface="+mj-lt"/>
                  </a:rPr>
                  <a:t>.</a:t>
                </a:r>
              </a:p>
              <a:p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Attack Game : Weakened Game Modifications</a:t>
                </a:r>
              </a:p>
              <a:p>
                <a:pPr lvl="1" indent="-216000"/>
                <a:r>
                  <a:rPr lang="en-US" altLang="zh-TW" sz="2000" dirty="0">
                    <a:solidFill>
                      <a:schemeClr val="bg1">
                        <a:lumMod val="10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Given id* (attack target)</a:t>
                </a:r>
              </a:p>
              <a:p>
                <a:pPr lvl="1" indent="-216000"/>
                <a:r>
                  <a:rPr lang="en-US" altLang="zh-TW" sz="2000" dirty="0">
                    <a:latin typeface="+mj-lt"/>
                  </a:rPr>
                  <a:t>Encrypted query: </a:t>
                </a:r>
                <a:r>
                  <a:rPr lang="zh-TW" altLang="en-US" sz="2000" dirty="0">
                    <a:latin typeface="+mj-lt"/>
                  </a:rPr>
                  <a:t>𝒜 </a:t>
                </a:r>
                <a:r>
                  <a:rPr lang="en-US" altLang="zh-TW" sz="2000" dirty="0">
                    <a:latin typeface="+mj-lt"/>
                  </a:rPr>
                  <a:t>submits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US" altLang="zh-TW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TW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∗,</m:t>
                        </m:r>
                        <m:sSub>
                          <m:sSubPr>
                            <m:ctrlPr>
                              <a:rPr lang="en-US" altLang="zh-TW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sz="20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sz="2000" b="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TW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zh-TW" sz="2000" dirty="0">
                    <a:latin typeface="+mj-lt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+mj-lt"/>
                  </a:rPr>
                  <a:t>are messages of equal </a:t>
                </a:r>
                <a:r>
                  <a:rPr lang="en-US" altLang="zh-TW" sz="2000" dirty="0" err="1">
                    <a:latin typeface="+mj-lt"/>
                  </a:rPr>
                  <a:t>length.The</a:t>
                </a:r>
                <a:r>
                  <a:rPr lang="en-US" altLang="zh-TW" sz="2000" dirty="0">
                    <a:latin typeface="+mj-lt"/>
                  </a:rPr>
                  <a:t> challenger computes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err="1">
                            <a:latin typeface="Cambria Math" panose="02040503050406030204" pitchFamily="18" charset="0"/>
                          </a:rPr>
                          <m:t>𝑚𝑝𝑘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∗,</m:t>
                        </m:r>
                        <m:sSub>
                          <m:sSubPr>
                            <m:ctrlPr>
                              <a:rPr lang="en-US" altLang="zh-TW" sz="20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 err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sz="2000" i="1" dirty="0" err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000" dirty="0">
                    <a:latin typeface="+mj-lt"/>
                  </a:rPr>
                  <a:t> and sends c to </a:t>
                </a:r>
                <a:r>
                  <a:rPr lang="zh-TW" altLang="en-US" sz="2000" dirty="0">
                    <a:latin typeface="+mj-lt"/>
                  </a:rPr>
                  <a:t>𝒜</a:t>
                </a:r>
                <a:r>
                  <a:rPr lang="en-US" altLang="zh-TW" sz="2000" dirty="0">
                    <a:latin typeface="+mj-lt"/>
                  </a:rPr>
                  <a:t>.</a:t>
                </a:r>
              </a:p>
              <a:p>
                <a:r>
                  <a:rPr lang="en-US" altLang="zh-TW" sz="2000" dirty="0">
                    <a:solidFill>
                      <a:schemeClr val="bg1">
                        <a:lumMod val="10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Why is selective security important?</a:t>
                </a:r>
              </a:p>
              <a:p>
                <a:pPr lvl="1"/>
                <a:r>
                  <a:rPr lang="en-US" altLang="zh-TW" sz="2000" dirty="0">
                    <a:solidFill>
                      <a:schemeClr val="bg1">
                        <a:lumMod val="10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In the standard model (without random oracles), constructing selectively secure IBEs is much </a:t>
                </a:r>
                <a:r>
                  <a:rPr lang="en-US" altLang="zh-TW" sz="2000" dirty="0">
                    <a:solidFill>
                      <a:srgbClr val="FF0000"/>
                    </a:solidFill>
                    <a:latin typeface="+mj-lt"/>
                    <a:cs typeface="Times New Roman" panose="02020603050405020304" pitchFamily="18" charset="0"/>
                  </a:rPr>
                  <a:t>easier</a:t>
                </a:r>
                <a:r>
                  <a:rPr lang="en-US" altLang="zh-TW" sz="2000" dirty="0">
                    <a:solidFill>
                      <a:schemeClr val="bg1">
                        <a:lumMod val="10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 than constructing adaptively secure IBEs.</a:t>
                </a:r>
              </a:p>
              <a:p>
                <a:pPr lvl="1"/>
                <a:r>
                  <a:rPr lang="en-US" altLang="zh-TW" sz="2000" dirty="0">
                    <a:solidFill>
                      <a:schemeClr val="bg1">
                        <a:lumMod val="10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Many fundamental IBE constructions (such as the </a:t>
                </a:r>
                <a:r>
                  <a:rPr lang="en-US" altLang="zh-TW" sz="2000" dirty="0" err="1">
                    <a:solidFill>
                      <a:schemeClr val="bg1">
                        <a:lumMod val="10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Boneh-Boyen</a:t>
                </a:r>
                <a:r>
                  <a:rPr lang="en-US" altLang="zh-TW" sz="2000" dirty="0">
                    <a:solidFill>
                      <a:schemeClr val="bg1">
                        <a:lumMod val="10000"/>
                      </a:schemeClr>
                    </a:solidFill>
                    <a:latin typeface="+mj-lt"/>
                    <a:cs typeface="Times New Roman" panose="02020603050405020304" pitchFamily="18" charset="0"/>
                  </a:rPr>
                  <a:t> scheme) were originally proven in the selectively secure model.</a:t>
                </a:r>
              </a:p>
              <a:p>
                <a:pPr lvl="1"/>
                <a:endParaRPr lang="en-US" altLang="zh-TW" sz="2000" dirty="0">
                  <a:latin typeface="+mj-lt"/>
                  <a:cs typeface="Times New Roman" panose="02020603050405020304" pitchFamily="18" charset="0"/>
                </a:endParaRPr>
              </a:p>
              <a:p>
                <a:pPr lvl="1"/>
                <a:endParaRPr lang="en-US" altLang="zh-TW" sz="2000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DB93EB8F-76F6-C0E7-820E-A7B31310DD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163" y="1763975"/>
                <a:ext cx="11027673" cy="4471453"/>
              </a:xfrm>
              <a:blipFill>
                <a:blip r:embed="rId3"/>
                <a:stretch>
                  <a:fillRect r="-88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0248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0EAA1-7B4B-7948-0587-BE0C98636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5E06B7B-9E52-0F29-9C32-61CAAFA41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66" y="707633"/>
            <a:ext cx="10804153" cy="704800"/>
          </a:xfrm>
        </p:spPr>
        <p:txBody>
          <a:bodyPr/>
          <a:lstStyle/>
          <a:p>
            <a:r>
              <a:rPr lang="en-US" altLang="zh-TW" dirty="0"/>
              <a:t>Related security notions</a:t>
            </a:r>
            <a:r>
              <a:rPr lang="zh-TW" altLang="en-US" dirty="0"/>
              <a:t>──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Security (IBE)</a:t>
            </a:r>
            <a:b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8305F4B-C632-3DD0-9092-F3A8E7899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4" y="1678914"/>
            <a:ext cx="11027673" cy="4471453"/>
          </a:xfrm>
        </p:spPr>
        <p:txBody>
          <a:bodyPr/>
          <a:lstStyle/>
          <a:p>
            <a:r>
              <a:rPr lang="en-US" altLang="zh-TW" sz="2000" dirty="0">
                <a:latin typeface="+mj-lt"/>
                <a:cs typeface="Times New Roman" panose="02020603050405020304" pitchFamily="18" charset="0"/>
              </a:rPr>
              <a:t>Transitioning to Adaptive Security</a:t>
            </a:r>
          </a:p>
          <a:p>
            <a:pPr lvl="1"/>
            <a:r>
              <a:rPr lang="en-US" altLang="zh-TW" sz="2000" dirty="0">
                <a:latin typeface="+mj-lt"/>
                <a:cs typeface="Times New Roman" panose="02020603050405020304" pitchFamily="18" charset="0"/>
              </a:rPr>
              <a:t>Using a hash function H: </a:t>
            </a:r>
            <a:r>
              <a:rPr lang="zh-TW" altLang="en-US" sz="2000" dirty="0">
                <a:latin typeface="+mj-lt"/>
                <a:cs typeface="Times New Roman" panose="02020603050405020304" pitchFamily="18" charset="0"/>
              </a:rPr>
              <a:t>𝒟</a:t>
            </a:r>
            <a:r>
              <a:rPr lang="en-US" altLang="zh-TW" sz="2000" dirty="0">
                <a:latin typeface="+mj-lt"/>
                <a:cs typeface="Times New Roman" panose="02020603050405020304" pitchFamily="18" charset="0"/>
              </a:rPr>
              <a:t>′ → </a:t>
            </a:r>
            <a:r>
              <a:rPr lang="zh-TW" altLang="en-US" sz="2000" dirty="0">
                <a:latin typeface="+mj-lt"/>
                <a:cs typeface="Times New Roman" panose="02020603050405020304" pitchFamily="18" charset="0"/>
              </a:rPr>
              <a:t>𝒟</a:t>
            </a:r>
            <a:r>
              <a:rPr lang="en-US" altLang="zh-TW" sz="2000" dirty="0">
                <a:latin typeface="+mj-lt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altLang="zh-TW" sz="2000" dirty="0">
                <a:latin typeface="+mj-lt"/>
                <a:cs typeface="Times New Roman" panose="02020603050405020304" pitchFamily="18" charset="0"/>
              </a:rPr>
              <a:t>G′(</a:t>
            </a:r>
            <a:r>
              <a:rPr lang="en-US" altLang="zh-TW" sz="2000" dirty="0" err="1">
                <a:latin typeface="+mj-lt"/>
                <a:cs typeface="Times New Roman" panose="02020603050405020304" pitchFamily="18" charset="0"/>
              </a:rPr>
              <a:t>msk</a:t>
            </a:r>
            <a:r>
              <a:rPr lang="en-US" altLang="zh-TW" sz="2000" dirty="0">
                <a:latin typeface="+mj-lt"/>
                <a:cs typeface="Times New Roman" panose="02020603050405020304" pitchFamily="18" charset="0"/>
              </a:rPr>
              <a:t>, id) = G(</a:t>
            </a:r>
            <a:r>
              <a:rPr lang="en-US" altLang="zh-TW" sz="2000" dirty="0" err="1">
                <a:latin typeface="+mj-lt"/>
                <a:cs typeface="Times New Roman" panose="02020603050405020304" pitchFamily="18" charset="0"/>
              </a:rPr>
              <a:t>msk</a:t>
            </a:r>
            <a:r>
              <a:rPr lang="en-US" altLang="zh-TW" sz="2000" dirty="0">
                <a:latin typeface="+mj-lt"/>
                <a:cs typeface="Times New Roman" panose="02020603050405020304" pitchFamily="18" charset="0"/>
              </a:rPr>
              <a:t>, H(id))</a:t>
            </a:r>
          </a:p>
          <a:p>
            <a:pPr lvl="1"/>
            <a:r>
              <a:rPr lang="en-US" altLang="zh-TW" sz="2000" dirty="0">
                <a:latin typeface="+mj-lt"/>
                <a:cs typeface="Times New Roman" panose="02020603050405020304" pitchFamily="18" charset="0"/>
              </a:rPr>
              <a:t>E′(</a:t>
            </a:r>
            <a:r>
              <a:rPr lang="en-US" altLang="zh-TW" sz="2000" dirty="0" err="1">
                <a:latin typeface="+mj-lt"/>
                <a:cs typeface="Times New Roman" panose="02020603050405020304" pitchFamily="18" charset="0"/>
              </a:rPr>
              <a:t>mpk</a:t>
            </a:r>
            <a:r>
              <a:rPr lang="en-US" altLang="zh-TW" sz="2000" dirty="0">
                <a:latin typeface="+mj-lt"/>
                <a:cs typeface="Times New Roman" panose="02020603050405020304" pitchFamily="18" charset="0"/>
              </a:rPr>
              <a:t>, id, m) = E(</a:t>
            </a:r>
            <a:r>
              <a:rPr lang="en-US" altLang="zh-TW" sz="2000" dirty="0" err="1">
                <a:latin typeface="+mj-lt"/>
                <a:cs typeface="Times New Roman" panose="02020603050405020304" pitchFamily="18" charset="0"/>
              </a:rPr>
              <a:t>mpk</a:t>
            </a:r>
            <a:r>
              <a:rPr lang="en-US" altLang="zh-TW" sz="2000" dirty="0">
                <a:latin typeface="+mj-lt"/>
                <a:cs typeface="Times New Roman" panose="02020603050405020304" pitchFamily="18" charset="0"/>
              </a:rPr>
              <a:t>, H(id), m)</a:t>
            </a:r>
          </a:p>
          <a:p>
            <a:pPr lvl="1"/>
            <a:r>
              <a:rPr lang="en-US" altLang="zh-TW" sz="2000" dirty="0">
                <a:latin typeface="+mj-lt"/>
                <a:cs typeface="Times New Roman" panose="02020603050405020304" pitchFamily="18" charset="0"/>
              </a:rPr>
              <a:t>This maps the identity space from </a:t>
            </a:r>
            <a:r>
              <a:rPr lang="zh-TW" altLang="en-US" sz="2000" dirty="0">
                <a:latin typeface="+mj-lt"/>
                <a:cs typeface="Times New Roman" panose="02020603050405020304" pitchFamily="18" charset="0"/>
              </a:rPr>
              <a:t>𝒟</a:t>
            </a:r>
            <a:r>
              <a:rPr lang="en-US" altLang="zh-TW" sz="2000" dirty="0">
                <a:latin typeface="+mj-lt"/>
                <a:cs typeface="Times New Roman" panose="02020603050405020304" pitchFamily="18" charset="0"/>
              </a:rPr>
              <a:t>′ to </a:t>
            </a:r>
            <a:r>
              <a:rPr lang="zh-TW" altLang="en-US" sz="2000" dirty="0">
                <a:latin typeface="+mj-lt"/>
                <a:cs typeface="Times New Roman" panose="02020603050405020304" pitchFamily="18" charset="0"/>
              </a:rPr>
              <a:t>𝒟</a:t>
            </a:r>
            <a:r>
              <a:rPr lang="en-US" altLang="zh-TW" sz="2000" dirty="0">
                <a:latin typeface="+mj-lt"/>
                <a:cs typeface="Times New Roman" panose="02020603050405020304" pitchFamily="18" charset="0"/>
              </a:rPr>
              <a:t>, achieving adaptive security in the random oracle model.</a:t>
            </a:r>
          </a:p>
          <a:p>
            <a:pPr lvl="1"/>
            <a:endParaRPr lang="en-US" altLang="zh-TW" sz="2000" dirty="0">
              <a:latin typeface="+mj-lt"/>
              <a:cs typeface="Times New Roman" panose="02020603050405020304" pitchFamily="18" charset="0"/>
            </a:endParaRPr>
          </a:p>
          <a:p>
            <a:pPr lvl="1"/>
            <a:endParaRPr lang="en-US" altLang="zh-TW" sz="20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479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36D28-9F8C-CB63-817C-E870DE58D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D25A353-F504-BC37-B021-DF9C82D3A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66" y="707633"/>
            <a:ext cx="10804153" cy="704800"/>
          </a:xfrm>
        </p:spPr>
        <p:txBody>
          <a:bodyPr/>
          <a:lstStyle/>
          <a:p>
            <a:r>
              <a:rPr lang="en-US" altLang="zh-TW" dirty="0"/>
              <a:t>Related security notions</a:t>
            </a:r>
            <a:r>
              <a:rPr lang="zh-TW" altLang="en-US" dirty="0"/>
              <a:t>──</a:t>
            </a:r>
            <a:r>
              <a:rPr lang="en-US" altLang="zh-TW" dirty="0"/>
              <a:t>Chosen-ciphertext secure IBE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28D79997-14FD-DB6C-AC58-445B49C79EB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164" y="2113280"/>
                <a:ext cx="11027673" cy="4037087"/>
              </a:xfrm>
            </p:spPr>
            <p:txBody>
              <a:bodyPr/>
              <a:lstStyle/>
              <a:p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Core Concept: Resisting Active Attacks</a:t>
                </a:r>
              </a:p>
              <a:p>
                <a:pPr lvl="1"/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allowing an adversary to perform decryption queries.</a:t>
                </a:r>
              </a:p>
              <a:p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Enhancements for attack gaming</a:t>
                </a:r>
              </a:p>
              <a:p>
                <a:pPr lvl="1"/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Building on the basic security game, the adversary can also:</a:t>
                </a:r>
              </a:p>
              <a:p>
                <a:pPr lvl="1"/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Decryption query: Submit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𝑖𝑑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TW" sz="2000" dirty="0">
                  <a:latin typeface="+mj-lt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The challenger computes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𝑚𝑠𝑘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altLang="zh-TW" sz="2000" i="1" dirty="0" err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 err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2000" i="1" dirty="0" err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US" altLang="zh-TW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d</m:t>
                            </m:r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b>
                        </m:sSub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, and sends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 to the adversary.</a:t>
                </a:r>
              </a:p>
              <a:p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Restrictions: The adversary cannot perform decryption queries on the </a:t>
                </a:r>
                <a:r>
                  <a:rPr lang="en-US" altLang="zh-TW" sz="2000" dirty="0">
                    <a:solidFill>
                      <a:srgbClr val="FF0000"/>
                    </a:solidFill>
                    <a:latin typeface="+mj-lt"/>
                    <a:cs typeface="Times New Roman" panose="02020603050405020304" pitchFamily="18" charset="0"/>
                  </a:rPr>
                  <a:t>challenge ciphertext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𝑖𝑑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∗,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∗) . </m:t>
                    </m:r>
                  </m:oMath>
                </a14:m>
                <a:endParaRPr lang="en-US" altLang="zh-TW" sz="2000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28D79997-14FD-DB6C-AC58-445B49C79E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164" y="2113280"/>
                <a:ext cx="11027673" cy="4037087"/>
              </a:xfrm>
              <a:blipFill>
                <a:blip r:embed="rId3"/>
                <a:stretch>
                  <a:fillRect r="-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9233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E96BB-07CA-C2FA-A6E4-E677602BD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66E4D2F-2D7E-7282-65EC-004959048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966" y="707633"/>
            <a:ext cx="10804153" cy="704800"/>
          </a:xfrm>
        </p:spPr>
        <p:txBody>
          <a:bodyPr/>
          <a:lstStyle/>
          <a:p>
            <a:r>
              <a:rPr lang="en-US" altLang="zh-TW" dirty="0"/>
              <a:t>Identity based encryption from pairings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B183F58F-978D-C4A2-5ACE-008C9DF61B1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163" y="1869440"/>
                <a:ext cx="11027673" cy="4037087"/>
              </a:xfrm>
            </p:spPr>
            <p:txBody>
              <a:bodyPr/>
              <a:lstStyle/>
              <a:p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This section demonstrates how to use bilinear pairings to construct IBE schemes. Two classic constructions are provided:</a:t>
                </a:r>
              </a:p>
              <a:p>
                <a:pPr lvl="1"/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Construction 1: </a:t>
                </a:r>
                <a:r>
                  <a:rPr lang="en-US" altLang="zh-TW" sz="2000" dirty="0" err="1">
                    <a:latin typeface="+mj-lt"/>
                    <a:cs typeface="Times New Roman" panose="02020603050405020304" pitchFamily="18" charset="0"/>
                  </a:rPr>
                  <a:t>Boneh</a:t>
                </a:r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-Franklin IBE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ℰ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𝐵𝐹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)</a:t>
                </a:r>
              </a:p>
              <a:p>
                <a:pPr lvl="1"/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Construction 2: </a:t>
                </a:r>
                <a:r>
                  <a:rPr lang="en-US" altLang="zh-TW" sz="2000" dirty="0" err="1">
                    <a:latin typeface="+mj-lt"/>
                    <a:cs typeface="Times New Roman" panose="02020603050405020304" pitchFamily="18" charset="0"/>
                  </a:rPr>
                  <a:t>Boneh-Boyen</a:t>
                </a:r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 IBE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ℰ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𝐵𝐵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We will need the following components:</a:t>
                </a:r>
              </a:p>
              <a:p>
                <a:pPr lvl="1"/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A pairing: e: </a:t>
                </a:r>
              </a:p>
              <a:p>
                <a:pPr lvl="2">
                  <a:spcBef>
                    <a:spcPts val="0"/>
                  </a:spcBef>
                </a:pPr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are cyclic groups of prime order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endParaRPr lang="en-US" altLang="zh-TW" sz="2000" dirty="0">
                  <a:latin typeface="+mj-lt"/>
                  <a:cs typeface="Times New Roman" panose="02020603050405020304" pitchFamily="18" charset="0"/>
                </a:endParaRPr>
              </a:p>
              <a:p>
                <a:pPr lvl="2">
                  <a:spcBef>
                    <a:spcPts val="0"/>
                  </a:spcBef>
                </a:pPr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Generators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₀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∈ </m:t>
                    </m:r>
                    <m:r>
                      <a:rPr lang="zh-TW" alt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𝔾</m:t>
                    </m:r>
                    <m:r>
                      <a:rPr lang="zh-TW" alt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₀</m:t>
                    </m:r>
                    <m:r>
                      <a:rPr lang="zh-TW" alt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₁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∈ </m:t>
                    </m:r>
                    <m:r>
                      <a:rPr lang="zh-TW" alt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𝔾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₁</m:t>
                    </m:r>
                  </m:oMath>
                </a14:m>
                <a:endParaRPr lang="en-US" altLang="zh-TW" sz="2000" dirty="0">
                  <a:latin typeface="+mj-lt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A symmetric encryption scheme: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ℰ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TW" sz="20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TW" sz="20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, defined in (</a:t>
                </a:r>
                <a:r>
                  <a:rPr lang="zh-TW" altLang="en-US" sz="2000" dirty="0">
                    <a:latin typeface="+mj-lt"/>
                    <a:cs typeface="Times New Roman" panose="02020603050405020304" pitchFamily="18" charset="0"/>
                  </a:rPr>
                  <a:t>𝒦</a:t>
                </a:r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, ℳ, </a:t>
                </a:r>
                <a:r>
                  <a:rPr lang="zh-TW" altLang="en-US" sz="2000" dirty="0">
                    <a:latin typeface="+mj-lt"/>
                    <a:cs typeface="Times New Roman" panose="02020603050405020304" pitchFamily="18" charset="0"/>
                  </a:rPr>
                  <a:t>𝒞</a:t>
                </a:r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)</a:t>
                </a:r>
              </a:p>
              <a:p>
                <a:pPr lvl="1"/>
                <a:r>
                  <a:rPr lang="en-US" altLang="zh-TW" sz="2000" dirty="0"/>
                  <a:t>hash functions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𝐼𝐷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sz="20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sz="2000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B183F58F-978D-C4A2-5ACE-008C9DF61B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163" y="1869440"/>
                <a:ext cx="11027673" cy="403708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6770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1F431-FA92-E8CA-A113-646658220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6E6E53E-359D-EECB-7BE2-ACF271F65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83" y="665102"/>
            <a:ext cx="10804153" cy="704800"/>
          </a:xfrm>
        </p:spPr>
        <p:txBody>
          <a:bodyPr/>
          <a:lstStyle/>
          <a:p>
            <a:r>
              <a:rPr lang="en-US" altLang="zh-TW" dirty="0"/>
              <a:t>Identity based encryption from pairings </a:t>
            </a:r>
            <a:r>
              <a:rPr lang="zh-TW" altLang="en-US" dirty="0"/>
              <a:t>───</a:t>
            </a:r>
            <a:r>
              <a:rPr lang="en-US" altLang="zh-TW" dirty="0"/>
              <a:t>Construction 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B7A2C987-2BAB-E6CC-6605-648E1671E78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163" y="2155811"/>
                <a:ext cx="11027673" cy="4037087"/>
              </a:xfrm>
            </p:spPr>
            <p:txBody>
              <a:bodyPr/>
              <a:lstStyle/>
              <a:p>
                <a:r>
                  <a:rPr lang="en-US" altLang="zh-TW" sz="2000" dirty="0">
                    <a:latin typeface="+mj-lt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𝐵𝐹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= (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TW" sz="2000" dirty="0">
                    <a:latin typeface="+mj-lt"/>
                  </a:rPr>
                  <a:t>be the IBE scheme with identity space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𝐼𝐷</m:t>
                    </m:r>
                  </m:oMath>
                </a14:m>
                <a:r>
                  <a:rPr lang="en-US" altLang="zh-TW" sz="2000" dirty="0">
                    <a:latin typeface="+mj-lt"/>
                  </a:rPr>
                  <a:t> and message space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TW" sz="2000" dirty="0">
                    <a:latin typeface="+mj-lt"/>
                  </a:rPr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n-US" altLang="zh-TW" sz="2000" dirty="0">
                    <a:latin typeface="+mj-lt"/>
                  </a:rPr>
                  <a:t>: the setup algorithm runs as follows:  </a:t>
                </a: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groupChr>
                      <m:groupChrPr>
                        <m:chr m:val="←"/>
                        <m:vertJc m:val="bot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groupChr>
                    <m:sSub>
                      <m:sSubPr>
                        <m:ctrlPr>
                          <a:rPr lang="en-US" altLang="zh-TW" sz="2000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000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+mj-lt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altLang="zh-TW" sz="2000" i="1" baseline="-250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TW" sz="2000" i="1" baseline="300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TW" sz="2000" baseline="30000" dirty="0">
                    <a:latin typeface="+mj-lt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>
                    <a:latin typeface="+mj-lt"/>
                  </a:rPr>
                  <a:t> ,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𝑚𝑝𝑘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</a:rPr>
                      <m:t>𝑚𝑠𝑘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𝑜𝑢𝑡𝑝𝑢𝑡</m:t>
                    </m:r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err="1" smtClean="0">
                            <a:latin typeface="Cambria Math" panose="02040503050406030204" pitchFamily="18" charset="0"/>
                          </a:rPr>
                          <m:t>𝑚𝑝𝑘</m:t>
                        </m:r>
                        <m:r>
                          <a:rPr lang="en-US" altLang="zh-TW" sz="2000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i="1" dirty="0" err="1" smtClean="0">
                            <a:latin typeface="Cambria Math" panose="02040503050406030204" pitchFamily="18" charset="0"/>
                          </a:rPr>
                          <m:t>𝑚𝑠𝑘</m:t>
                        </m:r>
                      </m:e>
                    </m:d>
                  </m:oMath>
                </a14:m>
                <a:endParaRPr lang="en-US" altLang="zh-TW" sz="2000" baseline="30000" dirty="0">
                  <a:latin typeface="+mj-lt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</a:rPr>
                      <m:t>𝑚𝑠𝑘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𝑖𝑑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): </m:t>
                    </m:r>
                  </m:oMath>
                </a14:m>
                <a:r>
                  <a:rPr lang="en-US" altLang="zh-TW" sz="2000" dirty="0">
                    <a:latin typeface="+mj-lt"/>
                  </a:rPr>
                  <a:t>key generation using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𝑚𝑠𝑘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zh-TW" sz="2000" dirty="0">
                    <a:latin typeface="+mj-lt"/>
                  </a:rPr>
                  <a:t> runs as:</a:t>
                </a: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𝑖𝑑</m:t>
                        </m:r>
                      </m:sub>
                    </m:sSub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←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𝑖𝑑</m:t>
                            </m:r>
                          </m:e>
                        </m:d>
                      </m:e>
                      <m:sup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𝑜𝑢𝑡𝑝𝑢𝑡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err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𝑖𝑑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sz="2000" baseline="30000" dirty="0">
                  <a:latin typeface="+mj-lt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</a:rPr>
                      <m:t>𝑚𝑝𝑘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𝑖𝑑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): </m:t>
                    </m:r>
                  </m:oMath>
                </a14:m>
                <a:r>
                  <a:rPr lang="en-US" altLang="zh-TW" sz="2000" dirty="0">
                    <a:latin typeface="+mj-lt"/>
                  </a:rPr>
                  <a:t>encryption using the public parameters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𝑚𝑝𝑘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+mj-lt"/>
                  </a:rPr>
                  <a:t> runs as:</a:t>
                </a: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𝛽</m:t>
                    </m:r>
                    <m:groupChr>
                      <m:groupChrPr>
                        <m:chr m:val="←"/>
                        <m:vertJc m:val="bot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pl-PL" altLang="zh-TW" sz="20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sup>
                    </m:sSubSup>
                    <m:r>
                      <a:rPr lang="pl-PL" altLang="zh-TW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pl-PL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l-PL" altLang="zh-TW" sz="2000" i="1" dirty="0">
                                <a:latin typeface="Cambria Math" panose="02040503050406030204" pitchFamily="18" charset="0"/>
                              </a:rPr>
                              <m:t>𝑖𝑑</m:t>
                            </m:r>
                          </m:e>
                        </m:d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p>
                        </m:sSubSup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altLang="zh-TW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0" i="1" dirty="0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altLang="zh-TW" sz="20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p>
                        </m:sSup>
                      </m:e>
                    </m:d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pl-PL" altLang="zh-TW" sz="2000" i="1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TW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​×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​→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endParaRPr lang="en-US" altLang="zh-TW" sz="2000" dirty="0">
                  <a:latin typeface="+mj-lt"/>
                </a:endParaRP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pl-PL" altLang="zh-TW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pl-PL" altLang="zh-TW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</a:rPr>
                      <m:t>𝑐</m:t>
                    </m:r>
                    <m:groupChr>
                      <m:groupChrPr>
                        <m:chr m:val="←"/>
                        <m:vertJc m:val="bot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pl-PL" altLang="zh-TW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altLang="zh-TW" sz="2000" i="1" dirty="0">
                        <a:latin typeface="Cambria Math" panose="02040503050406030204" pitchFamily="18" charset="0"/>
                      </a:rPr>
                      <m:t>𝑜𝑢𝑡𝑝𝑢𝑡</m:t>
                    </m:r>
                    <m:d>
                      <m:dPr>
                        <m:ctrlPr>
                          <a:rPr lang="pl-PL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altLang="zh-TW" sz="2000" baseline="30000" dirty="0">
                  <a:latin typeface="+mj-lt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err="1" smtClean="0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 err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  <m:t>𝑖𝑑</m:t>
                            </m:r>
                          </m:sub>
                        </m:s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0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 dirty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TW" sz="20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TW" sz="2000" dirty="0">
                    <a:latin typeface="+mj-lt"/>
                  </a:rPr>
                  <a:t> : decryption using secret key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𝑖𝑑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+mj-lt"/>
                  </a:rPr>
                  <a:t> of ciphertext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altLang="zh-TW" sz="2000" dirty="0">
                    <a:latin typeface="+mj-lt"/>
                  </a:rPr>
                  <a:t> runs as follows:</a:t>
                </a: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pl-PL" altLang="zh-TW" sz="20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</a:rPr>
                              <m:t>𝑖𝑑</m:t>
                            </m:r>
                          </m:sub>
                        </m:sSub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pl-PL" altLang="zh-TW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pl-PL" altLang="zh-TW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pl-PL" altLang="zh-TW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</a:rPr>
                      <m:t>𝑜𝑢𝑡𝑝𝑢𝑡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pl-PL" altLang="zh-TW" sz="2000" i="1" dirty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altLang="zh-TW" sz="2000" dirty="0">
                  <a:latin typeface="+mj-lt"/>
                </a:endParaRPr>
              </a:p>
              <a:p>
                <a:pPr lvl="1"/>
                <a:endParaRPr lang="en-US" altLang="zh-TW" sz="2000" baseline="30000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B7A2C987-2BAB-E6CC-6605-648E1671E7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163" y="2155811"/>
                <a:ext cx="11027673" cy="4037087"/>
              </a:xfrm>
              <a:blipFill>
                <a:blip r:embed="rId3"/>
                <a:stretch>
                  <a:fillRect r="-1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27810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C79C9-B841-6F8B-9F71-3FC105F42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A609015-2869-3031-5AA1-F679B4A42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83" y="665102"/>
            <a:ext cx="10804153" cy="704800"/>
          </a:xfrm>
        </p:spPr>
        <p:txBody>
          <a:bodyPr/>
          <a:lstStyle/>
          <a:p>
            <a:r>
              <a:rPr lang="en-US" altLang="zh-TW" dirty="0"/>
              <a:t>Identity based encryption from pairings </a:t>
            </a:r>
            <a:r>
              <a:rPr lang="zh-TW" altLang="en-US" dirty="0"/>
              <a:t>───</a:t>
            </a:r>
            <a:r>
              <a:rPr lang="en-US" altLang="zh-TW" dirty="0"/>
              <a:t>Construction 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3BDD3BDC-15A9-5985-D6C1-642563D6FA1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163" y="2155811"/>
                <a:ext cx="11027673" cy="4037087"/>
              </a:xfrm>
            </p:spPr>
            <p:txBody>
              <a:bodyPr/>
              <a:lstStyle/>
              <a:p>
                <a:r>
                  <a:rPr lang="en-US" altLang="zh-TW" sz="2000" dirty="0">
                    <a:latin typeface="+mj-lt"/>
                  </a:rPr>
                  <a:t>The decision-BDH assumption</a:t>
                </a:r>
              </a:p>
              <a:p>
                <a:pPr lvl="1"/>
                <a:r>
                  <a:rPr lang="en-US" altLang="zh-TW" sz="2000" dirty="0">
                    <a:latin typeface="+mj-lt"/>
                  </a:rPr>
                  <a:t>Attack Game 15.8 (Decision bilinear Die-Hellman).</a:t>
                </a: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𝛿</m:t>
                    </m:r>
                    <m:groupChr>
                      <m:groupChrPr>
                        <m:chr m:val="←"/>
                        <m:vertJc m:val="bot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sSub>
                      <m:sSubPr>
                        <m:ctrlPr>
                          <a:rPr lang="en-US" altLang="zh-TW" sz="20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err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000" i="1" dirty="0" err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bSup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bSup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𝛽</m:t>
                        </m:r>
                      </m:sup>
                    </m:sSubSup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zh-TW" altLang="en-US" sz="2000" i="1" dirty="0" smtClean="0">
                            <a:latin typeface="Cambria Math" panose="02040503050406030204" pitchFamily="18" charset="0"/>
                          </a:rPr>
                          <m:t>𝛾</m:t>
                        </m:r>
                      </m:sup>
                    </m:sSubSup>
                  </m:oMath>
                </a14:m>
                <a:endParaRPr lang="en-US" altLang="zh-TW" sz="2000" dirty="0">
                  <a:latin typeface="+mj-lt"/>
                </a:endParaRP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i="1" dirty="0"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eal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BDH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: </m:t>
                    </m:r>
                    <m:sSup>
                      <m:sSup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p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𝑒</m:t>
                    </m:r>
                    <m:sSup>
                      <m:sSup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0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 dirty="0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altLang="zh-TW" sz="200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sz="20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 dirty="0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altLang="zh-TW" sz="20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zh-TW" altLang="en-US" sz="2000" i="1" dirty="0" smtClean="0">
                            <a:latin typeface="Cambria Math" panose="02040503050406030204" pitchFamily="18" charset="0"/>
                          </a:rPr>
                          <m:t>𝛽𝛾</m:t>
                        </m:r>
                      </m:sup>
                    </m:sSup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Random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BHD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: </m:t>
                    </m:r>
                    <m:sSup>
                      <m:sSup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z</m:t>
                        </m:r>
                      </m:e>
                      <m:sup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𝑒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zh-TW" altLang="en-US" sz="2000" i="1" dirty="0" smtClean="0">
                            <a:latin typeface="Cambria Math" panose="02040503050406030204" pitchFamily="18" charset="0"/>
                          </a:rPr>
                          <m:t>𝛿</m:t>
                        </m:r>
                      </m:sup>
                    </m:sSup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altLang="zh-TW" sz="2000" dirty="0">
                  <a:latin typeface="+mj-lt"/>
                </a:endParaRPr>
              </a:p>
              <a:p>
                <a:pPr lvl="2">
                  <a:spcBef>
                    <a:spcPts val="0"/>
                  </a:spcBef>
                </a:pPr>
                <a:r>
                  <a:rPr lang="en-US" altLang="zh-TW" sz="2000" dirty="0">
                    <a:latin typeface="+mj-lt"/>
                  </a:rPr>
                  <a:t>Given adversary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pl-PL" altLang="zh-TW" sz="200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e>
                    </m:d>
                  </m:oMath>
                </a14:m>
                <a:endParaRPr lang="en-US" altLang="zh-TW" sz="2000" dirty="0">
                  <a:latin typeface="+mj-lt"/>
                </a:endParaRPr>
              </a:p>
              <a:p>
                <a:pPr lvl="1"/>
                <a:r>
                  <a:rPr lang="en-US" altLang="zh-TW" sz="2000" dirty="0">
                    <a:latin typeface="+mj-lt"/>
                  </a:rPr>
                  <a:t>The adversary outputs a bit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∈{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sz="2000" b="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b="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TW" sz="2000" dirty="0">
                  <a:latin typeface="+mj-lt"/>
                </a:endParaRPr>
              </a:p>
              <a:p>
                <a:pPr lvl="1"/>
                <a:r>
                  <a:rPr lang="en-US" altLang="zh-TW" sz="2000" dirty="0">
                    <a:latin typeface="+mj-lt"/>
                  </a:rPr>
                  <a:t>Define A’s advantage in solving the decision bilinear Die-Hellman problem for e as</a:t>
                </a: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𝐷𝐵𝐷𝐻𝑎𝑑𝑣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err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sz="2000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i="1" dirty="0" err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≔</m:t>
                    </m:r>
                    <m:d>
                      <m:dPr>
                        <m:begChr m:val="|"/>
                        <m:endChr m:val="|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err="1" smtClean="0">
                            <a:latin typeface="Cambria Math" panose="02040503050406030204" pitchFamily="18" charset="0"/>
                          </a:rPr>
                          <m:t>𝑃</m:t>
                        </m:r>
                        <m:func>
                          <m:func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TW" sz="2000" i="1" dirty="0" err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altLang="zh-TW" sz="2000" i="1" dirty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2000" i="1" dirty="0" err="1" smtClean="0">
                            <a:latin typeface="Cambria Math" panose="02040503050406030204" pitchFamily="18" charset="0"/>
                          </a:rPr>
                          <m:t>𝑃</m:t>
                        </m:r>
                        <m:func>
                          <m:func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TW" sz="2000" i="1" dirty="0" err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TW" sz="20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000" i="1" dirty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altLang="zh-TW" sz="20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altLang="zh-TW" sz="2000" dirty="0">
                  <a:latin typeface="+mj-lt"/>
                </a:endParaRPr>
              </a:p>
              <a:p>
                <a:pPr lvl="1"/>
                <a:r>
                  <a:rPr lang="en-US" altLang="zh-TW" sz="2000" dirty="0">
                    <a:latin typeface="+mj-lt"/>
                  </a:rPr>
                  <a:t>We say that the decision bilinear </a:t>
                </a:r>
                <a:r>
                  <a:rPr lang="en-US" altLang="zh-TW" sz="2000" dirty="0" err="1">
                    <a:latin typeface="+mj-lt"/>
                  </a:rPr>
                  <a:t>DieHellman</a:t>
                </a:r>
                <a:r>
                  <a:rPr lang="en-US" altLang="zh-TW" sz="2000" dirty="0">
                    <a:latin typeface="+mj-lt"/>
                  </a:rPr>
                  <a:t> (DBDH) assumption holds for the pairing e if for all </a:t>
                </a:r>
                <a:r>
                  <a:rPr lang="en-US" altLang="zh-TW" sz="2000" dirty="0" err="1">
                    <a:latin typeface="+mj-lt"/>
                  </a:rPr>
                  <a:t>ecient</a:t>
                </a:r>
                <a:r>
                  <a:rPr lang="en-US" altLang="zh-TW" sz="2000" dirty="0">
                    <a:latin typeface="+mj-lt"/>
                  </a:rPr>
                  <a:t> adversaries A the quantity </a:t>
                </a:r>
                <a:r>
                  <a:rPr lang="en-US" altLang="zh-TW" sz="2000" dirty="0" err="1">
                    <a:latin typeface="+mj-lt"/>
                  </a:rPr>
                  <a:t>DBDHadv</a:t>
                </a:r>
                <a:r>
                  <a:rPr lang="en-US" altLang="zh-TW" sz="2000" dirty="0">
                    <a:latin typeface="+mj-lt"/>
                  </a:rPr>
                  <a:t>[A, e] is negligible.</a:t>
                </a: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3BDD3BDC-15A9-5985-D6C1-642563D6FA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163" y="2155811"/>
                <a:ext cx="11027673" cy="403708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7420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E4EED-3082-2583-5951-F8FF48078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C79A086-FC17-5226-A709-BDD4DF8F0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83" y="665102"/>
            <a:ext cx="10804153" cy="704800"/>
          </a:xfrm>
        </p:spPr>
        <p:txBody>
          <a:bodyPr/>
          <a:lstStyle/>
          <a:p>
            <a:r>
              <a:rPr lang="en-US" altLang="zh-TW" dirty="0"/>
              <a:t>Identity based encryption from pairings </a:t>
            </a:r>
            <a:r>
              <a:rPr lang="zh-TW" altLang="en-US" dirty="0"/>
              <a:t>───</a:t>
            </a:r>
            <a:r>
              <a:rPr lang="en-US" altLang="zh-TW" dirty="0"/>
              <a:t>Construction 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1EA7654-224B-18B3-6874-8258E23774C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163" y="2155811"/>
                <a:ext cx="11027673" cy="4037087"/>
              </a:xfrm>
            </p:spPr>
            <p:txBody>
              <a:bodyPr/>
              <a:lstStyle/>
              <a:p>
                <a:r>
                  <a:rPr lang="en-US" altLang="zh-TW" sz="2000" dirty="0">
                    <a:latin typeface="+mj-lt"/>
                  </a:rPr>
                  <a:t>Security of the IBE scheme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𝐵𝐹</m:t>
                        </m:r>
                      </m:sub>
                    </m:sSub>
                  </m:oMath>
                </a14:m>
                <a:endParaRPr lang="en-US" altLang="zh-TW" sz="2000" i="1" dirty="0">
                  <a:latin typeface="+mj-lt"/>
                </a:endParaRPr>
              </a:p>
              <a:p>
                <a:pPr lvl="1"/>
                <a:r>
                  <a:rPr lang="en-US" altLang="zh-TW" sz="2000" i="1" dirty="0">
                    <a:latin typeface="+mj-lt"/>
                  </a:rPr>
                  <a:t>If the following conditions hold:</a:t>
                </a:r>
              </a:p>
              <a:p>
                <a:pPr lvl="2">
                  <a:spcBef>
                    <a:spcPts val="0"/>
                  </a:spcBef>
                </a:pPr>
                <a:r>
                  <a:rPr lang="en-US" altLang="zh-TW" sz="2000" i="1" dirty="0">
                    <a:latin typeface="+mj-lt"/>
                  </a:rPr>
                  <a:t>The Decision-BDH Assumption is difficult for e pairing</a:t>
                </a: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sz="2000" i="1" dirty="0">
                    <a:latin typeface="+mj-lt"/>
                  </a:rPr>
                  <a:t> is modeled as a random oracle</a:t>
                </a: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 i="1" dirty="0">
                    <a:latin typeface="+mj-lt"/>
                  </a:rPr>
                  <a:t> is a secure key derivation function (KDF)</a:t>
                </a: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 dirty="0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TW" sz="2000" i="1" dirty="0">
                    <a:latin typeface="+mj-lt"/>
                  </a:rPr>
                  <a:t> is a semantically secure symmetric encryption scheme</a:t>
                </a:r>
              </a:p>
              <a:p>
                <a:r>
                  <a:rPr lang="en-US" altLang="zh-TW" sz="2000" i="1" dirty="0">
                    <a:latin typeface="+mj-lt"/>
                  </a:rPr>
                  <a:t>Upper bound of advantage			</a:t>
                </a:r>
              </a:p>
              <a:p>
                <a:pPr marL="18626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TW" sz="2000" i="1" dirty="0" err="1" smtClean="0">
                              <a:latin typeface="Cambria Math" panose="02040503050406030204" pitchFamily="18" charset="0"/>
                            </a:rPr>
                            <m:t>𝑟𝑜</m:t>
                          </m:r>
                        </m:sup>
                      </m:sSup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𝑎𝑑𝑣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TW" sz="2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TW" sz="2000" i="1" dirty="0" smtClean="0">
                                  <a:latin typeface="Cambria Math" panose="02040503050406030204" pitchFamily="18" charset="0"/>
                                </a:rPr>
                                <m:t>𝐵𝐹</m:t>
                              </m:r>
                            </m:sub>
                          </m:sSub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</m:d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72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 dirty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altLang="zh-TW" sz="2000" i="1" dirty="0">
                              <a:latin typeface="Cambria Math" panose="02040503050406030204" pitchFamily="18" charset="0"/>
                            </a:rPr>
                            <m:t>​+</m:t>
                          </m:r>
                          <m:r>
                            <a:rPr lang="en-US" altLang="zh-TW" sz="20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000" i="1" dirty="0" err="1">
                          <a:latin typeface="Cambria Math" panose="02040503050406030204" pitchFamily="18" charset="0"/>
                        </a:rPr>
                        <m:t>𝐷𝐵𝐷𝐻𝑎𝑑𝑣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i="1" dirty="0" err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 dirty="0" err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zh-TW" sz="2000" i="1" dirty="0" err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US" altLang="zh-TW" sz="2000" i="1" dirty="0">
                              <a:latin typeface="Cambria Math" panose="02040503050406030204" pitchFamily="18" charset="0"/>
                            </a:rPr>
                            <m:t>​,</m:t>
                          </m:r>
                          <m:r>
                            <a:rPr lang="en-US" altLang="zh-TW" sz="20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𝐾𝐷𝐹𝑎𝑑𝑣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zh-TW" sz="2000" i="1" dirty="0" err="1" smtClean="0">
                                  <a:latin typeface="Cambria Math" panose="02040503050406030204" pitchFamily="18" charset="0"/>
                                </a:rPr>
                                <m:t>𝑘𝑑𝑓</m:t>
                              </m:r>
                            </m:sub>
                          </m:sSub>
                          <m:r>
                            <a:rPr lang="en-US" altLang="zh-TW" sz="2000" i="1" dirty="0" smtClean="0"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a:rPr lang="en-US" altLang="zh-TW" sz="2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TW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TW" sz="2000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 dirty="0" err="1">
                          <a:latin typeface="Cambria Math" panose="02040503050406030204" pitchFamily="18" charset="0"/>
                        </a:rPr>
                        <m:t>𝑆𝑆𝑎𝑑𝑣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 dirty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zh-TW" sz="200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altLang="zh-TW" sz="2000" i="1" dirty="0">
                              <a:latin typeface="Cambria Math" panose="02040503050406030204" pitchFamily="18" charset="0"/>
                            </a:rPr>
                            <m:t>​,</m:t>
                          </m:r>
                          <m:sSub>
                            <m:sSubPr>
                              <m:ctrlPr>
                                <a:rPr lang="en-US" altLang="zh-TW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TW" sz="200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altLang="zh-TW" sz="2000" i="1" dirty="0"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</m:d>
                      <m:r>
                        <a:rPr lang="en-US" altLang="zh-TW" sz="200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sz="2000" dirty="0">
                  <a:latin typeface="+mj-lt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TW" altLang="en-US" sz="2000" dirty="0">
                    <a:latin typeface="+mj-lt"/>
                  </a:rPr>
                  <a:t> </a:t>
                </a:r>
                <a:r>
                  <a:rPr lang="en-US" altLang="zh-TW" sz="2000" dirty="0">
                    <a:latin typeface="+mj-lt"/>
                  </a:rPr>
                  <a:t>:Number of key queries performed by the adversary</a:t>
                </a: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1EA7654-224B-18B3-6874-8258E23774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163" y="2155811"/>
                <a:ext cx="11027673" cy="403708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8309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FF529-89C2-9116-FE52-C72016FE8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F06FEA2D-6A1F-9C5D-33E4-710053127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83" y="665102"/>
            <a:ext cx="10804153" cy="704800"/>
          </a:xfrm>
        </p:spPr>
        <p:txBody>
          <a:bodyPr/>
          <a:lstStyle/>
          <a:p>
            <a:r>
              <a:rPr lang="en-US" altLang="zh-TW" dirty="0"/>
              <a:t>Identity based encryption from pairings </a:t>
            </a:r>
            <a:r>
              <a:rPr lang="zh-TW" altLang="en-US" dirty="0"/>
              <a:t>───</a:t>
            </a:r>
            <a:r>
              <a:rPr lang="en-US" altLang="zh-TW" dirty="0"/>
              <a:t>Construction 1</a:t>
            </a:r>
            <a:r>
              <a:rPr lang="zh-TW" altLang="en-US" dirty="0"/>
              <a:t> ─── </a:t>
            </a:r>
            <a:r>
              <a:rPr lang="en-US" altLang="zh-TW" dirty="0"/>
              <a:t>Proof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6B9C525-1A04-2E5C-5999-8F4306213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3" y="2203090"/>
            <a:ext cx="11027673" cy="4037087"/>
          </a:xfrm>
        </p:spPr>
        <p:txBody>
          <a:bodyPr/>
          <a:lstStyle/>
          <a:p>
            <a:r>
              <a:rPr lang="en-US" altLang="zh-TW" sz="2000" dirty="0">
                <a:latin typeface="+mj-lt"/>
              </a:rPr>
              <a:t>Steps</a:t>
            </a:r>
          </a:p>
          <a:p>
            <a:pPr marL="1253047" lvl="1" indent="-457200">
              <a:buFont typeface="+mj-lt"/>
              <a:buAutoNum type="arabicPeriod"/>
            </a:pPr>
            <a:r>
              <a:rPr lang="en-US" altLang="zh-TW" sz="2000" i="1" dirty="0">
                <a:latin typeface="+mj-lt"/>
              </a:rPr>
              <a:t>Starting with a real game: An adversary attacks a practical IBE scheme.</a:t>
            </a:r>
          </a:p>
          <a:p>
            <a:pPr marL="1253047" lvl="1" indent="-457200">
              <a:buFont typeface="+mj-lt"/>
              <a:buAutoNum type="arabicPeriod"/>
            </a:pPr>
            <a:endParaRPr lang="en-US" altLang="zh-TW" sz="2000" i="1" dirty="0">
              <a:latin typeface="+mj-lt"/>
            </a:endParaRPr>
          </a:p>
          <a:p>
            <a:pPr marL="1253047" lvl="1" indent="-457200">
              <a:buFont typeface="+mj-lt"/>
              <a:buAutoNum type="arabicPeriod"/>
            </a:pPr>
            <a:r>
              <a:rPr lang="en-US" altLang="zh-TW" sz="2000" i="1" dirty="0">
                <a:latin typeface="+mj-lt"/>
              </a:rPr>
              <a:t>Substituting the challenge ciphertext: Replace z in the challenge ciphertext with a random value.</a:t>
            </a:r>
          </a:p>
          <a:p>
            <a:pPr marL="1253047" lvl="1" indent="-457200">
              <a:buFont typeface="+mj-lt"/>
              <a:buAutoNum type="arabicPeriod"/>
            </a:pPr>
            <a:endParaRPr lang="en-US" altLang="zh-TW" sz="2000" i="1" dirty="0">
              <a:latin typeface="+mj-lt"/>
            </a:endParaRPr>
          </a:p>
          <a:p>
            <a:pPr marL="1253047" lvl="1" indent="-457200">
              <a:buFont typeface="+mj-lt"/>
              <a:buAutoNum type="arabicPeriod"/>
            </a:pPr>
            <a:r>
              <a:rPr lang="en-US" altLang="zh-TW" sz="2000" i="1" dirty="0">
                <a:latin typeface="+mj-lt"/>
              </a:rPr>
              <a:t>Substituting the symmetric key: Replace the output of the key derivation with a random key.</a:t>
            </a:r>
          </a:p>
          <a:p>
            <a:pPr marL="1253047" lvl="1" indent="-457200">
              <a:buFont typeface="+mj-lt"/>
              <a:buAutoNum type="arabicPeriod"/>
            </a:pPr>
            <a:endParaRPr lang="en-US" altLang="zh-TW" sz="2000" i="1" dirty="0">
              <a:latin typeface="+mj-lt"/>
            </a:endParaRPr>
          </a:p>
          <a:p>
            <a:pPr marL="1253047" lvl="1" indent="-457200">
              <a:buFont typeface="+mj-lt"/>
              <a:buAutoNum type="arabicPeriod"/>
            </a:pPr>
            <a:r>
              <a:rPr lang="en-US" altLang="zh-TW" sz="2000" i="1" dirty="0">
                <a:latin typeface="+mj-lt"/>
              </a:rPr>
              <a:t>Exploiting symmetric encryption security: The adversary's advantage ultimately stems from the security of symmetric encryption.</a:t>
            </a:r>
          </a:p>
        </p:txBody>
      </p:sp>
    </p:spTree>
    <p:extLst>
      <p:ext uri="{BB962C8B-B14F-4D97-AF65-F5344CB8AC3E}">
        <p14:creationId xmlns:p14="http://schemas.microsoft.com/office/powerpoint/2010/main" val="706581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458E9-1BD0-9FB3-C0AE-0B738EC5C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6CF01E40-B7FE-483D-9F20-A30D9E72E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83" y="665102"/>
            <a:ext cx="10804153" cy="704800"/>
          </a:xfrm>
        </p:spPr>
        <p:txBody>
          <a:bodyPr/>
          <a:lstStyle/>
          <a:p>
            <a:r>
              <a:rPr lang="en-US" altLang="zh-TW" dirty="0"/>
              <a:t>Identity based encryption from pairings </a:t>
            </a:r>
            <a:r>
              <a:rPr lang="zh-TW" altLang="en-US" dirty="0"/>
              <a:t>───</a:t>
            </a:r>
            <a:r>
              <a:rPr lang="en-US" altLang="zh-TW" dirty="0"/>
              <a:t>Construction 1</a:t>
            </a:r>
            <a:r>
              <a:rPr lang="zh-TW" altLang="en-US" dirty="0"/>
              <a:t> ─── </a:t>
            </a:r>
            <a:r>
              <a:rPr lang="en-US" altLang="zh-TW" dirty="0"/>
              <a:t>Proof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D19F64D0-11A7-2E17-AC82-31DBBA63403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163" y="2203090"/>
                <a:ext cx="11027673" cy="4037087"/>
              </a:xfrm>
            </p:spPr>
            <p:txBody>
              <a:bodyPr/>
              <a:lstStyle/>
              <a:p>
                <a:pPr marL="643462" indent="-457200">
                  <a:buFont typeface="+mj-lt"/>
                  <a:buAutoNum type="arabicPeriod"/>
                </a:pPr>
                <a:r>
                  <a:rPr lang="en-US" altLang="zh-TW" sz="2000" i="1" dirty="0">
                    <a:latin typeface="+mj-lt"/>
                  </a:rPr>
                  <a:t>Starting with a real game: An adversary attacks a practical IBE scheme.</a:t>
                </a:r>
              </a:p>
              <a:p>
                <a:r>
                  <a:rPr lang="en-US" altLang="zh-TW" sz="2000" dirty="0">
                    <a:latin typeface="+mj-lt"/>
                  </a:rPr>
                  <a:t>Adversary </a:t>
                </a:r>
                <a:r>
                  <a:rPr lang="zh-TW" altLang="en-US" sz="2000" dirty="0">
                    <a:latin typeface="+mj-lt"/>
                  </a:rPr>
                  <a:t>𝒜 </a:t>
                </a:r>
                <a:r>
                  <a:rPr lang="en-US" altLang="zh-TW" sz="2000" dirty="0">
                    <a:latin typeface="+mj-lt"/>
                  </a:rPr>
                  <a:t>attacks the real </a:t>
                </a:r>
                <a:r>
                  <a:rPr lang="en-US" altLang="zh-TW" sz="2000" dirty="0" err="1">
                    <a:latin typeface="+mj-lt"/>
                  </a:rPr>
                  <a:t>Boneh</a:t>
                </a:r>
                <a:r>
                  <a:rPr lang="en-US" altLang="zh-TW" sz="2000" dirty="0">
                    <a:latin typeface="+mj-lt"/>
                  </a:rPr>
                  <a:t>-Franklin IBE scheme using Attack Game (Private IBE).</a:t>
                </a:r>
              </a:p>
              <a:p>
                <a:r>
                  <a:rPr lang="en-US" altLang="zh-TW" sz="2000" dirty="0">
                    <a:latin typeface="+mj-lt"/>
                  </a:rPr>
                  <a:t>All components operate as in the real scheme: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sz="2000" i="1" dirty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000" i="1" dirty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zh-TW" altLang="en-US" sz="2000" i="1" dirty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e>
                        </m:d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zh-TW" sz="2000" dirty="0">
                    <a:latin typeface="+mj-lt"/>
                  </a:rPr>
                  <a:t>(correct calculation)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TW" sz="2000" dirty="0">
                    <a:latin typeface="+mj-lt"/>
                  </a:rPr>
                  <a:t>(correct derivation)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000" dirty="0">
                    <a:latin typeface="+mj-lt"/>
                  </a:rPr>
                  <a:t>(correct encryption)</a:t>
                </a:r>
              </a:p>
              <a:p>
                <a:r>
                  <a:rPr lang="en-US" altLang="zh-TW" sz="2000" i="1" dirty="0">
                    <a:latin typeface="+mj-lt"/>
                  </a:rPr>
                  <a:t>Adversary Advantage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𝐴𝑑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​=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𝑆</m:t>
                    </m:r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i="1" dirty="0" err="1" smtClean="0">
                            <a:latin typeface="Cambria Math" panose="02040503050406030204" pitchFamily="18" charset="0"/>
                          </a:rPr>
                          <m:t>𝑟𝑜</m:t>
                        </m:r>
                      </m:sup>
                    </m:sSup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𝐵𝐹</m:t>
                            </m:r>
                          </m:sub>
                        </m:s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d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	</m:t>
                    </m:r>
                  </m:oMath>
                </a14:m>
                <a:endParaRPr lang="en-US" altLang="zh-TW" sz="2000" i="1" dirty="0">
                  <a:latin typeface="+mj-lt"/>
                </a:endParaRPr>
              </a:p>
              <a:p>
                <a:r>
                  <a:rPr lang="en-US" altLang="zh-TW" sz="2000" i="1" dirty="0">
                    <a:latin typeface="+mj-lt"/>
                  </a:rPr>
                  <a:t>This is our goal to prove: Prove that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𝑎𝑑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sz="2000" i="1" dirty="0">
                    <a:latin typeface="+mj-lt"/>
                  </a:rPr>
                  <a:t> is negligible</a:t>
                </a:r>
              </a:p>
              <a:p>
                <a:pPr lvl="1"/>
                <a:endParaRPr lang="en-US" altLang="zh-TW" sz="200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D19F64D0-11A7-2E17-AC82-31DBBA6340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163" y="2203090"/>
                <a:ext cx="11027673" cy="403708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8809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70C5B-8F40-52F3-253A-77DB380D4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6BC7D74B-0E98-B731-9178-2017E6ADD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83" y="665102"/>
            <a:ext cx="10804153" cy="704800"/>
          </a:xfrm>
        </p:spPr>
        <p:txBody>
          <a:bodyPr/>
          <a:lstStyle/>
          <a:p>
            <a:r>
              <a:rPr lang="en-US" altLang="zh-TW" dirty="0"/>
              <a:t>Identity based encryption from pairings </a:t>
            </a:r>
            <a:r>
              <a:rPr lang="zh-TW" altLang="en-US" dirty="0"/>
              <a:t>───</a:t>
            </a:r>
            <a:r>
              <a:rPr lang="en-US" altLang="zh-TW" dirty="0"/>
              <a:t>Construction 1</a:t>
            </a:r>
            <a:r>
              <a:rPr lang="zh-TW" altLang="en-US" dirty="0"/>
              <a:t> ─── </a:t>
            </a:r>
            <a:r>
              <a:rPr lang="en-US" altLang="zh-TW" dirty="0"/>
              <a:t>Proof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E01094FF-9B31-3802-F6FB-72FEB7A74EF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163" y="2203090"/>
                <a:ext cx="11027673" cy="4037087"/>
              </a:xfrm>
            </p:spPr>
            <p:txBody>
              <a:bodyPr/>
              <a:lstStyle/>
              <a:p>
                <a:pPr marL="643462" indent="-457200">
                  <a:buFont typeface="+mj-lt"/>
                  <a:buAutoNum type="arabicPeriod" startAt="2"/>
                </a:pPr>
                <a:r>
                  <a:rPr lang="en-US" altLang="zh-TW" sz="2000" i="1" dirty="0">
                    <a:latin typeface="+mj-lt"/>
                  </a:rPr>
                  <a:t>Substituting the challenge ciphertext: Replace z in the challenge ciphertext with a random value.</a:t>
                </a:r>
              </a:p>
              <a:p>
                <a:pPr lvl="1"/>
                <a:r>
                  <a:rPr lang="en-US" altLang="zh-TW" sz="2000" dirty="0">
                    <a:latin typeface="+mj-lt"/>
                  </a:rPr>
                  <a:t>Originally(game</a:t>
                </a:r>
                <a:r>
                  <a:rPr lang="zh-TW" altLang="en-US" sz="2000" dirty="0">
                    <a:latin typeface="+mj-lt"/>
                  </a:rPr>
                  <a:t> </a:t>
                </a:r>
                <a:r>
                  <a:rPr lang="en-US" altLang="zh-TW" sz="2000" dirty="0">
                    <a:latin typeface="+mj-lt"/>
                  </a:rPr>
                  <a:t>0): </a:t>
                </a:r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sz="2000" i="1" dirty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000" i="1" dirty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zh-TW" altLang="en-US" sz="2000" i="1" dirty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e>
                        </m:d>
                        <m:sSubSup>
                          <m:sSub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p>
                        </m:sSubSup>
                      </m:e>
                    </m:d>
                  </m:oMath>
                </a14:m>
                <a:endParaRPr lang="en-US" altLang="zh-TW" sz="2000" dirty="0">
                  <a:latin typeface="+mj-lt"/>
                </a:endParaRPr>
              </a:p>
              <a:p>
                <a:pPr lvl="1"/>
                <a:r>
                  <a:rPr lang="en-US" altLang="zh-TW" sz="2000" dirty="0">
                    <a:latin typeface="+mj-lt"/>
                  </a:rPr>
                  <a:t>Now(game</a:t>
                </a:r>
                <a:r>
                  <a:rPr lang="zh-TW" altLang="en-US" sz="2000" dirty="0">
                    <a:latin typeface="+mj-lt"/>
                  </a:rPr>
                  <a:t> </a:t>
                </a:r>
                <a:r>
                  <a:rPr lang="en-US" altLang="zh-TW" sz="2000" dirty="0">
                    <a:latin typeface="+mj-lt"/>
                  </a:rPr>
                  <a:t>1): </a:t>
                </a:r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𝑧</m:t>
                    </m:r>
                    <m:groupChr>
                      <m:groupChrPr>
                        <m:chr m:val="←"/>
                        <m:vertJc m:val="bot"/>
                        <m:ctrlPr>
                          <a:rPr lang="zh-TW" altLang="en-US" sz="2000" i="1" dirty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zh-TW" altLang="en-US" sz="20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 dirty="0" smtClean="0">
                            <a:latin typeface="Cambria Math" panose="02040503050406030204" pitchFamily="18" charset="0"/>
                          </a:rPr>
                          <m:t>𝔾</m:t>
                        </m:r>
                      </m:e>
                      <m:sub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+mj-lt"/>
                  </a:rPr>
                  <a:t>(truly random)</a:t>
                </a:r>
              </a:p>
              <a:p>
                <a:r>
                  <a:rPr lang="en-US" altLang="zh-TW" sz="2000" i="1" dirty="0">
                    <a:latin typeface="+mj-lt"/>
                  </a:rPr>
                  <a:t>Suppose the adversary has an advantage of ϵ in distinguishing between game 0 and game 1.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72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​+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i="1" dirty="0">
                    <a:latin typeface="+mj-lt"/>
                  </a:rPr>
                  <a:t>factor (from random oracle guesses</a:t>
                </a:r>
                <a:r>
                  <a:rPr lang="zh-TW" altLang="en-US" sz="2000" i="1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TW" sz="2000" i="1" dirty="0">
                    <a:latin typeface="+mj-lt"/>
                  </a:rPr>
                  <a:t>)</a:t>
                </a:r>
              </a:p>
              <a:p>
                <a:pPr lvl="1"/>
                <a:r>
                  <a:rPr lang="en-US" altLang="zh-TW" sz="2000" i="1" dirty="0">
                    <a:latin typeface="+mj-lt"/>
                  </a:rPr>
                  <a:t>The simulator needs to guess the probability loss of the adversary's challenge identity</a:t>
                </a:r>
              </a:p>
              <a:p>
                <a:r>
                  <a:rPr lang="en-US" altLang="zh-TW" sz="2000" i="1" dirty="0">
                    <a:latin typeface="+mj-lt"/>
                  </a:rPr>
                  <a:t>Thus: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𝐴𝑑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​−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𝐴𝑑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​∣≤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72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​+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</a:rPr>
                      <m:t>𝐷𝐵𝐷𝐻𝑎𝑑𝑣</m:t>
                    </m:r>
                  </m:oMath>
                </a14:m>
                <a:br>
                  <a:rPr lang="en-US" altLang="zh-TW" sz="2000" dirty="0"/>
                </a:br>
                <a:endParaRPr lang="en-US" altLang="zh-TW" sz="200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E01094FF-9B31-3802-F6FB-72FEB7A74E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163" y="2203090"/>
                <a:ext cx="11027673" cy="4037087"/>
              </a:xfrm>
              <a:blipFill>
                <a:blip r:embed="rId3"/>
                <a:stretch>
                  <a:fillRect r="-3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5495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3BDCA-7708-27F5-E2C6-D9CC24BBA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F329D82-3BD8-FC20-532D-3B027EF6F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83" y="665102"/>
            <a:ext cx="10804153" cy="704800"/>
          </a:xfrm>
        </p:spPr>
        <p:txBody>
          <a:bodyPr/>
          <a:lstStyle/>
          <a:p>
            <a:r>
              <a:rPr lang="en-US" altLang="zh-TW" dirty="0"/>
              <a:t>Identity based encryption from pairings </a:t>
            </a:r>
            <a:r>
              <a:rPr lang="zh-TW" altLang="en-US" dirty="0"/>
              <a:t>───</a:t>
            </a:r>
            <a:r>
              <a:rPr lang="en-US" altLang="zh-TW" dirty="0"/>
              <a:t>Construction 1</a:t>
            </a:r>
            <a:r>
              <a:rPr lang="zh-TW" altLang="en-US" dirty="0"/>
              <a:t> ─── </a:t>
            </a:r>
            <a:r>
              <a:rPr lang="en-US" altLang="zh-TW" dirty="0"/>
              <a:t>Proof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41DBE8B7-3914-69C1-EA88-4157FC7101E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163" y="2203090"/>
                <a:ext cx="11027673" cy="4037087"/>
              </a:xfrm>
            </p:spPr>
            <p:txBody>
              <a:bodyPr/>
              <a:lstStyle/>
              <a:p>
                <a:pPr marL="643462" indent="-457200">
                  <a:buFont typeface="+mj-lt"/>
                  <a:buAutoNum type="arabicPeriod" startAt="3"/>
                </a:pPr>
                <a:r>
                  <a:rPr lang="en-US" altLang="zh-TW" sz="2000" i="1" dirty="0">
                    <a:latin typeface="+mj-lt"/>
                  </a:rPr>
                  <a:t>Substituting the symmetric key: Replace the output of the key derivation with a random key.</a:t>
                </a:r>
              </a:p>
              <a:p>
                <a:r>
                  <a:rPr lang="en-US" altLang="zh-TW" dirty="0">
                    <a:latin typeface="+mj-lt"/>
                  </a:rPr>
                  <a:t>When generating the challenge ciphertext:</a:t>
                </a:r>
              </a:p>
              <a:p>
                <a:pPr lvl="1"/>
                <a:r>
                  <a:rPr lang="en-US" altLang="zh-TW" dirty="0">
                    <a:latin typeface="+mj-lt"/>
                  </a:rPr>
                  <a:t>Originally: 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TW" dirty="0">
                    <a:latin typeface="+mj-lt"/>
                  </a:rPr>
                  <a:t>(derived from </a:t>
                </a:r>
                <a:r>
                  <a:rPr lang="zh-TW" altLang="en-US" dirty="0">
                    <a:latin typeface="+mj-lt"/>
                  </a:rPr>
                  <a:t>𝑧</a:t>
                </a:r>
                <a:r>
                  <a:rPr lang="en-US" altLang="zh-TW" dirty="0">
                    <a:latin typeface="+mj-lt"/>
                  </a:rPr>
                  <a:t>)</a:t>
                </a:r>
              </a:p>
              <a:p>
                <a:pPr lvl="1"/>
                <a:r>
                  <a:rPr lang="en-US" altLang="zh-TW" dirty="0">
                    <a:latin typeface="+mj-lt"/>
                  </a:rPr>
                  <a:t>Now: 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groupChr>
                      <m:groupChrPr>
                        <m:chr m:val="←"/>
                        <m:vertJc m:val="bot"/>
                        <m:ctrlPr>
                          <a:rPr lang="zh-TW" altLang="en-US" i="1" dirty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zh-TW" alt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𝒦</m:t>
                    </m:r>
                  </m:oMath>
                </a14:m>
                <a:r>
                  <a:rPr lang="zh-TW" altLang="en-US" dirty="0">
                    <a:latin typeface="+mj-lt"/>
                  </a:rPr>
                  <a:t> </a:t>
                </a:r>
                <a:r>
                  <a:rPr lang="en-US" altLang="zh-TW" dirty="0">
                    <a:latin typeface="+mj-lt"/>
                  </a:rPr>
                  <a:t>(truly random)</a:t>
                </a:r>
              </a:p>
              <a:p>
                <a:r>
                  <a:rPr lang="en-US" altLang="zh-TW" sz="2000" i="1" dirty="0">
                    <a:latin typeface="+mj-lt"/>
                  </a:rPr>
                  <a:t>In Game 1, </a:t>
                </a:r>
                <a:r>
                  <a:rPr lang="zh-TW" altLang="en-US" sz="2000" i="1" dirty="0">
                    <a:latin typeface="+mj-lt"/>
                  </a:rPr>
                  <a:t>𝑧 </a:t>
                </a:r>
                <a:r>
                  <a:rPr lang="en-US" altLang="zh-TW" sz="2000" i="1" dirty="0">
                    <a:latin typeface="+mj-lt"/>
                  </a:rPr>
                  <a:t>is already random.</a:t>
                </a:r>
              </a:p>
              <a:p>
                <a:r>
                  <a:rPr lang="en-US" altLang="zh-TW" sz="2000" i="1" dirty="0">
                    <a:latin typeface="+mj-lt"/>
                  </a:rPr>
                  <a:t>If </a:t>
                </a:r>
                <a:r>
                  <a:rPr lang="zh-TW" altLang="en-US" sz="2000" i="1" dirty="0">
                    <a:latin typeface="+mj-lt"/>
                  </a:rPr>
                  <a:t>𝐻</a:t>
                </a:r>
                <a:r>
                  <a:rPr lang="en-US" altLang="zh-TW" sz="2000" i="1" dirty="0">
                    <a:latin typeface="+mj-lt"/>
                  </a:rPr>
                  <a:t>_1 is a secure KDF,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TW" sz="2000" i="1" dirty="0">
                    <a:latin typeface="+mj-lt"/>
                  </a:rPr>
                  <a:t>should be indistinguishable from a random key.</a:t>
                </a:r>
              </a:p>
              <a:p>
                <a:r>
                  <a:rPr lang="en-US" altLang="zh-TW" sz="2000" i="1" dirty="0">
                    <a:latin typeface="+mj-lt"/>
                  </a:rPr>
                  <a:t>An adversary that can distinguish between Game 1 and Game 2 can directly attack the KDF.</a:t>
                </a:r>
              </a:p>
              <a:p>
                <a:r>
                  <a:rPr lang="en-US" altLang="zh-TW" sz="2000" i="1" dirty="0">
                    <a:latin typeface="+mj-lt"/>
                  </a:rPr>
                  <a:t>Thus: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𝐴𝑑</m:t>
                    </m:r>
                    <m:sSub>
                      <m:sSub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​−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𝐴𝑑</m:t>
                    </m:r>
                    <m:sSub>
                      <m:sSub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​∣≤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</a:rPr>
                      <m:t>𝐾𝐷𝐹𝑎𝑑𝑣</m:t>
                    </m:r>
                  </m:oMath>
                </a14:m>
                <a:endParaRPr lang="en-US" altLang="zh-TW" sz="2000" i="1" dirty="0">
                  <a:latin typeface="+mj-lt"/>
                </a:endParaRPr>
              </a:p>
              <a:p>
                <a:pPr marL="795847" lvl="1" indent="0">
                  <a:buNone/>
                </a:pPr>
                <a:endParaRPr lang="en-US" altLang="zh-TW" sz="2000" i="1" dirty="0">
                  <a:latin typeface="+mj-lt"/>
                </a:endParaRPr>
              </a:p>
              <a:p>
                <a:pPr lvl="1"/>
                <a:endParaRPr lang="en-US" altLang="zh-TW" sz="2000" i="1" dirty="0">
                  <a:latin typeface="+mj-lt"/>
                </a:endParaRPr>
              </a:p>
              <a:p>
                <a:pPr lvl="1"/>
                <a:endParaRPr lang="en-US" altLang="zh-TW" sz="200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41DBE8B7-3914-69C1-EA88-4157FC7101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163" y="2203090"/>
                <a:ext cx="11027673" cy="403708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869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37C2A-141C-8344-CDD3-975C663F7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1B5DFA1-BF14-67AB-7F9E-07A93D84E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83" y="665102"/>
            <a:ext cx="10804153" cy="704800"/>
          </a:xfrm>
        </p:spPr>
        <p:txBody>
          <a:bodyPr/>
          <a:lstStyle/>
          <a:p>
            <a:r>
              <a:rPr lang="en-US" altLang="zh-TW" dirty="0"/>
              <a:t>Identity based encryption from pairings </a:t>
            </a:r>
            <a:r>
              <a:rPr lang="zh-TW" altLang="en-US" dirty="0"/>
              <a:t>───</a:t>
            </a:r>
            <a:r>
              <a:rPr lang="en-US" altLang="zh-TW" dirty="0"/>
              <a:t>Construction 1</a:t>
            </a:r>
            <a:r>
              <a:rPr lang="zh-TW" altLang="en-US" dirty="0"/>
              <a:t> ─── </a:t>
            </a:r>
            <a:r>
              <a:rPr lang="en-US" altLang="zh-TW" dirty="0"/>
              <a:t>Proof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17BF86A6-E8DE-B5A7-AF18-AA225F9C56D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163" y="2203090"/>
                <a:ext cx="11027673" cy="4037087"/>
              </a:xfrm>
            </p:spPr>
            <p:txBody>
              <a:bodyPr/>
              <a:lstStyle/>
              <a:p>
                <a:pPr marL="643462" indent="-457200">
                  <a:buFont typeface="+mj-lt"/>
                  <a:buAutoNum type="arabicPeriod" startAt="4"/>
                </a:pPr>
                <a:r>
                  <a:rPr lang="en-US" altLang="zh-TW" sz="2000" i="1" dirty="0">
                    <a:latin typeface="+mj-lt"/>
                  </a:rPr>
                  <a:t>Exploiting symmetric encryption security: The adversary's advantage ultimately stems from the security of symmetric encryption.</a:t>
                </a:r>
              </a:p>
              <a:p>
                <a:pPr lvl="1"/>
                <a:r>
                  <a:rPr lang="en-US" altLang="zh-TW" sz="2000" dirty="0">
                    <a:latin typeface="+mj-lt"/>
                  </a:rPr>
                  <a:t>k is truly random. </a:t>
                </a:r>
              </a:p>
              <a:p>
                <a:pPr lvl="1"/>
                <a:r>
                  <a:rPr lang="en-US" altLang="zh-TW" sz="2000" dirty="0">
                    <a:latin typeface="+mj-lt"/>
                  </a:rPr>
                  <a:t>The challenge ciphertext is </a:t>
                </a:r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000" dirty="0">
                    <a:latin typeface="+mj-lt"/>
                  </a:rPr>
                  <a:t>, where </a:t>
                </a:r>
                <a:r>
                  <a:rPr lang="zh-TW" altLang="en-US" sz="2000" dirty="0">
                    <a:latin typeface="+mj-lt"/>
                  </a:rPr>
                  <a:t>𝑘 </a:t>
                </a:r>
                <a:r>
                  <a:rPr lang="en-US" altLang="zh-TW" sz="2000" dirty="0">
                    <a:latin typeface="+mj-lt"/>
                  </a:rPr>
                  <a:t>is independent of any other variables.</a:t>
                </a:r>
              </a:p>
              <a:p>
                <a:pPr lvl="1"/>
                <a:r>
                  <a:rPr lang="en-US" altLang="zh-TW" sz="2000" dirty="0">
                    <a:latin typeface="+mj-lt"/>
                  </a:rPr>
                  <a:t>Adversary know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) &amp;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dirty="0">
                    <a:latin typeface="+mj-lt"/>
                  </a:rPr>
                  <a:t>, guess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∈</m:t>
                    </m:r>
                    <m:r>
                      <m:rPr>
                        <m:lit/>
                      </m:rPr>
                      <a:rPr lang="en-US" altLang="zh-TW" sz="200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lit/>
                      </m:rPr>
                      <a:rPr lang="en-US" altLang="zh-TW" sz="20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TW" sz="2000" dirty="0">
                  <a:latin typeface="+mj-lt"/>
                </a:endParaRPr>
              </a:p>
              <a:p>
                <a:r>
                  <a:rPr lang="en-US" altLang="zh-TW" dirty="0">
                    <a:latin typeface="+mj-lt"/>
                  </a:rPr>
                  <a:t>Thus</a:t>
                </a:r>
                <a:r>
                  <a:rPr lang="zh-TW" altLang="en-US" dirty="0">
                    <a:latin typeface="+mj-lt"/>
                  </a:rPr>
                  <a:t>：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000"/>
                          <m:t>Adv</m:t>
                        </m:r>
                      </m:e>
                      <m:sub>
                        <m:r>
                          <a:rPr lang="ar-AE" altLang="zh-TW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altLang="zh-TW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nor/>
                      </m:rPr>
                      <a:rPr lang="en-US" altLang="zh-TW" i="1"/>
                      <m:t>SSadv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zh-TW">
                                <a:latin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zh-TW" alt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zh-TW">
                                <a:latin typeface="Cambria Math" panose="02040503050406030204" pitchFamily="18" charset="0"/>
                              </a:rPr>
                              <m:t>ℰ</m:t>
                            </m:r>
                          </m:e>
                          <m:sub>
                            <m:r>
                              <a:rPr lang="zh-TW" alt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</m:oMath>
                </a14:m>
                <a:endParaRPr lang="ar-AE" altLang="zh-TW" sz="2000" dirty="0"/>
              </a:p>
              <a:p>
                <a:endParaRPr lang="en-US" altLang="zh-TW" sz="200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17BF86A6-E8DE-B5A7-AF18-AA225F9C56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163" y="2203090"/>
                <a:ext cx="11027673" cy="403708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4028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62099-8B2A-36D3-444E-AE609CB49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0BC897B-F590-E7D0-96B3-64001E3A4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83" y="665102"/>
            <a:ext cx="10804153" cy="704800"/>
          </a:xfrm>
        </p:spPr>
        <p:txBody>
          <a:bodyPr/>
          <a:lstStyle/>
          <a:p>
            <a:r>
              <a:rPr lang="en-US" altLang="zh-TW" dirty="0"/>
              <a:t>Identity based encryption from pairings </a:t>
            </a:r>
            <a:r>
              <a:rPr lang="zh-TW" altLang="en-US" dirty="0"/>
              <a:t>───</a:t>
            </a:r>
            <a:r>
              <a:rPr lang="en-US" altLang="zh-TW" dirty="0"/>
              <a:t>Construction 1</a:t>
            </a:r>
            <a:r>
              <a:rPr lang="zh-TW" altLang="en-US" dirty="0"/>
              <a:t> ─── </a:t>
            </a:r>
            <a:r>
              <a:rPr lang="en-US" altLang="zh-TW" dirty="0"/>
              <a:t>Proof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CB9938BE-609E-AE16-6833-E2986E50948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163" y="2203090"/>
                <a:ext cx="11027673" cy="4037087"/>
              </a:xfrm>
            </p:spPr>
            <p:txBody>
              <a:bodyPr/>
              <a:lstStyle/>
              <a:p>
                <a:pPr marL="643462" indent="-457200">
                  <a:buFont typeface="+mj-lt"/>
                  <a:buAutoNum type="arabicPeriod" startAt="5"/>
                </a:pPr>
                <a:r>
                  <a:rPr lang="en-US" altLang="zh-TW" sz="2000" i="1" dirty="0">
                    <a:latin typeface="+mj-lt"/>
                  </a:rPr>
                  <a:t>Combine all boundaries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𝐴𝑑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​=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𝑆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TW" sz="2000" i="1" dirty="0" err="1">
                            <a:latin typeface="Cambria Math" panose="02040503050406030204" pitchFamily="18" charset="0"/>
                          </a:rPr>
                          <m:t>𝑟𝑜</m:t>
                        </m:r>
                      </m:sup>
                    </m:sSup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𝐵𝐹</m:t>
                            </m:r>
                          </m:sub>
                        </m:s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d>
                    <m:r>
                      <a:rPr lang="en-US" altLang="zh-TW" sz="2400" i="1" dirty="0">
                        <a:latin typeface="Cambria Math" panose="02040503050406030204" pitchFamily="18" charset="0"/>
                      </a:rPr>
                      <m:t>	</m:t>
                    </m:r>
                  </m:oMath>
                </a14:m>
                <a:endParaRPr lang="en-US" altLang="zh-TW" sz="2000" i="1" dirty="0">
                  <a:latin typeface="+mj-lt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𝐴𝑑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​−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𝐴𝑑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​∣≤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72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​+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</a:rPr>
                      <m:t>𝐷𝐵𝐷𝐻𝑎𝑑𝑣</m:t>
                    </m:r>
                  </m:oMath>
                </a14:m>
                <a:endParaRPr lang="en-US" altLang="zh-TW" sz="2000" i="1" dirty="0">
                  <a:latin typeface="+mj-lt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𝐴𝑑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​−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𝐴𝑑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​∣≤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</a:rPr>
                      <m:t>𝐾𝐷𝐹𝑎𝑑𝑣</m:t>
                    </m:r>
                  </m:oMath>
                </a14:m>
                <a:endParaRPr lang="en-US" altLang="zh-TW" sz="2000" dirty="0">
                  <a:latin typeface="+mj-lt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000">
                            <a:latin typeface="+mj-lt"/>
                          </a:rPr>
                          <m:t>Adv</m:t>
                        </m:r>
                      </m:e>
                      <m:sub>
                        <m:r>
                          <a:rPr lang="ar-AE" altLang="zh-TW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altLang="zh-TW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nor/>
                      </m:rPr>
                      <a:rPr lang="en-US" altLang="zh-TW" i="1">
                        <a:latin typeface="+mj-lt"/>
                      </a:rPr>
                      <m:t>SSadv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zh-TW">
                                <a:latin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zh-TW" alt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zh-TW">
                                <a:latin typeface="Cambria Math" panose="02040503050406030204" pitchFamily="18" charset="0"/>
                              </a:rPr>
                              <m:t>ℰ</m:t>
                            </m:r>
                          </m:e>
                          <m:sub>
                            <m:r>
                              <a:rPr lang="zh-TW" altLang="ar-A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</m:oMath>
                </a14:m>
                <a:endParaRPr lang="ar-AE" altLang="zh-TW" sz="2000" dirty="0"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𝐴𝑑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	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​​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≤∣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𝐴𝑑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​−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𝐴𝑑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​∣+∣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𝐴𝑑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​−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𝐴𝑑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​∣+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𝐴𝑑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br>
                  <a:rPr lang="en-US" altLang="zh-TW" dirty="0">
                    <a:latin typeface="+mj-lt"/>
                  </a:rPr>
                </a:br>
                <a:r>
                  <a:rPr lang="en-US" altLang="zh-TW" dirty="0">
                    <a:latin typeface="+mj-lt"/>
                  </a:rPr>
                  <a:t>	</a:t>
                </a:r>
                <a:r>
                  <a:rPr lang="zh-TW" altLang="en-US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		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72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  <m:sSub>
                          <m:sSub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​</m:t>
                            </m:r>
                          </m:sub>
                        </m:s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</a:rPr>
                      <m:t>𝐷𝐵𝐷𝐻𝑎𝑑𝑣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</a:rPr>
                      <m:t>𝐾𝐷𝐹𝑎𝑑𝑣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</a:rPr>
                      <m:t>𝑆𝑆𝑎𝑑𝑣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​,</m:t>
                        </m:r>
                        <m:sSub>
                          <m:sSub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endParaRPr lang="en-US" altLang="zh-TW" dirty="0">
                  <a:latin typeface="+mj-lt"/>
                </a:endParaRPr>
              </a:p>
              <a:p>
                <a:r>
                  <a:rPr lang="en-US" altLang="zh-TW" dirty="0">
                    <a:latin typeface="+mj-lt"/>
                  </a:rPr>
                  <a:t>After considering both sides of the mixed argument and the constant factor, we get the final bound:</a:t>
                </a:r>
                <a:br>
                  <a:rPr lang="en-US" altLang="zh-TW" dirty="0">
                    <a:latin typeface="+mj-lt"/>
                  </a:rPr>
                </a:b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	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𝐴𝑑</m:t>
                    </m:r>
                    <m:sSub>
                      <m:sSub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2̇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72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𝑄</m:t>
                        </m:r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​</m:t>
                            </m:r>
                          </m:sub>
                        </m:s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</a:rPr>
                      <m:t>𝐷𝐵𝐷𝐻𝑎𝑑𝑣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</a:rPr>
                      <m:t>𝐾𝐷𝐹𝑎𝑑𝑣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</a:rPr>
                      <m:t>𝑆𝑆𝑎𝑑𝑣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​,</m:t>
                        </m:r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d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endParaRPr lang="en-US" altLang="zh-TW" sz="2000" dirty="0">
                  <a:latin typeface="+mj-lt"/>
                </a:endParaRPr>
              </a:p>
              <a:p>
                <a:endParaRPr lang="en-US" altLang="zh-TW" sz="200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CB9938BE-609E-AE16-6833-E2986E5094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163" y="2203090"/>
                <a:ext cx="11027673" cy="403708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75552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2BB2C-653A-4338-B4C4-E116FAF17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11516A27-7484-64E3-B653-67F91392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83" y="665102"/>
            <a:ext cx="10804153" cy="704800"/>
          </a:xfrm>
        </p:spPr>
        <p:txBody>
          <a:bodyPr/>
          <a:lstStyle/>
          <a:p>
            <a:r>
              <a:rPr lang="en-US" altLang="zh-TW" dirty="0"/>
              <a:t>Identity based encryption from pairings </a:t>
            </a:r>
            <a:r>
              <a:rPr lang="zh-TW" altLang="en-US" dirty="0"/>
              <a:t>───</a:t>
            </a:r>
            <a:r>
              <a:rPr lang="en-US" altLang="zh-TW" dirty="0"/>
              <a:t>Construction 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31B861B-97A9-F695-55EF-0C43B75D8BD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163" y="2155811"/>
                <a:ext cx="11027673" cy="4037087"/>
              </a:xfrm>
            </p:spPr>
            <p:txBody>
              <a:bodyPr/>
              <a:lstStyle/>
              <a:p>
                <a:r>
                  <a:rPr lang="en-US" altLang="zh-TW" sz="20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= (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TW" sz="2000" dirty="0"/>
                  <a:t>be the IBE scheme with identity space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𝐼𝐷</m:t>
                    </m:r>
                  </m:oMath>
                </a14:m>
                <a:r>
                  <a:rPr lang="en-US" altLang="zh-TW" sz="2000" dirty="0"/>
                  <a:t> and message space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TW" sz="2000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n-US" altLang="zh-TW" sz="2000" dirty="0"/>
                  <a:t>: the setup algorithm runs as follows:  </a:t>
                </a: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TW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β</m:t>
                    </m:r>
                    <m:groupChr>
                      <m:groupChrPr>
                        <m:chr m:val="←"/>
                        <m:vertJc m:val="bot"/>
                        <m:ctrlP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groupChr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groupChr>
                    <m:sSub>
                      <m:sSubPr>
                        <m:ctrlPr>
                          <a:rPr lang="en-US" altLang="zh-TW" sz="2000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TW" sz="2000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altLang="zh-TW" sz="2000" dirty="0">
                    <a:cs typeface="Times New Roman" panose="02020603050405020304" pitchFamily="18" charset="0"/>
                  </a:rPr>
                  <a:t>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sz="20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altLang="zh-TW" sz="20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TW" sz="2000" i="1" baseline="30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lang="en-US" altLang="zh-TW" sz="2000" baseline="30000" dirty="0"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dirty="0"/>
                  <a:t> ,</a:t>
                </a:r>
                <a:r>
                  <a:rPr lang="en-US" altLang="zh-TW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  <m:sSubSup>
                      <m:sSubSup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sup>
                    </m:sSubSup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TW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v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altLang="zh-TW" sz="2000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altLang="zh-TW" sz="2000" b="0" i="1" baseline="3000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β</m:t>
                    </m:r>
                  </m:oMath>
                </a14:m>
                <a:r>
                  <a:rPr lang="en-US" altLang="zh-TW" sz="2000" baseline="30000" dirty="0">
                    <a:cs typeface="Times New Roman" panose="02020603050405020304" pitchFamily="18" charset="0"/>
                  </a:rPr>
                  <a:t> </a:t>
                </a: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b="0" i="1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groupChr>
                      <m:groupChrPr>
                        <m:chr m:val="←"/>
                        <m:vertJc m:val="bot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altLang="zh-TW" baseline="30000" dirty="0"/>
                  <a:t> </a:t>
                </a:r>
                <a:endParaRPr lang="en-US" altLang="zh-TW" sz="2000" dirty="0"/>
              </a:p>
              <a:p>
                <a:pPr lvl="2">
                  <a:spcBef>
                    <a:spcPts val="0"/>
                  </a:spcBef>
                </a:pPr>
                <a:r>
                  <a:rPr lang="en-US" altLang="zh-TW" sz="2000" dirty="0"/>
                  <a:t>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𝑚𝑝𝑘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←(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</a:rPr>
                      <m:t>𝑚𝑠𝑘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←</m:t>
                    </m:r>
                    <m:d>
                      <m:d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𝑜𝑢𝑡𝑝𝑢𝑡</m:t>
                    </m:r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err="1">
                            <a:latin typeface="Cambria Math" panose="02040503050406030204" pitchFamily="18" charset="0"/>
                          </a:rPr>
                          <m:t>𝑚𝑝𝑘</m:t>
                        </m:r>
                        <m:r>
                          <a:rPr lang="en-US" altLang="zh-TW" sz="2000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i="1" dirty="0" err="1">
                            <a:latin typeface="Cambria Math" panose="02040503050406030204" pitchFamily="18" charset="0"/>
                          </a:rPr>
                          <m:t>𝑚𝑠𝑘</m:t>
                        </m:r>
                      </m:e>
                    </m:d>
                  </m:oMath>
                </a14:m>
                <a:endParaRPr lang="en-US" altLang="zh-TW" sz="2000" baseline="30000" dirty="0"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</a:rPr>
                      <m:t>𝑚𝑠𝑘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𝑖𝑑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): </m:t>
                    </m:r>
                  </m:oMath>
                </a14:m>
                <a:r>
                  <a:rPr lang="en-US" altLang="zh-TW" sz="2000" dirty="0"/>
                  <a:t>key generation using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𝑚𝑠𝑘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←</m:t>
                    </m:r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000" dirty="0"/>
                  <a:t>runs as:</a:t>
                </a:r>
              </a:p>
              <a:p>
                <a:pPr lvl="2">
                  <a:spcBef>
                    <a:spcPts val="0"/>
                  </a:spcBef>
                </a:pPr>
                <a:endParaRPr lang="en-US" altLang="zh-TW" sz="2000" dirty="0"/>
              </a:p>
              <a:p>
                <a:pPr lvl="2">
                  <a:spcBef>
                    <a:spcPts val="0"/>
                  </a:spcBef>
                </a:pPr>
                <a:endParaRPr lang="en-US" altLang="zh-TW" sz="2000" dirty="0"/>
              </a:p>
              <a:p>
                <a:pPr lvl="2">
                  <a:spcBef>
                    <a:spcPts val="0"/>
                  </a:spcBef>
                </a:pPr>
                <a:endParaRPr lang="en-US" altLang="zh-TW" sz="2000" dirty="0"/>
              </a:p>
              <a:p>
                <a:pPr lvl="2">
                  <a:spcBef>
                    <a:spcPts val="0"/>
                  </a:spcBef>
                </a:pPr>
                <a:endParaRPr lang="en-US" altLang="zh-TW" sz="2000" baseline="30000" dirty="0">
                  <a:cs typeface="Times New Roman" panose="02020603050405020304" pitchFamily="18" charset="0"/>
                </a:endParaRPr>
              </a:p>
              <a:p>
                <a:pPr lvl="2">
                  <a:spcBef>
                    <a:spcPts val="0"/>
                  </a:spcBef>
                </a:pPr>
                <a:endParaRPr lang="en-US" altLang="zh-TW" sz="2000" baseline="300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31B861B-97A9-F695-55EF-0C43B75D8B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163" y="2155811"/>
                <a:ext cx="11027673" cy="4037087"/>
              </a:xfrm>
              <a:blipFill>
                <a:blip r:embed="rId3"/>
                <a:stretch>
                  <a:fillRect b="-9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1988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78E7A-0E71-32C0-F95A-2741D592E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B28C351-9066-A764-6744-7BCFAB0DC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83" y="665102"/>
            <a:ext cx="10804153" cy="704800"/>
          </a:xfrm>
        </p:spPr>
        <p:txBody>
          <a:bodyPr/>
          <a:lstStyle/>
          <a:p>
            <a:r>
              <a:rPr lang="en-US" altLang="zh-TW" dirty="0"/>
              <a:t>Identity based encryption from pairings </a:t>
            </a:r>
            <a:r>
              <a:rPr lang="zh-TW" altLang="en-US" dirty="0"/>
              <a:t>───</a:t>
            </a:r>
            <a:r>
              <a:rPr lang="en-US" altLang="zh-TW" dirty="0"/>
              <a:t>Construction 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48F823CD-34F4-C843-0DCC-254D5A5B042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163" y="2155811"/>
                <a:ext cx="11027673" cy="4037087"/>
              </a:xfrm>
            </p:spPr>
            <p:txBody>
              <a:bodyPr/>
              <a:lstStyle/>
              <a:p>
                <a:r>
                  <a:rPr lang="en-US" altLang="zh-TW" sz="2000" dirty="0"/>
                  <a:t>Let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= (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TW" sz="2000" dirty="0"/>
                  <a:t>be the IBE scheme with identity space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𝐼𝐷</m:t>
                    </m:r>
                  </m:oMath>
                </a14:m>
                <a:r>
                  <a:rPr lang="en-US" altLang="zh-TW" sz="2000" dirty="0"/>
                  <a:t> and message space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TW" sz="2000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</a:rPr>
                      <m:t>𝑚𝑝𝑘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𝑖𝑑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): </m:t>
                    </m:r>
                  </m:oMath>
                </a14:m>
                <a:r>
                  <a:rPr lang="en-US" altLang="zh-TW" sz="2000" dirty="0"/>
                  <a:t>encryption using the public parameters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𝑚𝑝𝑘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←(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TW" sz="2000" i="1" dirty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r>
                  <a:rPr lang="en-US" altLang="zh-TW" sz="2000" dirty="0"/>
                  <a:t>runs as:</a:t>
                </a: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𝜌</m:t>
                    </m:r>
                    <m:groupChr>
                      <m:groupChrPr>
                        <m:chr m:val="←"/>
                        <m:vertJc m:val="bot"/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pl-PL" altLang="zh-TW" sz="20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←</m:t>
                    </m:r>
                    <m:sSubSup>
                      <m:sSub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ρ</m:t>
                        </m:r>
                      </m:sup>
                    </m:sSubSup>
                    <m:r>
                      <a:rPr lang="pl-PL" altLang="zh-TW" sz="20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TW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2000" b="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TW" sz="20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TW" sz="2000" b="0" i="1" dirty="0" smtClean="0">
                                    <a:latin typeface="Cambria Math" panose="02040503050406030204" pitchFamily="18" charset="0"/>
                                  </a:rPr>
                                  <m:t>𝑖𝑑</m:t>
                                </m:r>
                              </m:sup>
                            </m:sSubSup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en-US" altLang="zh-TW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b="0" i="1" dirty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TW" sz="20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sup>
                    </m:sSup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𝜌</m:t>
                        </m:r>
                      </m:sup>
                    </m:sSup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​</m:t>
                    </m:r>
                  </m:oMath>
                </a14:m>
                <a:endParaRPr lang="en-US" altLang="zh-TW" sz="2000" dirty="0"/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pl-PL" altLang="zh-TW" sz="20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pl-PL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pl-PL" altLang="zh-TW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altLang="zh-TW" sz="2000" i="1" dirty="0">
                        <a:latin typeface="Cambria Math" panose="02040503050406030204" pitchFamily="18" charset="0"/>
                      </a:rPr>
                      <m:t>𝑐</m:t>
                    </m:r>
                    <m:groupChr>
                      <m:groupChrPr>
                        <m:chr m:val="←"/>
                        <m:vertJc m:val="bot"/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pl-PL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pl-PL" altLang="zh-TW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altLang="zh-TW" sz="2000" i="1" dirty="0">
                        <a:latin typeface="Cambria Math" panose="02040503050406030204" pitchFamily="18" charset="0"/>
                      </a:rPr>
                      <m:t>𝑜𝑢𝑡𝑝𝑢𝑡</m:t>
                    </m:r>
                    <m:d>
                      <m:dPr>
                        <m:ctrlPr>
                          <a:rPr lang="pl-PL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altLang="zh-TW" sz="2000" baseline="30000" dirty="0"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err="1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 err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𝑖𝑑</m:t>
                            </m:r>
                          </m:sub>
                        </m:s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pl-PL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pl-PL" altLang="zh-TW" sz="20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l-PL" altLang="zh-TW" sz="20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TW" sz="2000" dirty="0"/>
                  <a:t> : decryption using secret key </a:t>
                </a:r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𝑖𝑑</m:t>
                        </m:r>
                      </m:sub>
                    </m:sSub>
                  </m:oMath>
                </a14:m>
                <a:r>
                  <a:rPr lang="en-US" altLang="zh-TW" sz="2000" dirty="0"/>
                  <a:t> of ciphertext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altLang="zh-TW" sz="2000" dirty="0"/>
                  <a:t>runs as follows:</a:t>
                </a: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pl-PL" altLang="zh-TW" sz="20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pl-PL" altLang="zh-TW" sz="2000" i="1" dirty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pl-PL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pl-PL" altLang="zh-TW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m:rPr>
                        <m:lit/>
                      </m:rP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pl-PL" altLang="zh-TW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altLang="zh-TW" sz="20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pl-PL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pl-PL" altLang="zh-TW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altLang="zh-TW" sz="20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pl-PL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pl-PL" altLang="zh-TW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pl-PL" altLang="zh-TW" sz="2000" i="1" dirty="0">
                        <a:latin typeface="Cambria Math" panose="02040503050406030204" pitchFamily="18" charset="0"/>
                      </a:rPr>
                      <m:t>𝑜𝑢𝑡𝑝𝑢𝑡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altLang="zh-TW" sz="20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pl-PL" altLang="zh-TW" sz="2000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sz="2000" dirty="0"/>
              </a:p>
              <a:p>
                <a:pPr lvl="1"/>
                <a:endParaRPr lang="en-US" altLang="zh-TW" sz="2000" baseline="300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48F823CD-34F4-C843-0DCC-254D5A5B04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163" y="2155811"/>
                <a:ext cx="11027673" cy="403708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7600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370B0-187E-C496-A2C0-52EA69684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E78E8A3-F9E1-5E35-90E6-E402786E3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83" y="665102"/>
            <a:ext cx="10804153" cy="704800"/>
          </a:xfrm>
        </p:spPr>
        <p:txBody>
          <a:bodyPr/>
          <a:lstStyle/>
          <a:p>
            <a:r>
              <a:rPr lang="en-US" altLang="zh-TW" dirty="0"/>
              <a:t>Identity based encryption from pairings </a:t>
            </a:r>
            <a:r>
              <a:rPr lang="zh-TW" altLang="en-US" dirty="0"/>
              <a:t>───</a:t>
            </a:r>
            <a:r>
              <a:rPr lang="en-US" altLang="zh-TW" dirty="0"/>
              <a:t>Construction 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67FD9361-2CE1-127F-7128-95D33569C4B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163" y="2155811"/>
                <a:ext cx="11027673" cy="4037087"/>
              </a:xfrm>
            </p:spPr>
            <p:txBody>
              <a:bodyPr/>
              <a:lstStyle/>
              <a:p>
                <a:r>
                  <a:rPr lang="en-US" altLang="zh-TW" sz="2000" dirty="0">
                    <a:latin typeface="+mj-lt"/>
                  </a:rPr>
                  <a:t>Security of the IBE Scheme ℰ_BB</a:t>
                </a:r>
              </a:p>
              <a:p>
                <a:pPr lvl="1"/>
                <a:r>
                  <a:rPr lang="en-US" altLang="zh-TW" sz="2000" dirty="0">
                    <a:latin typeface="+mj-lt"/>
                  </a:rPr>
                  <a:t>The Decision-BDH Assumption is difficult for pairing </a:t>
                </a:r>
                <a14:m>
                  <m:oMath xmlns:m="http://schemas.openxmlformats.org/officeDocument/2006/math">
                    <m:r>
                      <a:rPr lang="zh-TW" altLang="en-US" sz="20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US" altLang="zh-TW" sz="2000" dirty="0">
                  <a:latin typeface="+mj-lt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zh-TW" altLang="en-US" sz="20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zh-TW" sz="2000" dirty="0">
                    <a:latin typeface="+mj-lt"/>
                  </a:rPr>
                  <a:t> is a secure key derivation function (KDF)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TW" sz="2000" b="0" smtClean="0">
                            <a:latin typeface="Cambria Math" panose="02040503050406030204" pitchFamily="18" charset="0"/>
                          </a:rPr>
                          <m:t>ℰ</m:t>
                        </m:r>
                      </m:e>
                      <m:sub>
                        <m:r>
                          <a:rPr lang="zh-TW" altLang="ar-AE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ar-AE" altLang="zh-TW" sz="2000" dirty="0">
                    <a:latin typeface="+mj-lt"/>
                  </a:rPr>
                  <a:t> </a:t>
                </a:r>
                <a:r>
                  <a:rPr lang="en-US" altLang="zh-TW" sz="2000" dirty="0">
                    <a:latin typeface="+mj-lt"/>
                  </a:rPr>
                  <a:t>is a semantically secure symmetric encryption scheme</a:t>
                </a:r>
              </a:p>
              <a:p>
                <a:pPr lvl="1"/>
                <a:r>
                  <a:rPr lang="en-US" altLang="zh-TW" sz="2000" dirty="0">
                    <a:latin typeface="+mj-lt"/>
                  </a:rPr>
                  <a:t>Then </a:t>
                </a:r>
                <a:r>
                  <a:rPr lang="en-US" altLang="zh-TW" sz="2000" dirty="0" err="1">
                    <a:latin typeface="+mj-lt"/>
                  </a:rPr>
                  <a:t>Boneh-Boyen</a:t>
                </a:r>
                <a:r>
                  <a:rPr lang="en-US" altLang="zh-TW" sz="2000" dirty="0">
                    <a:latin typeface="+mj-lt"/>
                  </a:rPr>
                  <a:t> IBE scheme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ℰ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𝐵𝐵</m:t>
                        </m:r>
                      </m:sub>
                    </m:sSub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dirty="0">
                    <a:latin typeface="+mj-lt"/>
                  </a:rPr>
                  <a:t>is a </a:t>
                </a:r>
                <a:r>
                  <a:rPr lang="en-US" altLang="zh-TW" sz="2000" b="1" dirty="0">
                    <a:latin typeface="+mj-lt"/>
                  </a:rPr>
                  <a:t>selectively secure IBE</a:t>
                </a:r>
                <a:r>
                  <a:rPr lang="en-US" altLang="zh-TW" sz="2000" dirty="0">
                    <a:latin typeface="+mj-lt"/>
                  </a:rPr>
                  <a:t>.</a:t>
                </a:r>
              </a:p>
              <a:p>
                <a:r>
                  <a:rPr lang="en-US" altLang="zh-TW" sz="2000" dirty="0">
                    <a:latin typeface="+mj-lt"/>
                  </a:rPr>
                  <a:t>Upper Bound of Advantage: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000">
                        <a:latin typeface="+mj-lt"/>
                      </a:rPr>
                      <m:t>SelSSadv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ar-AE" sz="2000" b="0" smtClean="0"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  <m:e>
                        <m:sSub>
                          <m:sSubPr>
                            <m:ctrlPr>
                              <a:rPr lang="ar-AE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zh-TW" sz="2000" b="0" smtClean="0">
                                <a:latin typeface="Cambria Math" panose="02040503050406030204" pitchFamily="18" charset="0"/>
                              </a:rPr>
                              <m:t>ℰ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TW" sz="2000" i="1">
                                <a:latin typeface="+mj-lt"/>
                              </a:rPr>
                              <m:t>BB</m:t>
                            </m:r>
                          </m:sub>
                        </m:sSub>
                      </m:e>
                    </m:d>
                    <m:r>
                      <a:rPr lang="ar-AE" altLang="zh-TW" sz="2000" b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altLang="zh-TW" sz="2000" b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altLang="zh-TW" sz="2000" b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en-US" altLang="zh-TW" sz="2000" i="1">
                        <a:latin typeface="+mj-lt"/>
                      </a:rPr>
                      <m:t>DBDHadv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zh-TW" sz="2000" b="0" smtClean="0">
                                <a:latin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zh-TW" altLang="ar-AE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e>
                      <m:e>
                        <m:r>
                          <a:rPr lang="zh-TW" altLang="ar-AE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ar-AE" altLang="zh-TW" sz="2000" b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altLang="zh-TW" sz="2000" b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altLang="zh-TW" sz="2000" b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en-US" altLang="zh-TW" sz="2000" i="1">
                        <a:latin typeface="+mj-lt"/>
                      </a:rPr>
                      <m:t>KDFadv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zh-TW" sz="2000" b="0" smtClean="0">
                                <a:latin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TW" sz="2000" i="1">
                                <a:latin typeface="+mj-lt"/>
                              </a:rPr>
                              <m:t>kdf</m:t>
                            </m:r>
                          </m:sub>
                        </m:sSub>
                        <m:r>
                          <a:rPr lang="zh-TW" alt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e>
                        <m:r>
                          <a:rPr lang="zh-TW" altLang="ar-AE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ar-AE" altLang="zh-TW" sz="2000" b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TW" sz="2000" i="1">
                        <a:latin typeface="+mj-lt"/>
                      </a:rPr>
                      <m:t>SSadv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altLang="zh-TW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zh-TW" sz="2000" b="0" smtClean="0">
                                <a:latin typeface="Cambria Math" panose="02040503050406030204" pitchFamily="18" charset="0"/>
                              </a:rPr>
                              <m:t>ℬ</m:t>
                            </m:r>
                          </m:e>
                          <m:sub>
                            <m:r>
                              <a:rPr lang="zh-TW" altLang="ar-AE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altLang="zh-TW" sz="2000" b="0" smtClean="0">
                                <a:latin typeface="Cambria Math" panose="02040503050406030204" pitchFamily="18" charset="0"/>
                              </a:rPr>
                              <m:t>ℰ</m:t>
                            </m:r>
                          </m:e>
                          <m:sub>
                            <m:r>
                              <a:rPr lang="zh-TW" altLang="ar-AE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sz="2000" dirty="0">
                  <a:latin typeface="+mj-lt"/>
                </a:endParaRPr>
              </a:p>
              <a:p>
                <a:pPr lvl="1"/>
                <a:r>
                  <a:rPr lang="en-US" altLang="zh-TW" sz="2000" dirty="0">
                    <a:latin typeface="+mj-lt"/>
                  </a:rPr>
                  <a:t>There is no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72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zh-TW" sz="2000" dirty="0">
                    <a:latin typeface="+mj-lt"/>
                  </a:rPr>
                  <a:t> because:</a:t>
                </a:r>
              </a:p>
              <a:p>
                <a:pPr lvl="2">
                  <a:spcBef>
                    <a:spcPts val="0"/>
                  </a:spcBef>
                </a:pPr>
                <a:r>
                  <a:rPr lang="en-US" altLang="zh-TW" sz="2000" dirty="0">
                    <a:latin typeface="+mj-lt"/>
                  </a:rPr>
                  <a:t>Using the selective security model</a:t>
                </a:r>
              </a:p>
              <a:p>
                <a:pPr lvl="2">
                  <a:spcBef>
                    <a:spcPts val="0"/>
                  </a:spcBef>
                </a:pPr>
                <a:r>
                  <a:rPr lang="en-US" altLang="zh-TW" sz="2000" dirty="0">
                    <a:latin typeface="+mj-lt"/>
                  </a:rPr>
                  <a:t>No need to guess the adversary's choice in random oracle queries	</a:t>
                </a:r>
                <a:endParaRPr lang="ar-AE" altLang="zh-TW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67FD9361-2CE1-127F-7128-95D33569C4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163" y="2155811"/>
                <a:ext cx="11027673" cy="403708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3597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04657-88A9-5139-F19F-30A0B771E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6452EB4-3EF1-F18B-899B-61A625E75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83" y="665102"/>
            <a:ext cx="10804153" cy="704800"/>
          </a:xfrm>
        </p:spPr>
        <p:txBody>
          <a:bodyPr/>
          <a:lstStyle/>
          <a:p>
            <a:r>
              <a:rPr lang="en-US" altLang="zh-TW" dirty="0"/>
              <a:t>Applications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F012EC5-5222-50F0-F42A-FD1D411B3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3" y="1737597"/>
            <a:ext cx="11027673" cy="4037087"/>
          </a:xfrm>
        </p:spPr>
        <p:txBody>
          <a:bodyPr/>
          <a:lstStyle/>
          <a:p>
            <a:r>
              <a:rPr lang="en-US" altLang="zh-TW" sz="2000" dirty="0">
                <a:latin typeface="+mj-lt"/>
              </a:rPr>
              <a:t>In this section will intro:</a:t>
            </a:r>
          </a:p>
          <a:p>
            <a:pPr lvl="1"/>
            <a:r>
              <a:rPr lang="en-US" altLang="zh-TW" sz="2000" dirty="0">
                <a:latin typeface="+mj-lt"/>
              </a:rPr>
              <a:t>Chosen ciphertext security from IBE</a:t>
            </a:r>
          </a:p>
          <a:p>
            <a:pPr lvl="1"/>
            <a:r>
              <a:rPr lang="en-US" altLang="zh-TW" sz="2000" dirty="0">
                <a:latin typeface="+mj-lt"/>
              </a:rPr>
              <a:t>Signatures from IBE</a:t>
            </a:r>
          </a:p>
          <a:p>
            <a:pPr lvl="1"/>
            <a:r>
              <a:rPr lang="en-US" altLang="zh-TW" sz="2000" dirty="0">
                <a:latin typeface="+mj-lt"/>
              </a:rPr>
              <a:t>Searching on public-key encrypted data</a:t>
            </a:r>
            <a:endParaRPr lang="ar-AE" altLang="zh-TW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65300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1105F-AB7E-F617-F27F-0F81610F3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D9B41AAA-07EA-C9C6-B6E4-44536619E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83" y="665102"/>
            <a:ext cx="11166577" cy="704800"/>
          </a:xfrm>
        </p:spPr>
        <p:txBody>
          <a:bodyPr/>
          <a:lstStyle/>
          <a:p>
            <a:r>
              <a:rPr lang="en-US" altLang="zh-TW" sz="3600" dirty="0"/>
              <a:t>Applications</a:t>
            </a:r>
            <a:r>
              <a:rPr lang="zh-TW" altLang="en-US" sz="3600" dirty="0"/>
              <a:t>──</a:t>
            </a:r>
            <a:r>
              <a:rPr lang="en-US" altLang="zh-TW" sz="3600" dirty="0"/>
              <a:t>Chosen ciphertext security from IBE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2302B214-B4AD-40BB-DDD7-812627B595C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163" y="1517858"/>
                <a:ext cx="11027673" cy="4450551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800" i="1" dirty="0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𝑖𝑑</m:t>
                        </m:r>
                      </m:sub>
                    </m:sSub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altLang="zh-TW" sz="1800" dirty="0">
                    <a:latin typeface="+mj-lt"/>
                  </a:rPr>
                  <a:t>is a </a:t>
                </a:r>
                <a:r>
                  <a:rPr lang="en-US" altLang="zh-TW" sz="1800" dirty="0">
                    <a:solidFill>
                      <a:srgbClr val="FF0000"/>
                    </a:solidFill>
                    <a:latin typeface="+mj-lt"/>
                  </a:rPr>
                  <a:t>selectively secure </a:t>
                </a:r>
                <a:r>
                  <a:rPr lang="en-US" altLang="zh-TW" sz="1800" dirty="0">
                    <a:latin typeface="+mj-lt"/>
                  </a:rPr>
                  <a:t>IBE scheme.</a:t>
                </a:r>
              </a:p>
              <a:p>
                <a14:m>
                  <m:oMath xmlns:m="http://schemas.openxmlformats.org/officeDocument/2006/math">
                    <m:r>
                      <a:rPr lang="zh-TW" altLang="en-US" sz="1800" i="1" dirty="0" smtClean="0">
                        <a:latin typeface="Cambria Math" panose="02040503050406030204" pitchFamily="18" charset="0"/>
                      </a:rPr>
                      <m:t>𝒮</m:t>
                    </m:r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800" i="1" dirty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zh-TW" altLang="en-US" sz="18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8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zh-TW" altLang="en-US" sz="18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800" i="1" dirty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zh-TW" altLang="en-US" sz="18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1800" dirty="0">
                    <a:latin typeface="+mj-lt"/>
                  </a:rPr>
                  <a:t> is a strong one-time signature scheme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  <m:t>𝑔𝑒𝑛𝑒𝑟𝑎𝑡𝑒</m:t>
                        </m:r>
                        <m:r>
                          <a:rPr lang="en-US" altLang="zh-TW" sz="18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  <m:t>𝑘𝑒𝑦</m:t>
                        </m:r>
                      </m:e>
                    </m:d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  <m:t>𝑠𝑖𝑔𝑛𝑎𝑡𝑢𝑟𝑒</m:t>
                        </m:r>
                      </m:e>
                    </m:d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  <m:t>𝑣𝑒𝑟𝑖𝑓𝑖𝑐𝑎𝑡𝑖𝑜𝑛</m:t>
                        </m:r>
                      </m:e>
                    </m:d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sz="1800" dirty="0">
                  <a:latin typeface="+mj-lt"/>
                </a:endParaRPr>
              </a:p>
              <a:p>
                <a:r>
                  <a:rPr lang="en-US" altLang="zh-TW" sz="1800" dirty="0">
                    <a:latin typeface="+mj-lt"/>
                  </a:rPr>
                  <a:t>The signing public key must belong to the IBE identity space: </a:t>
                </a:r>
                <a14:m>
                  <m:oMath xmlns:m="http://schemas.openxmlformats.org/officeDocument/2006/math">
                    <m:r>
                      <a:rPr lang="zh-TW" altLang="en-US" sz="1800" i="1" dirty="0" smtClean="0">
                        <a:latin typeface="Cambria Math" panose="02040503050406030204" pitchFamily="18" charset="0"/>
                      </a:rPr>
                      <m:t>𝑝</m:t>
                    </m:r>
                    <m:sSub>
                      <m:sSubPr>
                        <m:ctrlP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8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zh-TW" altLang="en-US" sz="1800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zh-TW" altLang="en-US" sz="18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𝐼𝐷</m:t>
                    </m:r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sz="1800" dirty="0">
                  <a:latin typeface="+mj-lt"/>
                </a:endParaRPr>
              </a:p>
              <a:p>
                <a:r>
                  <a:rPr lang="en-US" altLang="zh-TW" sz="1800" dirty="0">
                    <a:latin typeface="+mj-lt"/>
                  </a:rPr>
                  <a:t>Constructed CCA-secure PKE </a:t>
                </a:r>
                <a14:m>
                  <m:oMath xmlns:m="http://schemas.openxmlformats.org/officeDocument/2006/math"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ℰ</m:t>
                    </m:r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800" i="1" dirty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zh-TW" altLang="en-US" sz="18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80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zh-TW" altLang="en-US" sz="18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1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1800" i="1" dirty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zh-TW" altLang="en-US" sz="18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e>
                    </m:d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altLang="zh-TW" sz="1800" dirty="0">
                  <a:latin typeface="+mj-lt"/>
                </a:endParaRPr>
              </a:p>
              <a:p>
                <a:r>
                  <a:rPr lang="en-US" altLang="zh-TW" sz="1800" b="1" dirty="0">
                    <a:latin typeface="+mj-lt"/>
                  </a:rPr>
                  <a:t>Key generation</a:t>
                </a:r>
                <a:r>
                  <a:rPr lang="en-US" altLang="zh-TW" sz="18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8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zh-TW" altLang="en-US" sz="1800" i="1" dirty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en-US" altLang="zh-TW" sz="1800" i="1" dirty="0">
                            <a:latin typeface="Cambria Math" panose="02040503050406030204" pitchFamily="18" charset="0"/>
                          </a:rPr>
                        </m:ctrlPr>
                      </m:dPr>
                      <m:e/>
                    </m:d>
                  </m:oMath>
                </a14:m>
                <a:r>
                  <a:rPr lang="en-US" altLang="zh-TW" sz="1800" dirty="0">
                    <a:latin typeface="+mj-lt"/>
                  </a:rPr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1800" i="1" dirty="0" err="1">
                        <a:latin typeface="Cambria Math" panose="02040503050406030204" pitchFamily="18" charset="0"/>
                      </a:rPr>
                      <m:t>𝑚𝑝𝑘</m:t>
                    </m:r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1800" i="1" dirty="0" err="1">
                        <a:latin typeface="Cambria Math" panose="02040503050406030204" pitchFamily="18" charset="0"/>
                      </a:rPr>
                      <m:t>𝑚𝑠𝑘</m:t>
                    </m:r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) ← </m:t>
                    </m:r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() </m:t>
                    </m:r>
                  </m:oMath>
                </a14:m>
                <a:r>
                  <a:rPr lang="en-US" altLang="zh-TW" sz="1800" dirty="0">
                    <a:latin typeface="+mj-lt"/>
                  </a:rPr>
                  <a:t># IBE master key pair</a:t>
                </a:r>
              </a:p>
              <a:p>
                <a:pPr lvl="1"/>
                <a:r>
                  <a:rPr lang="en-US" altLang="zh-TW" sz="1800" dirty="0">
                    <a:latin typeface="+mj-lt"/>
                  </a:rPr>
                  <a:t>Output </a:t>
                </a:r>
                <a14:m>
                  <m:oMath xmlns:m="http://schemas.openxmlformats.org/officeDocument/2006/math"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𝑝𝑘</m:t>
                    </m:r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1800" i="1" dirty="0" err="1" smtClean="0">
                        <a:latin typeface="Cambria Math" panose="02040503050406030204" pitchFamily="18" charset="0"/>
                      </a:rPr>
                      <m:t>𝑠𝑘</m:t>
                    </m:r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) = (</m:t>
                    </m:r>
                    <m:r>
                      <a:rPr lang="en-US" altLang="zh-TW" sz="1800" i="1" dirty="0" err="1" smtClean="0">
                        <a:latin typeface="Cambria Math" panose="02040503050406030204" pitchFamily="18" charset="0"/>
                      </a:rPr>
                      <m:t>𝑚𝑝𝑘</m:t>
                    </m:r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1800" i="1" dirty="0" err="1" smtClean="0">
                        <a:latin typeface="Cambria Math" panose="02040503050406030204" pitchFamily="18" charset="0"/>
                      </a:rPr>
                      <m:t>𝑚𝑠𝑘</m:t>
                    </m:r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altLang="zh-TW" sz="1800" dirty="0">
                    <a:latin typeface="+mj-lt"/>
                  </a:rPr>
                  <a:t># Serves as the PKE key pair</a:t>
                </a:r>
              </a:p>
              <a:p>
                <a:r>
                  <a:rPr lang="en-US" altLang="zh-TW" sz="1800" b="1" dirty="0">
                    <a:latin typeface="+mj-lt"/>
                  </a:rPr>
                  <a:t>Encryption</a:t>
                </a:r>
                <a:r>
                  <a:rPr lang="zh-TW" altLang="en-US" sz="1800" dirty="0">
                    <a:latin typeface="+mj-lt"/>
                  </a:rPr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sz="18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zh-TW" altLang="ar-AE" sz="18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sepChr m:val=","/>
                        <m:ctrlPr>
                          <a:rPr lang="ar-AE" altLang="zh-TW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ar-AE" sz="1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e>
                        <m:r>
                          <a:rPr lang="zh-TW" altLang="ar-AE" sz="1800" i="1">
                            <a:latin typeface="Cambria Math" panose="02040503050406030204" pitchFamily="18" charset="0"/>
                          </a:rPr>
                          <m:t>𝑝𝑘𝑚</m:t>
                        </m:r>
                      </m:e>
                    </m:d>
                  </m:oMath>
                </a14:m>
                <a:r>
                  <a:rPr lang="zh-TW" altLang="ar-AE" sz="1800" dirty="0">
                    <a:latin typeface="+mj-lt"/>
                  </a:rPr>
                  <a:t>：</a:t>
                </a:r>
                <a:endParaRPr lang="en-US" altLang="zh-TW" sz="1800" dirty="0">
                  <a:latin typeface="+mj-lt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800" i="1" dirty="0" err="1">
                            <a:latin typeface="Cambria Math" panose="02040503050406030204" pitchFamily="18" charset="0"/>
                          </a:rPr>
                          <m:t>𝑝</m:t>
                        </m:r>
                        <m:sSub>
                          <m:sSubPr>
                            <m:ctrlPr>
                              <a:rPr lang="en-US" altLang="zh-TW" sz="18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dirty="0" err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1800" i="1" dirty="0" err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800" i="1" dirty="0" err="1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altLang="zh-TW" sz="18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dirty="0" err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1800" i="1" dirty="0" err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zh-TW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altLang="zh-TW" sz="1800" i="1" dirty="0">
                            <a:latin typeface="Cambria Math" panose="02040503050406030204" pitchFamily="18" charset="0"/>
                          </a:rPr>
                        </m:ctrlPr>
                      </m:dPr>
                      <m:e/>
                    </m:d>
                  </m:oMath>
                </a14:m>
                <a:r>
                  <a:rPr lang="en-US" altLang="zh-TW" sz="1800" dirty="0">
                    <a:latin typeface="+mj-lt"/>
                  </a:rPr>
                  <a:t> # Generate a one-time signature key pair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800" i="1" dirty="0" err="1">
                            <a:latin typeface="Cambria Math" panose="02040503050406030204" pitchFamily="18" charset="0"/>
                          </a:rPr>
                          <m:t>𝑚𝑝𝑘</m:t>
                        </m:r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800" i="1" dirty="0" err="1">
                            <a:latin typeface="Cambria Math" panose="02040503050406030204" pitchFamily="18" charset="0"/>
                          </a:rPr>
                          <m:t>𝑝</m:t>
                        </m:r>
                        <m:sSub>
                          <m:sSubPr>
                            <m:ctrlPr>
                              <a:rPr lang="en-US" altLang="zh-TW" sz="18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dirty="0" err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1800" i="1" dirty="0" err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altLang="zh-TW" sz="1800" dirty="0">
                    <a:latin typeface="+mj-lt"/>
                  </a:rPr>
                  <a:t> # Encrypt using </a:t>
                </a:r>
                <a:r>
                  <a:rPr lang="en-US" altLang="zh-TW" sz="1800" dirty="0" err="1">
                    <a:latin typeface="+mj-lt"/>
                  </a:rPr>
                  <a:t>pk_s</a:t>
                </a:r>
                <a:r>
                  <a:rPr lang="en-US" altLang="zh-TW" sz="1800" dirty="0">
                    <a:latin typeface="+mj-lt"/>
                  </a:rPr>
                  <a:t> as the identity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800" i="1" dirty="0" err="1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altLang="zh-TW" sz="18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dirty="0" err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1800" i="1" dirty="0" err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altLang="zh-TW" sz="1800" dirty="0">
                    <a:latin typeface="+mj-lt"/>
                  </a:rPr>
                  <a:t># Sign the ciphertext</a:t>
                </a:r>
              </a:p>
              <a:p>
                <a:pPr lvl="1"/>
                <a:r>
                  <a:rPr lang="en-US" altLang="zh-TW" sz="1800" dirty="0">
                    <a:latin typeface="+mj-lt"/>
                  </a:rPr>
                  <a:t>Output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800" i="1" dirty="0" err="1">
                            <a:latin typeface="Cambria Math" panose="02040503050406030204" pitchFamily="18" charset="0"/>
                          </a:rPr>
                          <m:t>𝑝</m:t>
                        </m:r>
                        <m:sSub>
                          <m:sSubPr>
                            <m:ctrlPr>
                              <a:rPr lang="en-US" altLang="zh-TW" sz="18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dirty="0" err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1800" i="1" dirty="0" err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</m:oMath>
                </a14:m>
                <a:r>
                  <a:rPr lang="en-US" altLang="zh-TW" sz="1800" dirty="0">
                    <a:latin typeface="+mj-lt"/>
                  </a:rPr>
                  <a:t># Final ciphertext</a:t>
                </a:r>
              </a:p>
              <a:p>
                <a:r>
                  <a:rPr lang="en-US" altLang="zh-TW" sz="1800" b="1" dirty="0">
                    <a:latin typeface="+mj-lt"/>
                  </a:rPr>
                  <a:t>Decryption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zh-TW" altLang="ar-AE" sz="18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sepChr m:val=","/>
                        <m:ctrlPr>
                          <a:rPr lang="ar-AE" altLang="zh-TW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ar-AE" sz="1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e>
                        <m:r>
                          <a:rPr lang="zh-TW" altLang="ar-AE" sz="1800" i="1">
                            <a:latin typeface="Cambria Math" panose="02040503050406030204" pitchFamily="18" charset="0"/>
                          </a:rPr>
                          <m:t>𝑠𝑘</m:t>
                        </m:r>
                        <m:d>
                          <m:dPr>
                            <m:sepChr m:val=","/>
                            <m:ctrlPr>
                              <a:rPr lang="ar-AE" altLang="zh-TW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ar-AE" sz="1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e>
                            <m:r>
                              <a:rPr lang="zh-TW" altLang="ar-AE" sz="18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e>
                            <m:sSub>
                              <m:sSubPr>
                                <m:ctrlPr>
                                  <a:rPr lang="ar-AE" altLang="zh-TW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ar-AE" sz="18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zh-TW" altLang="ar-AE" sz="18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zh-TW" altLang="ar-AE" sz="18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d>
                      </m:e>
                    </m:d>
                  </m:oMath>
                </a14:m>
                <a:r>
                  <a:rPr lang="zh-TW" altLang="ar-AE" sz="1800" dirty="0">
                    <a:latin typeface="+mj-lt"/>
                  </a:rPr>
                  <a:t>：</a:t>
                </a:r>
                <a:endParaRPr lang="en-US" altLang="zh-TW" sz="1800" dirty="0">
                  <a:latin typeface="+mj-lt"/>
                </a:endParaRPr>
              </a:p>
              <a:p>
                <a:pPr lvl="1"/>
                <a:r>
                  <a:rPr lang="en-US" altLang="zh-TW" sz="1800" dirty="0">
                    <a:latin typeface="+mj-lt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800" i="1" dirty="0" err="1" smtClean="0">
                            <a:latin typeface="Cambria Math" panose="02040503050406030204" pitchFamily="18" charset="0"/>
                          </a:rPr>
                          <m:t>𝑝</m:t>
                        </m:r>
                        <m:sSub>
                          <m:sSubPr>
                            <m:ctrlPr>
                              <a:rPr lang="en-US" altLang="zh-TW" sz="18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dirty="0" err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1800" i="1" dirty="0" err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,</m:t>
                        </m:r>
                      </m:e>
                    </m:d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1800" dirty="0">
                    <a:latin typeface="+mj-lt"/>
                  </a:rPr>
                  <a:t> reject, output reject and stop</a:t>
                </a:r>
              </a:p>
              <a:p>
                <a:pPr lvl="1"/>
                <a:r>
                  <a:rPr lang="en-US" altLang="zh-TW" sz="1800" dirty="0">
                    <a:latin typeface="+mj-lt"/>
                  </a:rPr>
                  <a:t>otherwise, </a:t>
                </a:r>
                <a14:m>
                  <m:oMath xmlns:m="http://schemas.openxmlformats.org/officeDocument/2006/math"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𝑠𝑘</m:t>
                    </m:r>
                    <m:groupChr>
                      <m:groupChrPr>
                        <m:chr m:val="←"/>
                        <m:vertJc m:val="bot"/>
                        <m:ctrlP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TW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800" i="1" dirty="0" err="1">
                            <a:latin typeface="Cambria Math" panose="02040503050406030204" pitchFamily="18" charset="0"/>
                          </a:rPr>
                          <m:t>𝑚𝑠𝑘</m:t>
                        </m:r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800" i="1" dirty="0" err="1" smtClean="0">
                            <a:latin typeface="Cambria Math" panose="02040503050406030204" pitchFamily="18" charset="0"/>
                          </a:rPr>
                          <m:t>𝑝</m:t>
                        </m:r>
                        <m:sSub>
                          <m:sSubPr>
                            <m:ctrlPr>
                              <a:rPr lang="en-US" altLang="zh-TW" sz="18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800" i="1" dirty="0" err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1800" i="1" dirty="0" err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180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1800" i="1" dirty="0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TW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800" i="1" dirty="0" err="1">
                            <a:latin typeface="Cambria Math" panose="02040503050406030204" pitchFamily="18" charset="0"/>
                          </a:rPr>
                          <m:t>𝑠𝑘</m:t>
                        </m:r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altLang="zh-TW" sz="1800" dirty="0">
                    <a:latin typeface="+mj-lt"/>
                  </a:rPr>
                  <a:t>, output m.</a:t>
                </a:r>
                <a:endParaRPr lang="ar-AE" altLang="zh-TW" sz="1800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2302B214-B4AD-40BB-DDD7-812627B595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163" y="1517858"/>
                <a:ext cx="11027673" cy="4450551"/>
              </a:xfrm>
              <a:blipFill>
                <a:blip r:embed="rId3"/>
                <a:stretch>
                  <a:fillRect b="-58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9007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5DFC3-BDC3-D3DF-0057-B7EC28507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08BE30F0-884A-6248-47F8-2C0835BDA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83" y="665102"/>
            <a:ext cx="11166577" cy="704800"/>
          </a:xfrm>
        </p:spPr>
        <p:txBody>
          <a:bodyPr/>
          <a:lstStyle/>
          <a:p>
            <a:r>
              <a:rPr lang="en-US" altLang="zh-TW" sz="3600" dirty="0"/>
              <a:t>Applications</a:t>
            </a:r>
            <a:r>
              <a:rPr lang="zh-TW" altLang="en-US" sz="3600" dirty="0"/>
              <a:t>──</a:t>
            </a:r>
            <a:r>
              <a:rPr lang="en-US" altLang="zh-TW" sz="3600" dirty="0"/>
              <a:t>Chosen ciphertext security from IBE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B1014045-1CCB-E53B-545F-8C5A400D553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163" y="1517858"/>
                <a:ext cx="11027673" cy="4450551"/>
              </a:xfrm>
            </p:spPr>
            <p:txBody>
              <a:bodyPr/>
              <a:lstStyle/>
              <a:p>
                <a:r>
                  <a:rPr lang="en-US" altLang="zh-TW" sz="1800" dirty="0">
                    <a:latin typeface="+mj-lt"/>
                  </a:rPr>
                  <a:t>Security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𝐶𝐶𝐴𝑎𝑑𝑣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TW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err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i="1" dirty="0" err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​⋅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</a:rPr>
                      <m:t>𝑆𝑒𝑙𝑆𝑆𝑎𝑑𝑣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​,</m:t>
                        </m:r>
                        <m:sSub>
                          <m:sSub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𝑖𝑑</m:t>
                            </m:r>
                          </m:sub>
                        </m:s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err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i="1" dirty="0" err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​⋅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</a:rPr>
                      <m:t>𝑠𝑡𝑆𝐼𝐺𝑎𝑑𝑣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​,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US" altLang="zh-TW" sz="1800" dirty="0">
                  <a:latin typeface="+mj-lt"/>
                </a:endParaRPr>
              </a:p>
              <a:p>
                <a:r>
                  <a:rPr lang="en-US" altLang="zh-TW" sz="1800" b="1" dirty="0">
                    <a:latin typeface="+mj-lt"/>
                  </a:rPr>
                  <a:t>Proof</a:t>
                </a:r>
              </a:p>
              <a:p>
                <a:r>
                  <a:rPr lang="en-US" altLang="zh-TW" sz="1800" dirty="0">
                    <a:latin typeface="+mj-lt"/>
                  </a:rPr>
                  <a:t>Attack game 1 (Dealing with signature forgery,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1800" dirty="0">
                    <a:latin typeface="+mj-lt"/>
                  </a:rPr>
                  <a:t>)</a:t>
                </a:r>
              </a:p>
              <a:p>
                <a:pPr lvl="1"/>
                <a:r>
                  <a:rPr lang="en-US" altLang="zh-TW" sz="1800" dirty="0">
                    <a:latin typeface="+mj-lt"/>
                  </a:rPr>
                  <a:t>If the adversary submits a decryption query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1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18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altLang="zh-TW" sz="1800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TW" altLang="en-US" sz="1800" i="1" dirty="0">
                            <a:latin typeface="Cambria Math" panose="02040503050406030204" pitchFamily="18" charset="0"/>
                          </a:rPr>
                          <m:t>𝑝</m:t>
                        </m:r>
                        <m:sSubSup>
                          <m:sSubSupPr>
                            <m:ctrlPr>
                              <a:rPr lang="en-US" altLang="zh-TW" sz="18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800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zh-TW" altLang="en-US" sz="18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altLang="zh-TW" sz="1800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sz="1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18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TW" sz="1800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1800" dirty="0">
                    <a:latin typeface="+mj-lt"/>
                  </a:rPr>
                  <a:t> satisfying:</a:t>
                </a: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zh-TW" altLang="en-US" sz="1800" i="1" dirty="0" smtClean="0">
                        <a:latin typeface="Cambria Math" panose="02040503050406030204" pitchFamily="18" charset="0"/>
                      </a:rPr>
                      <m:t>𝑝</m:t>
                    </m:r>
                    <m:sSubSup>
                      <m:sSubSupPr>
                        <m:ctrlP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sz="18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zh-TW" altLang="en-US" sz="1800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sz="1800" i="1" dirty="0">
                        <a:latin typeface="Cambria Math" panose="02040503050406030204" pitchFamily="18" charset="0"/>
                      </a:rPr>
                      <m:t>𝑝</m:t>
                    </m:r>
                    <m:sSubSup>
                      <m:sSubSupPr>
                        <m:ctrlPr>
                          <a:rPr lang="en-US" altLang="zh-TW" sz="18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en-US" sz="18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zh-TW" altLang="en-US" sz="1800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zh-TW" sz="1800" dirty="0">
                    <a:latin typeface="+mj-lt"/>
                  </a:rPr>
                  <a:t>(the signature public key in the challenge ciphertext)</a:t>
                </a:r>
              </a:p>
              <a:p>
                <a:pPr lvl="2">
                  <a:spcBef>
                    <a:spcPts val="0"/>
                  </a:spcBef>
                </a:pPr>
                <a:r>
                  <a:rPr lang="en-US" altLang="zh-TW" sz="1800" dirty="0">
                    <a:latin typeface="+mj-lt"/>
                  </a:rPr>
                  <a:t>(</a:t>
                </a:r>
                <a:r>
                  <a:rPr lang="zh-TW" altLang="en-US" sz="1800" dirty="0">
                    <a:latin typeface="+mj-lt"/>
                  </a:rPr>
                  <a:t>𝑐</a:t>
                </a:r>
                <a:r>
                  <a:rPr lang="en-US" altLang="zh-TW" sz="1800" dirty="0">
                    <a:latin typeface="+mj-lt"/>
                  </a:rPr>
                  <a:t>^′,</a:t>
                </a:r>
                <a:r>
                  <a:rPr lang="zh-TW" altLang="en-US" sz="1800" dirty="0">
                    <a:latin typeface="+mj-lt"/>
                  </a:rPr>
                  <a:t>𝜎</a:t>
                </a:r>
                <a:r>
                  <a:rPr lang="en-US" altLang="zh-TW" sz="1800" dirty="0">
                    <a:latin typeface="+mj-lt"/>
                  </a:rPr>
                  <a:t>^′)≠(</a:t>
                </a:r>
                <a:r>
                  <a:rPr lang="zh-TW" altLang="en-US" sz="1800" dirty="0">
                    <a:latin typeface="+mj-lt"/>
                  </a:rPr>
                  <a:t>𝑐</a:t>
                </a:r>
                <a:r>
                  <a:rPr lang="en-US" altLang="zh-TW" sz="1800" dirty="0">
                    <a:latin typeface="+mj-lt"/>
                  </a:rPr>
                  <a:t>^∗,</a:t>
                </a:r>
                <a:r>
                  <a:rPr lang="zh-TW" altLang="en-US" sz="1800" dirty="0">
                    <a:latin typeface="+mj-lt"/>
                  </a:rPr>
                  <a:t>𝜎</a:t>
                </a:r>
                <a:r>
                  <a:rPr lang="en-US" altLang="zh-TW" sz="1800" dirty="0">
                    <a:latin typeface="+mj-lt"/>
                  </a:rPr>
                  <a:t>^∗) (but not the challenge ciphertext itself)</a:t>
                </a:r>
              </a:p>
              <a:p>
                <a:pPr lvl="2">
                  <a:spcBef>
                    <a:spcPts val="0"/>
                  </a:spcBef>
                </a:pPr>
                <a:r>
                  <a:rPr lang="en-US" altLang="zh-TW" sz="1800" dirty="0">
                    <a:latin typeface="+mj-lt"/>
                  </a:rPr>
                  <a:t> then the signature verification passes: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18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zh-TW" altLang="en-US" sz="1800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altLang="zh-TW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1800" i="1" dirty="0">
                            <a:latin typeface="Cambria Math" panose="02040503050406030204" pitchFamily="18" charset="0"/>
                          </a:rPr>
                          <m:t>𝑝</m:t>
                        </m:r>
                        <m:sSubSup>
                          <m:sSubSupPr>
                            <m:ctrlPr>
                              <a:rPr lang="en-US" altLang="zh-TW" sz="18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1800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zh-TW" altLang="en-US" sz="18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altLang="zh-TW" sz="1800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sz="1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18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altLang="zh-TW" sz="1800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sz="1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18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TW" sz="1800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TW" sz="1800" dirty="0">
                    <a:latin typeface="+mj-lt"/>
                  </a:rPr>
                  <a:t>="accept“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𝑠𝑡𝑆𝐼𝐺𝑎𝑑𝑣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​</m:t>
                        </m:r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 err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TW" i="1" dirty="0" err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i="1" dirty="0" err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</a:rPr>
                      <m:t>𝑃</m:t>
                    </m:r>
                    <m:func>
                      <m:func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TW" i="1" dirty="0" err="1">
                            <a:latin typeface="Cambria Math" panose="02040503050406030204" pitchFamily="18" charset="0"/>
                          </a:rPr>
                          <m:t>𝑟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i="0" dirty="0" smtClean="0">
                                    <a:latin typeface="+mj-lt"/>
                                  </a:rPr>
                                  <m:t> 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altLang="zh-TW" dirty="0">
                                <a:latin typeface="+mj-lt"/>
                              </a:rPr>
                              <m:t>outputs</m:t>
                            </m:r>
                            <m:r>
                              <m:rPr>
                                <m:nor/>
                              </m:rPr>
                              <a:rPr lang="en-US" altLang="zh-TW" dirty="0">
                                <a:latin typeface="+mj-lt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dirty="0">
                                <a:latin typeface="+mj-lt"/>
                              </a:rPr>
                              <m:t>a</m:t>
                            </m:r>
                            <m:r>
                              <m:rPr>
                                <m:nor/>
                              </m:rPr>
                              <a:rPr lang="en-US" altLang="zh-TW" dirty="0">
                                <a:latin typeface="+mj-lt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dirty="0">
                                <a:latin typeface="+mj-lt"/>
                              </a:rPr>
                              <m:t>valid</m:t>
                            </m:r>
                            <m:r>
                              <m:rPr>
                                <m:nor/>
                              </m:rPr>
                              <a:rPr lang="en-US" altLang="zh-TW" dirty="0">
                                <a:latin typeface="+mj-lt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dirty="0">
                                <a:latin typeface="+mj-lt"/>
                              </a:rPr>
                              <m:t>forged</m:t>
                            </m:r>
                            <m:r>
                              <m:rPr>
                                <m:nor/>
                              </m:rPr>
                              <a:rPr lang="en-US" altLang="zh-TW" dirty="0">
                                <a:latin typeface="+mj-lt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dirty="0">
                                <a:latin typeface="+mj-lt"/>
                              </a:rPr>
                              <m:t>signature</m:t>
                            </m:r>
                          </m:e>
                        </m:d>
                      </m:e>
                    </m:func>
                  </m:oMath>
                </a14:m>
                <a:endParaRPr lang="en-US" altLang="zh-TW" sz="1800" dirty="0">
                  <a:latin typeface="+mj-lt"/>
                </a:endParaRPr>
              </a:p>
              <a:p>
                <a:pPr lvl="1"/>
                <a:r>
                  <a:rPr lang="en-US" altLang="zh-TW" dirty="0">
                    <a:latin typeface="+mj-lt"/>
                  </a:rPr>
                  <a:t>Multiple queries do linearly increase the adversary's advantage.</a:t>
                </a: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>
                        <a:latin typeface="+mj-lt"/>
                      </a:rPr>
                      <m:t>∣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𝐴𝑑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US" altLang="zh-TW">
                        <a:latin typeface="+mj-lt"/>
                      </a:rPr>
                      <m:t>​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+mj-lt"/>
                      </a:rPr>
                      <m:t> </m:t>
                    </m:r>
                    <m:r>
                      <m:rPr>
                        <m:nor/>
                      </m:rPr>
                      <a:rPr lang="en-US" altLang="zh-TW">
                        <a:latin typeface="+mj-lt"/>
                      </a:rPr>
                      <m:t>−</m:t>
                    </m:r>
                    <m:r>
                      <m:rPr>
                        <m:nor/>
                      </m:rPr>
                      <a:rPr lang="en-US" altLang="zh-TW" b="0" i="0" smtClean="0">
                        <a:latin typeface="+mj-lt"/>
                      </a:rPr>
                      <m:t> </m:t>
                    </m:r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𝐴𝑑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zh-TW">
                        <a:latin typeface="+mj-lt"/>
                      </a:rPr>
                      <m:t>​∣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TW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altLang="zh-TW" b="0" i="0" dirty="0" smtClean="0">
                        <a:latin typeface="Cambria Math" panose="02040503050406030204" pitchFamily="18" charset="0"/>
                      </a:rPr>
                      <m:t>single</m:t>
                    </m:r>
                    <m:r>
                      <m:rPr>
                        <m:nor/>
                      </m:rPr>
                      <a:rPr lang="en-US" altLang="zh-TW" b="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TW" b="0" i="0" dirty="0" smtClean="0">
                        <a:latin typeface="Cambria Math" panose="02040503050406030204" pitchFamily="18" charset="0"/>
                      </a:rPr>
                      <m:t>query</m:t>
                    </m:r>
                    <m:r>
                      <m:rPr>
                        <m:nor/>
                      </m:rPr>
                      <a:rPr lang="en-US" altLang="zh-TW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TW" b="0" i="0" dirty="0" smtClean="0">
                        <a:latin typeface="Cambria Math" panose="02040503050406030204" pitchFamily="18" charset="0"/>
                      </a:rPr>
                      <m:t>advantage</m:t>
                    </m:r>
                  </m:oMath>
                </a14:m>
                <a:r>
                  <a:rPr lang="en-US" altLang="zh-TW" dirty="0">
                    <a:latin typeface="+mj-lt"/>
                  </a:rPr>
                  <a:t> </a:t>
                </a: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>
                        <a:latin typeface="+mj-lt"/>
                      </a:rPr>
                      <m:t>∣</m:t>
                    </m:r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𝐴𝑑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​−</m:t>
                    </m:r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𝐴𝑑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zh-TW">
                        <a:latin typeface="+mj-lt"/>
                      </a:rPr>
                      <m:t>​∣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TW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TW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𝑠𝑡𝑆𝐼𝐺𝑎𝑑𝑣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​,</m:t>
                        </m:r>
                        <m:sSub>
                          <m:sSubPr>
                            <m:ctrlPr>
                              <a:rPr lang="en-US" altLang="zh-TW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endParaRPr lang="en-US" altLang="zh-TW" dirty="0">
                  <a:latin typeface="+mj-lt"/>
                </a:endParaRP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zh-TW" dirty="0" err="1">
                    <a:latin typeface="+mj-lt"/>
                  </a:rPr>
                  <a:t>Number</a:t>
                </a:r>
                <a:r>
                  <a:rPr lang="en-US" altLang="zh-TW" dirty="0">
                    <a:latin typeface="+mj-lt"/>
                  </a:rPr>
                  <a:t> of encrypted queries</a:t>
                </a:r>
                <a:endParaRPr lang="zh-TW" alt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B1014045-1CCB-E53B-545F-8C5A400D55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163" y="1517858"/>
                <a:ext cx="11027673" cy="445055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4388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38FA6-DC8D-E55F-636D-29BAFA7E6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1CDCCDC3-436D-C0B1-2996-DBBEA8F38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83" y="665102"/>
            <a:ext cx="11166577" cy="704800"/>
          </a:xfrm>
        </p:spPr>
        <p:txBody>
          <a:bodyPr/>
          <a:lstStyle/>
          <a:p>
            <a:r>
              <a:rPr lang="en-US" altLang="zh-TW" sz="3600" dirty="0"/>
              <a:t>Applications</a:t>
            </a:r>
            <a:r>
              <a:rPr lang="zh-TW" altLang="en-US" sz="3600" dirty="0"/>
              <a:t>──</a:t>
            </a:r>
            <a:r>
              <a:rPr lang="en-US" altLang="zh-TW" sz="3600" dirty="0"/>
              <a:t>Chosen ciphertext security from IBE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1C9B4D04-0C6C-2045-79CC-329D9E3831D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163" y="1517858"/>
                <a:ext cx="11027673" cy="4450551"/>
              </a:xfrm>
            </p:spPr>
            <p:txBody>
              <a:bodyPr/>
              <a:lstStyle/>
              <a:p>
                <a:r>
                  <a:rPr lang="en-US" altLang="zh-TW" sz="1800" dirty="0">
                    <a:latin typeface="+mj-lt"/>
                  </a:rPr>
                  <a:t>Security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𝐶𝐶𝐴𝑎𝑑𝑣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TW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err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i="1" dirty="0" err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​⋅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</a:rPr>
                      <m:t>𝑆𝑒𝑙𝑆𝑆𝑎𝑑𝑣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​,</m:t>
                        </m:r>
                        <m:sSub>
                          <m:sSub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𝑖𝑑</m:t>
                            </m:r>
                          </m:sub>
                        </m:s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err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i="1" dirty="0" err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​⋅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</a:rPr>
                      <m:t>𝑠𝑡𝑆𝐼𝐺𝑎𝑑𝑣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​,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US" altLang="zh-TW" sz="1800" dirty="0">
                  <a:latin typeface="+mj-lt"/>
                </a:endParaRPr>
              </a:p>
              <a:p>
                <a:r>
                  <a:rPr lang="en-US" altLang="zh-TW" sz="1800" b="1" dirty="0">
                    <a:latin typeface="+mj-lt"/>
                  </a:rPr>
                  <a:t>Proof</a:t>
                </a:r>
              </a:p>
              <a:p>
                <a:r>
                  <a:rPr lang="en-US" altLang="zh-TW" sz="1800" dirty="0">
                    <a:latin typeface="+mj-lt"/>
                  </a:rPr>
                  <a:t>Attack game 2 (Reduction to IBE safety,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TW" sz="1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1800" dirty="0">
                    <a:latin typeface="+mj-lt"/>
                  </a:rPr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𝐴𝑑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​=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</a:rPr>
                      <m:t>𝑆𝑒𝑙𝑆𝑆𝑎𝑑𝑣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​,</m:t>
                        </m:r>
                        <m:sSub>
                          <m:sSub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𝑖𝑑</m:t>
                            </m:r>
                          </m:sub>
                        </m:s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d>
                  </m:oMath>
                </a14:m>
                <a:endParaRPr lang="en-US" altLang="zh-TW" dirty="0">
                  <a:latin typeface="+mj-lt"/>
                </a:endParaRPr>
              </a:p>
              <a:p>
                <a:r>
                  <a:rPr lang="en-US" altLang="zh-TW" dirty="0">
                    <a:latin typeface="+mj-lt"/>
                  </a:rPr>
                  <a:t>The final advantage combination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𝐶𝐶𝐴𝑎𝑑𝑣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</a:rPr>
                      <m:t>𝑆𝑒𝑙𝑆𝑆𝑎𝑑𝑣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​,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𝑖𝑑</m:t>
                            </m:r>
                          </m:sub>
                        </m:s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err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i="1" dirty="0" err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​⋅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</a:rPr>
                      <m:t>𝑠𝑡𝑆𝐼𝐺𝑎𝑑𝑣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​,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US" altLang="zh-TW" sz="1800" dirty="0"/>
              </a:p>
              <a:p>
                <a:r>
                  <a:rPr lang="en-US" altLang="zh-TW" dirty="0"/>
                  <a:t>But since the adversary may make </a:t>
                </a:r>
                <a:r>
                  <a:rPr lang="zh-TW" altLang="en-US" dirty="0"/>
                  <a:t>𝑄</a:t>
                </a:r>
                <a:r>
                  <a:rPr lang="en-US" altLang="zh-TW" dirty="0"/>
                  <a:t>_</a:t>
                </a:r>
                <a:r>
                  <a:rPr lang="zh-TW" altLang="en-US" dirty="0"/>
                  <a:t>𝑒 </a:t>
                </a:r>
                <a:r>
                  <a:rPr lang="en-US" altLang="zh-TW" dirty="0"/>
                  <a:t>encrypted queries, we need to consider the worst case: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𝐶𝐶𝐴𝑎𝑑𝑣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TW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err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i="1" dirty="0" err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​⋅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</a:rPr>
                      <m:t>𝑆𝑒𝑙𝑆𝑆𝑎𝑑𝑣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​,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𝑖𝑑</m:t>
                            </m:r>
                          </m:sub>
                        </m:s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dirty="0" err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TW" i="1" dirty="0" err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​⋅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</a:rPr>
                      <m:t>𝑠𝑡𝑆𝐼𝐺𝑎𝑑𝑣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​,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endParaRPr lang="en-US" altLang="zh-TW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1C9B4D04-0C6C-2045-79CC-329D9E3831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163" y="1517858"/>
                <a:ext cx="11027673" cy="445055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690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77DC5-7AFB-6FAA-FE3F-CDE929698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A4686015-52BD-9FAC-857E-B568BCFB9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83" y="665102"/>
            <a:ext cx="11166577" cy="704800"/>
          </a:xfrm>
        </p:spPr>
        <p:txBody>
          <a:bodyPr/>
          <a:lstStyle/>
          <a:p>
            <a:r>
              <a:rPr lang="en-US" altLang="zh-TW" sz="3600" dirty="0"/>
              <a:t>Applications</a:t>
            </a:r>
            <a:r>
              <a:rPr lang="zh-TW" altLang="en-US" sz="3600" dirty="0"/>
              <a:t>──</a:t>
            </a:r>
            <a:r>
              <a:rPr lang="en-US" altLang="zh-TW" sz="3600" dirty="0"/>
              <a:t>Signatures from IBE</a:t>
            </a:r>
            <a:br>
              <a:rPr lang="en-US" altLang="zh-TW" sz="3600" dirty="0"/>
            </a:b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939AB28F-1C38-5AE2-FBA8-BB88BBC6431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163" y="1737597"/>
                <a:ext cx="11027673" cy="4037087"/>
              </a:xfrm>
            </p:spPr>
            <p:txBody>
              <a:bodyPr/>
              <a:lstStyle/>
              <a:p>
                <a:r>
                  <a:rPr lang="en-US" altLang="zh-TW" sz="2000" dirty="0">
                    <a:latin typeface="+mj-lt"/>
                  </a:rPr>
                  <a:t>Specific Construction Method:</a:t>
                </a:r>
              </a:p>
              <a:p>
                <a:pPr lvl="1"/>
                <a:r>
                  <a:rPr lang="en-US" altLang="zh-TW" sz="2000" dirty="0">
                    <a:latin typeface="+mj-lt"/>
                  </a:rPr>
                  <a:t>An IBE scheme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+mj-lt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+mj-lt"/>
                          </a:rPr>
                          <m:t>ℰ</m:t>
                        </m:r>
                      </m:e>
                      <m:sub>
                        <m:r>
                          <a:rPr lang="zh-TW" altLang="en-US" sz="2000" b="0" i="1" dirty="0" smtClean="0">
                            <a:latin typeface="+mj-lt"/>
                          </a:rPr>
                          <m:t>𝑖</m:t>
                        </m:r>
                      </m:sub>
                    </m:sSub>
                    <m:r>
                      <a:rPr lang="zh-TW" altLang="en-US" sz="2000" b="0" i="1" dirty="0" smtClean="0">
                        <a:latin typeface="+mj-lt"/>
                      </a:rPr>
                      <m:t>𝑑</m:t>
                    </m:r>
                    <m:r>
                      <a:rPr lang="en-US" altLang="zh-TW" sz="2000" b="0" i="1" dirty="0" smtClean="0">
                        <a:latin typeface="+mj-lt"/>
                      </a:rPr>
                      <m:t>=</m:t>
                    </m:r>
                    <m:d>
                      <m:dPr>
                        <m:ctrlPr>
                          <a:rPr lang="en-US" altLang="zh-TW" sz="2000" i="1" dirty="0">
                            <a:latin typeface="+mj-lt"/>
                          </a:rPr>
                        </m:ctrlPr>
                      </m:dPr>
                      <m:e>
                        <m:r>
                          <a:rPr lang="zh-TW" altLang="en-US" sz="2000" b="0" i="1" dirty="0" smtClean="0">
                            <a:latin typeface="+mj-lt"/>
                          </a:rPr>
                          <m:t>𝑆</m:t>
                        </m:r>
                        <m:r>
                          <a:rPr lang="en-US" altLang="zh-TW" sz="2000" b="0" i="1" dirty="0" smtClean="0">
                            <a:latin typeface="+mj-lt"/>
                          </a:rPr>
                          <m:t>,</m:t>
                        </m:r>
                        <m:r>
                          <a:rPr lang="zh-TW" altLang="en-US" sz="2000" b="0" i="1" dirty="0" smtClean="0">
                            <a:latin typeface="+mj-lt"/>
                          </a:rPr>
                          <m:t>𝐺</m:t>
                        </m:r>
                        <m:r>
                          <a:rPr lang="en-US" altLang="zh-TW" sz="2000" b="0" i="1" dirty="0" smtClean="0">
                            <a:latin typeface="+mj-lt"/>
                          </a:rPr>
                          <m:t>,</m:t>
                        </m:r>
                        <m:r>
                          <a:rPr lang="zh-TW" altLang="en-US" sz="2000" b="0" i="1" dirty="0" smtClean="0">
                            <a:latin typeface="+mj-lt"/>
                          </a:rPr>
                          <m:t>𝐸</m:t>
                        </m:r>
                        <m:r>
                          <a:rPr lang="en-US" altLang="zh-TW" sz="2000" b="0" i="1" dirty="0" smtClean="0">
                            <a:latin typeface="+mj-lt"/>
                          </a:rPr>
                          <m:t>,</m:t>
                        </m:r>
                        <m:r>
                          <a:rPr lang="zh-TW" altLang="en-US" sz="2000" b="0" i="1" dirty="0" smtClean="0">
                            <a:latin typeface="+mj-lt"/>
                          </a:rPr>
                          <m:t>𝐷</m:t>
                        </m:r>
                      </m:e>
                    </m:d>
                  </m:oMath>
                </a14:m>
                <a:endParaRPr lang="en-US" altLang="zh-TW" sz="2000" dirty="0">
                  <a:latin typeface="+mj-lt"/>
                </a:endParaRPr>
              </a:p>
              <a:p>
                <a:pPr lvl="1"/>
                <a:r>
                  <a:rPr lang="en-US" altLang="zh-TW" sz="2000" dirty="0">
                    <a:latin typeface="+mj-lt"/>
                  </a:rPr>
                  <a:t>Identity space ℐ</a:t>
                </a:r>
                <a:r>
                  <a:rPr lang="zh-TW" altLang="en-US" sz="2000" dirty="0">
                    <a:latin typeface="+mj-lt"/>
                  </a:rPr>
                  <a:t>𝒟</a:t>
                </a:r>
              </a:p>
              <a:p>
                <a:pPr lvl="1"/>
                <a:r>
                  <a:rPr lang="en-US" altLang="zh-TW" sz="2000" dirty="0">
                    <a:latin typeface="+mj-lt"/>
                  </a:rPr>
                  <a:t>Plaintext space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+mj-lt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+mj-lt"/>
                          </a:rPr>
                          <m:t>ℳ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+mj-lt"/>
                          </a:rPr>
                          <m:t>ℐℬℰ</m:t>
                        </m:r>
                      </m:sub>
                    </m:sSub>
                    <m:r>
                      <a:rPr lang="en-US" altLang="zh-TW" sz="2000" b="0" i="1" dirty="0" smtClean="0">
                        <a:latin typeface="+mj-lt"/>
                      </a:rPr>
                      <m:t> = </m:t>
                    </m:r>
                    <m:sSup>
                      <m:sSupPr>
                        <m:ctrlPr>
                          <a:rPr lang="en-US" altLang="zh-TW" sz="2000" i="1" dirty="0" smtClean="0">
                            <a:latin typeface="+mj-lt"/>
                          </a:rPr>
                        </m:ctrlPr>
                      </m:sSupPr>
                      <m:e>
                        <m:r>
                          <a:rPr lang="en-US" altLang="zh-TW" sz="2000" b="0" i="1" dirty="0" smtClean="0">
                            <a:latin typeface="+mj-lt"/>
                          </a:rPr>
                          <m:t>{</m:t>
                        </m:r>
                        <m:r>
                          <a:rPr lang="en-US" altLang="zh-TW" sz="2000" b="0" i="1" dirty="0" smtClean="0">
                            <a:latin typeface="+mj-lt"/>
                          </a:rPr>
                          <m:t>0</m:t>
                        </m:r>
                        <m:r>
                          <a:rPr lang="en-US" altLang="zh-TW" sz="2000" b="0" i="1" dirty="0" smtClean="0">
                            <a:latin typeface="+mj-lt"/>
                          </a:rPr>
                          <m:t>,</m:t>
                        </m:r>
                        <m:r>
                          <a:rPr lang="en-US" altLang="zh-TW" sz="2000" b="0" i="1" dirty="0" smtClean="0">
                            <a:latin typeface="+mj-lt"/>
                          </a:rPr>
                          <m:t>1</m:t>
                        </m:r>
                        <m:r>
                          <a:rPr lang="en-US" altLang="zh-TW" sz="2000" b="0" i="1" dirty="0" smtClean="0">
                            <a:latin typeface="+mj-lt"/>
                          </a:rPr>
                          <m:t>}</m:t>
                        </m:r>
                      </m:e>
                      <m:sup>
                        <m:r>
                          <a:rPr lang="zh-TW" altLang="en-US" sz="2000" b="0" i="1" dirty="0" smtClean="0">
                            <a:latin typeface="+mj-lt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TW" altLang="en-US" sz="2000" dirty="0">
                    <a:latin typeface="+mj-lt"/>
                  </a:rPr>
                  <a:t> </a:t>
                </a:r>
                <a:r>
                  <a:rPr lang="en-US" altLang="zh-TW" sz="2000" dirty="0">
                    <a:latin typeface="+mj-lt"/>
                  </a:rPr>
                  <a:t>(large enough)</a:t>
                </a:r>
              </a:p>
              <a:p>
                <a:r>
                  <a:rPr lang="en-US" altLang="zh-TW" sz="2000" dirty="0">
                    <a:latin typeface="+mj-lt"/>
                  </a:rPr>
                  <a:t>Constructed signature scheme </a:t>
                </a:r>
                <a:r>
                  <a:rPr lang="zh-TW" altLang="en-US" sz="2000" dirty="0">
                    <a:latin typeface="+mj-lt"/>
                  </a:rPr>
                  <a:t>𝒮</a:t>
                </a:r>
                <a:r>
                  <a:rPr lang="en-US" altLang="zh-TW" sz="2000" dirty="0">
                    <a:latin typeface="+mj-lt"/>
                  </a:rPr>
                  <a:t>=(</a:t>
                </a:r>
                <a:r>
                  <a:rPr lang="zh-TW" altLang="en-US" sz="2000" dirty="0">
                    <a:latin typeface="+mj-lt"/>
                  </a:rPr>
                  <a:t>𝐺</a:t>
                </a:r>
                <a:r>
                  <a:rPr lang="en-US" altLang="zh-TW" sz="2000" dirty="0">
                    <a:latin typeface="+mj-lt"/>
                  </a:rPr>
                  <a:t>^′,</a:t>
                </a:r>
                <a:r>
                  <a:rPr lang="zh-TW" altLang="en-US" sz="2000" dirty="0">
                    <a:latin typeface="+mj-lt"/>
                  </a:rPr>
                  <a:t>𝑆</a:t>
                </a:r>
                <a:r>
                  <a:rPr lang="en-US" altLang="zh-TW" sz="2000" dirty="0">
                    <a:latin typeface="+mj-lt"/>
                  </a:rPr>
                  <a:t>^′,</a:t>
                </a:r>
                <a:r>
                  <a:rPr lang="zh-TW" altLang="en-US" sz="2000" dirty="0">
                    <a:latin typeface="+mj-lt"/>
                  </a:rPr>
                  <a:t>𝑉</a:t>
                </a:r>
                <a:r>
                  <a:rPr lang="en-US" altLang="zh-TW" sz="2000" dirty="0">
                    <a:latin typeface="+mj-lt"/>
                  </a:rPr>
                  <a:t>^′ ):</a:t>
                </a:r>
              </a:p>
              <a:p>
                <a:pPr lvl="1"/>
                <a:r>
                  <a:rPr lang="zh-TW" altLang="en-US" sz="2000" dirty="0">
                    <a:latin typeface="+mj-lt"/>
                  </a:rPr>
                  <a:t> </a:t>
                </a:r>
                <a:r>
                  <a:rPr lang="en-US" altLang="zh-TW" sz="2000" dirty="0">
                    <a:latin typeface="+mj-lt"/>
                  </a:rPr>
                  <a:t>K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b="0" i="0" smtClean="0">
                        <a:latin typeface="+mj-lt"/>
                      </a:rPr>
                      <m:t>ey</m:t>
                    </m:r>
                    <m:r>
                      <a:rPr lang="en-US" altLang="zh-TW" sz="2000" b="0" i="0" smtClean="0">
                        <a:latin typeface="+mj-lt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TW" sz="2000" b="0" i="0" smtClean="0">
                        <a:latin typeface="+mj-lt"/>
                      </a:rPr>
                      <m:t>generation</m:t>
                    </m:r>
                    <m:r>
                      <a:rPr lang="en-US" altLang="zh-TW" sz="2000" b="0" i="0" smtClean="0">
                        <a:latin typeface="+mj-lt"/>
                      </a:rPr>
                      <m:t> </m:t>
                    </m:r>
                    <m:sSup>
                      <m:sSupPr>
                        <m:ctrlPr>
                          <a:rPr lang="ar-AE" altLang="zh-TW" sz="2000">
                            <a:latin typeface="+mj-lt"/>
                          </a:rPr>
                        </m:ctrlPr>
                      </m:sSupPr>
                      <m:e>
                        <m:r>
                          <a:rPr lang="zh-TW" altLang="ar-AE" sz="2000" b="0" i="1" smtClean="0">
                            <a:latin typeface="+mj-lt"/>
                          </a:rPr>
                          <m:t>𝐺</m:t>
                        </m:r>
                      </m:e>
                      <m:sup>
                        <m:r>
                          <a:rPr lang="ar-AE" altLang="zh-TW" sz="2000" b="0" smtClean="0">
                            <a:latin typeface="+mj-lt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ar-AE" altLang="zh-TW" sz="2000" i="1">
                            <a:latin typeface="+mj-lt"/>
                          </a:rPr>
                        </m:ctrlPr>
                      </m:dPr>
                      <m:e/>
                    </m:d>
                  </m:oMath>
                </a14:m>
                <a:r>
                  <a:rPr lang="zh-TW" altLang="ar-AE" sz="2000" dirty="0">
                    <a:latin typeface="+mj-lt"/>
                  </a:rPr>
                  <a:t>：</a:t>
                </a:r>
                <a:endParaRPr lang="en-US" altLang="zh-TW" sz="2000" dirty="0">
                  <a:latin typeface="+mj-lt"/>
                </a:endParaRP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 dirty="0" smtClean="0">
                            <a:latin typeface="+mj-lt"/>
                          </a:rPr>
                        </m:ctrlPr>
                      </m:dPr>
                      <m:e>
                        <m:r>
                          <a:rPr lang="en-US" altLang="zh-TW" sz="2000" b="0" i="1" dirty="0" smtClean="0">
                            <a:latin typeface="+mj-lt"/>
                          </a:rPr>
                          <m:t>𝑚𝑝𝑘</m:t>
                        </m:r>
                        <m:r>
                          <a:rPr lang="en-US" altLang="zh-TW" sz="2000" b="0" i="1" dirty="0" smtClean="0">
                            <a:latin typeface="+mj-lt"/>
                          </a:rPr>
                          <m:t>,</m:t>
                        </m:r>
                        <m:r>
                          <a:rPr lang="en-US" altLang="zh-TW" sz="2000" b="0" i="1" dirty="0" smtClean="0">
                            <a:latin typeface="+mj-lt"/>
                          </a:rPr>
                          <m:t>𝑚𝑠𝑘</m:t>
                        </m:r>
                      </m:e>
                    </m:d>
                    <m:groupChr>
                      <m:groupChrPr>
                        <m:chr m:val="←"/>
                        <m:vertJc m:val="bot"/>
                        <m:ctrlPr>
                          <a:rPr lang="en-US" altLang="zh-TW" sz="2000" i="1" dirty="0" smtClean="0">
                            <a:latin typeface="+mj-lt"/>
                          </a:rPr>
                        </m:ctrlPr>
                      </m:groupChrPr>
                      <m:e>
                        <m:r>
                          <a:rPr lang="en-US" altLang="zh-TW" sz="2000" b="0" i="1" dirty="0" smtClean="0">
                            <a:latin typeface="+mj-lt"/>
                          </a:rPr>
                          <m:t>𝑅</m:t>
                        </m:r>
                      </m:e>
                    </m:groupChr>
                    <m:r>
                      <a:rPr lang="en-US" altLang="zh-TW" sz="2000" b="0" i="1" dirty="0" smtClean="0">
                        <a:latin typeface="+mj-lt"/>
                      </a:rPr>
                      <m:t>𝐺</m:t>
                    </m:r>
                    <m:d>
                      <m:dPr>
                        <m:ctrlPr>
                          <a:rPr lang="en-US" altLang="zh-TW" sz="2000" i="1" dirty="0" smtClean="0">
                            <a:latin typeface="+mj-lt"/>
                          </a:rPr>
                        </m:ctrlPr>
                      </m:dPr>
                      <m:e/>
                    </m:d>
                    <m:r>
                      <m:rPr>
                        <m:nor/>
                      </m:rPr>
                      <a:rPr lang="en-US" altLang="zh-TW" sz="2000" i="0" dirty="0" smtClean="0">
                        <a:latin typeface="+mj-lt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2000" i="0" dirty="0" smtClean="0">
                        <a:latin typeface="+mj-lt"/>
                      </a:rPr>
                      <m:t>, </m:t>
                    </m:r>
                    <m:r>
                      <m:rPr>
                        <m:nor/>
                      </m:rPr>
                      <a:rPr lang="en-US" altLang="zh-TW" sz="2000" i="0" dirty="0" smtClean="0">
                        <a:latin typeface="+mj-lt"/>
                      </a:rPr>
                      <m:t>o</m:t>
                    </m:r>
                    <m:r>
                      <a:rPr lang="en-US" altLang="zh-TW" sz="2000" b="0" i="1" dirty="0" smtClean="0">
                        <a:latin typeface="+mj-lt"/>
                      </a:rPr>
                      <m:t>𝑢𝑡𝑝𝑢𝑡</m:t>
                    </m:r>
                    <m:d>
                      <m:dPr>
                        <m:ctrlPr>
                          <a:rPr lang="en-US" altLang="zh-TW" sz="2000" i="1" dirty="0">
                            <a:latin typeface="+mj-lt"/>
                          </a:rPr>
                        </m:ctrlPr>
                      </m:dPr>
                      <m:e>
                        <m:r>
                          <a:rPr lang="en-US" altLang="zh-TW" sz="2000" b="0" i="1" dirty="0" smtClean="0">
                            <a:latin typeface="+mj-lt"/>
                          </a:rPr>
                          <m:t>𝑝𝑘</m:t>
                        </m:r>
                        <m:r>
                          <a:rPr lang="en-US" altLang="zh-TW" sz="2000" b="0" i="1" dirty="0" smtClean="0">
                            <a:latin typeface="+mj-lt"/>
                          </a:rPr>
                          <m:t>,</m:t>
                        </m:r>
                        <m:r>
                          <a:rPr lang="en-US" altLang="zh-TW" sz="2000" b="0" i="1" dirty="0" smtClean="0">
                            <a:latin typeface="+mj-lt"/>
                          </a:rPr>
                          <m:t>𝑠𝑘</m:t>
                        </m:r>
                      </m:e>
                    </m:d>
                    <m:r>
                      <a:rPr lang="en-US" altLang="zh-TW" sz="2000" b="0" i="1" dirty="0" smtClean="0">
                        <a:latin typeface="+mj-lt"/>
                      </a:rPr>
                      <m:t>=</m:t>
                    </m:r>
                    <m:d>
                      <m:dPr>
                        <m:ctrlPr>
                          <a:rPr lang="en-US" altLang="zh-TW" sz="2000" i="1" dirty="0">
                            <a:latin typeface="+mj-lt"/>
                          </a:rPr>
                        </m:ctrlPr>
                      </m:dPr>
                      <m:e>
                        <m:r>
                          <a:rPr lang="en-US" altLang="zh-TW" sz="2000" b="0" i="1" dirty="0" smtClean="0">
                            <a:latin typeface="+mj-lt"/>
                          </a:rPr>
                          <m:t>𝑚𝑝𝑘</m:t>
                        </m:r>
                        <m:r>
                          <a:rPr lang="en-US" altLang="zh-TW" sz="2000" b="0" i="1" dirty="0" smtClean="0">
                            <a:latin typeface="+mj-lt"/>
                          </a:rPr>
                          <m:t>,</m:t>
                        </m:r>
                        <m:r>
                          <a:rPr lang="en-US" altLang="zh-TW" sz="2000" b="0" i="1" dirty="0" smtClean="0">
                            <a:latin typeface="+mj-lt"/>
                          </a:rPr>
                          <m:t>𝑚𝑠𝑘</m:t>
                        </m:r>
                      </m:e>
                    </m:d>
                  </m:oMath>
                </a14:m>
                <a:endParaRPr lang="en-US" altLang="zh-TW" sz="2000" dirty="0">
                  <a:latin typeface="+mj-lt"/>
                </a:endParaRPr>
              </a:p>
              <a:p>
                <a:pPr lvl="1"/>
                <a:r>
                  <a:rPr lang="en-US" altLang="zh-TW" sz="2000" dirty="0">
                    <a:latin typeface="+mj-lt"/>
                  </a:rPr>
                  <a:t>Signature</a:t>
                </a:r>
                <a:r>
                  <a:rPr lang="zh-TW" altLang="en-US" sz="2000" dirty="0">
                    <a:latin typeface="+mj-lt"/>
                  </a:rPr>
                  <a:t>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TW" sz="2000">
                            <a:latin typeface="+mj-lt"/>
                          </a:rPr>
                        </m:ctrlPr>
                      </m:sSupPr>
                      <m:e>
                        <m:r>
                          <a:rPr lang="zh-TW" altLang="ar-AE" sz="2000" b="0" i="1" smtClean="0">
                            <a:latin typeface="+mj-lt"/>
                          </a:rPr>
                          <m:t>𝑆</m:t>
                        </m:r>
                      </m:e>
                      <m:sup>
                        <m:r>
                          <a:rPr lang="ar-AE" altLang="zh-TW" sz="2000" b="0" smtClean="0">
                            <a:latin typeface="+mj-lt"/>
                          </a:rPr>
                          <m:t>′</m:t>
                        </m:r>
                      </m:sup>
                    </m:sSup>
                    <m:d>
                      <m:dPr>
                        <m:sepChr m:val=","/>
                        <m:ctrlPr>
                          <a:rPr lang="ar-AE" altLang="zh-TW" sz="2000" i="1">
                            <a:latin typeface="+mj-lt"/>
                          </a:rPr>
                        </m:ctrlPr>
                      </m:dPr>
                      <m:e>
                        <m:r>
                          <a:rPr lang="zh-TW" altLang="ar-AE" sz="2000" b="0" i="1" smtClean="0">
                            <a:latin typeface="+mj-lt"/>
                          </a:rPr>
                          <m:t>𝑚</m:t>
                        </m:r>
                      </m:e>
                      <m:e>
                        <m:r>
                          <a:rPr lang="zh-TW" altLang="ar-AE" sz="2000" b="0" i="1" smtClean="0">
                            <a:latin typeface="+mj-lt"/>
                          </a:rPr>
                          <m:t>𝑠𝑘𝑚</m:t>
                        </m:r>
                      </m:e>
                    </m:d>
                  </m:oMath>
                </a14:m>
                <a:r>
                  <a:rPr lang="zh-TW" altLang="ar-AE" sz="2000" dirty="0">
                    <a:latin typeface="+mj-lt"/>
                  </a:rPr>
                  <a:t>：</a:t>
                </a:r>
                <a:endParaRPr lang="en-US" altLang="zh-TW" sz="2000" dirty="0">
                  <a:latin typeface="+mj-lt"/>
                </a:endParaRP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+mj-lt"/>
                      </a:rPr>
                      <m:t>𝐹𝑜𝑟𝑚</m:t>
                    </m:r>
                    <m:r>
                      <a:rPr lang="en-US" altLang="zh-TW" b="0" i="1" dirty="0" smtClean="0">
                        <a:latin typeface="+mj-lt"/>
                      </a:rPr>
                      <m:t>∈</m:t>
                    </m:r>
                    <m:r>
                      <a:rPr lang="en-US" altLang="zh-TW" b="0" i="1" dirty="0" smtClean="0">
                        <a:latin typeface="+mj-lt"/>
                      </a:rPr>
                      <m:t>𝐼𝐷</m:t>
                    </m:r>
                    <m:r>
                      <a:rPr lang="en-US" altLang="zh-TW" b="0" i="1" dirty="0" smtClean="0">
                        <a:latin typeface="+mj-lt"/>
                      </a:rPr>
                      <m:t> </m:t>
                    </m:r>
                    <m:r>
                      <a:rPr lang="en-US" altLang="zh-TW" b="0" i="1" dirty="0" smtClean="0">
                        <a:latin typeface="+mj-lt"/>
                      </a:rPr>
                      <m:t>𝑜𝑢𝑡𝑝𝑢𝑡</m:t>
                    </m:r>
                    <m:r>
                      <a:rPr lang="en-US" altLang="zh-TW" b="0" i="1" dirty="0" smtClean="0">
                        <a:latin typeface="+mj-lt"/>
                      </a:rPr>
                      <m:t> </m:t>
                    </m:r>
                    <m:r>
                      <a:rPr lang="el-GR" altLang="zh-TW" b="0" i="1" dirty="0" smtClean="0">
                        <a:latin typeface="+mj-lt"/>
                      </a:rPr>
                      <m:t>𝜎</m:t>
                    </m:r>
                    <m:groupChr>
                      <m:groupChrPr>
                        <m:chr m:val="←"/>
                        <m:vertJc m:val="bot"/>
                        <m:ctrlPr>
                          <a:rPr lang="el-GR" altLang="zh-TW" i="1" dirty="0" smtClean="0">
                            <a:latin typeface="+mj-lt"/>
                          </a:rPr>
                        </m:ctrlPr>
                      </m:groupChrPr>
                      <m:e>
                        <m:r>
                          <a:rPr lang="en-US" altLang="zh-TW" b="0" i="1" dirty="0" smtClean="0">
                            <a:latin typeface="+mj-lt"/>
                          </a:rPr>
                          <m:t>𝑅</m:t>
                        </m:r>
                      </m:e>
                    </m:groupChr>
                    <m:r>
                      <a:rPr lang="en-US" altLang="zh-TW" b="0" i="1" dirty="0" smtClean="0">
                        <a:latin typeface="+mj-lt"/>
                      </a:rPr>
                      <m:t>𝐺</m:t>
                    </m:r>
                    <m:d>
                      <m:dPr>
                        <m:ctrlPr>
                          <a:rPr lang="en-US" altLang="zh-TW" i="1" dirty="0">
                            <a:latin typeface="+mj-lt"/>
                          </a:rPr>
                        </m:ctrlPr>
                      </m:dPr>
                      <m:e>
                        <m:r>
                          <a:rPr lang="en-US" altLang="zh-TW" b="0" i="1" dirty="0" smtClean="0">
                            <a:latin typeface="+mj-lt"/>
                          </a:rPr>
                          <m:t>𝑚𝑠𝑘</m:t>
                        </m:r>
                        <m:r>
                          <a:rPr lang="en-US" altLang="zh-TW" b="0" i="1" dirty="0" smtClean="0">
                            <a:latin typeface="+mj-lt"/>
                          </a:rPr>
                          <m:t>,</m:t>
                        </m:r>
                        <m:r>
                          <a:rPr lang="en-US" altLang="zh-TW" b="0" i="1" dirty="0" smtClean="0">
                            <a:latin typeface="+mj-lt"/>
                          </a:rPr>
                          <m:t>𝑚</m:t>
                        </m:r>
                      </m:e>
                    </m:d>
                  </m:oMath>
                </a14:m>
                <a:endParaRPr lang="en-US" altLang="zh-TW" dirty="0">
                  <a:latin typeface="+mj-lt"/>
                </a:endParaRPr>
              </a:p>
              <a:p>
                <a:pPr lvl="1"/>
                <a:r>
                  <a:rPr lang="en-US" altLang="zh-TW" dirty="0">
                    <a:latin typeface="+mj-lt"/>
                  </a:rPr>
                  <a:t>Verify</a:t>
                </a:r>
                <a:r>
                  <a:rPr lang="zh-TW" altLang="en-US" dirty="0">
                    <a:latin typeface="+mj-lt"/>
                  </a:rPr>
                  <a:t>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TW">
                            <a:latin typeface="+mj-lt"/>
                          </a:rPr>
                        </m:ctrlPr>
                      </m:sSupPr>
                      <m:e>
                        <m:r>
                          <a:rPr lang="zh-TW" altLang="ar-AE" b="0" i="1" smtClean="0">
                            <a:latin typeface="+mj-lt"/>
                          </a:rPr>
                          <m:t>𝑉</m:t>
                        </m:r>
                      </m:e>
                      <m:sup>
                        <m:r>
                          <a:rPr lang="ar-AE" altLang="zh-TW" b="0" smtClean="0">
                            <a:latin typeface="+mj-lt"/>
                          </a:rPr>
                          <m:t>′</m:t>
                        </m:r>
                      </m:sup>
                    </m:sSup>
                    <m:d>
                      <m:dPr>
                        <m:sepChr m:val=","/>
                        <m:ctrlPr>
                          <a:rPr lang="ar-AE" altLang="zh-TW" i="1">
                            <a:latin typeface="+mj-lt"/>
                          </a:rPr>
                        </m:ctrlPr>
                      </m:dPr>
                      <m:e>
                        <m:r>
                          <a:rPr lang="zh-TW" altLang="ar-AE" b="0" i="1" smtClean="0">
                            <a:latin typeface="+mj-lt"/>
                          </a:rPr>
                          <m:t>𝑚</m:t>
                        </m:r>
                      </m:e>
                      <m:e>
                        <m:r>
                          <a:rPr lang="zh-TW" altLang="ar-AE" b="0" i="1" smtClean="0">
                            <a:latin typeface="+mj-lt"/>
                          </a:rPr>
                          <m:t>𝑝</m:t>
                        </m:r>
                      </m:e>
                      <m:e>
                        <m:r>
                          <a:rPr lang="zh-TW" altLang="ar-AE" b="0" i="1" smtClean="0">
                            <a:latin typeface="+mj-lt"/>
                          </a:rPr>
                          <m:t>𝑘𝑚</m:t>
                        </m:r>
                        <m:r>
                          <a:rPr lang="zh-TW" altLang="ar-AE" b="0" i="1" smtClean="0">
                            <a:latin typeface="+mj-lt"/>
                          </a:rPr>
                          <m:t>𝜎</m:t>
                        </m:r>
                      </m:e>
                    </m:d>
                  </m:oMath>
                </a14:m>
                <a:r>
                  <a:rPr lang="zh-TW" altLang="ar-AE" dirty="0">
                    <a:latin typeface="+mj-lt"/>
                  </a:rPr>
                  <a:t>：</a:t>
                </a:r>
                <a:endParaRPr lang="en-US" altLang="zh-TW" dirty="0">
                  <a:latin typeface="+mj-lt"/>
                </a:endParaRP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← </m:t>
                    </m:r>
                    <m:sSub>
                      <m:sSubPr>
                        <m:ctrlPr>
                          <a:rPr lang="en-US" altLang="zh-TW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ℐℬℰ</m:t>
                        </m:r>
                      </m:sub>
                    </m:sSub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 </m:t>
                    </m:r>
                    <m:r>
                      <a:rPr lang="en-US" altLang="zh-TW" sz="1800" b="0" i="1" dirty="0" smtClean="0">
                        <a:latin typeface="Cambria Math" panose="02040503050406030204" pitchFamily="18" charset="0"/>
                      </a:rPr>
                      <m:t> ,</m:t>
                    </m:r>
                    <m:r>
                      <a:rPr lang="de-DE" altLang="zh-TW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de-DE" altLang="zh-TW" i="1" dirty="0" smtClean="0">
                        <a:latin typeface="Cambria Math" panose="02040503050406030204" pitchFamily="18" charset="0"/>
                      </a:rPr>
                      <m:t> ← </m:t>
                    </m:r>
                    <m:r>
                      <a:rPr lang="de-DE" altLang="zh-TW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de-DE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altLang="zh-TW" i="1" dirty="0" smtClean="0">
                        <a:latin typeface="Cambria Math" panose="02040503050406030204" pitchFamily="18" charset="0"/>
                      </a:rPr>
                      <m:t>𝑚𝑝𝑘</m:t>
                    </m:r>
                    <m:r>
                      <a:rPr lang="de-DE" altLang="zh-TW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altLang="zh-TW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de-DE" altLang="zh-TW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DE" altLang="zh-TW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altLang="zh-TW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de-DE" altLang="zh-TW" dirty="0">
                  <a:latin typeface="+mj-lt"/>
                </a:endParaRPr>
              </a:p>
              <a:p>
                <a:pPr lvl="2">
                  <a:spcBef>
                    <a:spcPts val="0"/>
                  </a:spcBef>
                </a:pPr>
                <a:r>
                  <a:rPr lang="de-DE" altLang="zh-TW" dirty="0">
                    <a:latin typeface="+mj-lt"/>
                  </a:rPr>
                  <a:t>If </a:t>
                </a:r>
                <a14:m>
                  <m:oMath xmlns:m="http://schemas.openxmlformats.org/officeDocument/2006/math">
                    <m:r>
                      <a:rPr lang="de-DE" altLang="zh-TW" i="1" dirty="0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de-DE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altLang="zh-TW" i="1" dirty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de-DE" altLang="zh-TW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DE" altLang="zh-TW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de-DE" altLang="zh-TW" i="1" dirty="0" smtClean="0">
                        <a:latin typeface="Cambria Math" panose="02040503050406030204" pitchFamily="18" charset="0"/>
                      </a:rPr>
                      <m:t>==</m:t>
                    </m:r>
                  </m:oMath>
                </a14:m>
                <a:r>
                  <a:rPr lang="de-DE" altLang="zh-TW" dirty="0">
                    <a:latin typeface="+mj-lt"/>
                  </a:rPr>
                  <a:t>t then accept else reject</a:t>
                </a:r>
              </a:p>
            </p:txBody>
          </p:sp>
        </mc:Choice>
        <mc:Fallback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939AB28F-1C38-5AE2-FBA8-BB88BBC643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163" y="1737597"/>
                <a:ext cx="11027673" cy="4037087"/>
              </a:xfrm>
              <a:blipFill>
                <a:blip r:embed="rId3"/>
                <a:stretch>
                  <a:fillRect b="-48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5069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1A402-EF71-D61A-1E6E-FB49C7598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49904268-5568-6812-D0C2-E4D6B4B78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83" y="665102"/>
            <a:ext cx="11166577" cy="704800"/>
          </a:xfrm>
        </p:spPr>
        <p:txBody>
          <a:bodyPr/>
          <a:lstStyle/>
          <a:p>
            <a:r>
              <a:rPr lang="en-US" altLang="zh-TW" sz="3600" dirty="0"/>
              <a:t>Applications</a:t>
            </a:r>
            <a:r>
              <a:rPr lang="zh-TW" altLang="en-US" sz="3600" dirty="0"/>
              <a:t>──</a:t>
            </a:r>
            <a:r>
              <a:rPr lang="en-US" altLang="zh-TW" sz="3600" dirty="0"/>
              <a:t>Signatures from IBE</a:t>
            </a:r>
            <a:br>
              <a:rPr lang="en-US" altLang="zh-TW" sz="3600" dirty="0"/>
            </a:b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D045EBD-B19B-851F-06A0-9BB38F7DD27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163" y="1737597"/>
                <a:ext cx="11027673" cy="4455301"/>
              </a:xfrm>
            </p:spPr>
            <p:txBody>
              <a:bodyPr/>
              <a:lstStyle/>
              <a:p>
                <a:r>
                  <a:rPr lang="zh-TW" altLang="en-US" b="1" dirty="0"/>
                  <a:t>安全界限：</a:t>
                </a:r>
                <a:endParaRPr lang="en-US" altLang="zh-TW" b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𝑆𝐼𝐺𝑎𝑑𝑣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𝑆𝑆𝑎𝑑𝑣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𝑖𝑑</m:t>
                            </m:r>
                          </m:sub>
                        </m:sSub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d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𝑀𝐼𝐵𝐸</m:t>
                        </m:r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​∣</m:t>
                        </m:r>
                      </m:den>
                    </m:f>
                  </m:oMath>
                </a14:m>
                <a:endParaRPr lang="en-US" altLang="zh-TW" dirty="0"/>
              </a:p>
              <a:p>
                <a:r>
                  <a:rPr lang="en-US" altLang="zh-TW" dirty="0"/>
                  <a:t>Constructing an IBE adversary ℬ:</a:t>
                </a:r>
              </a:p>
              <a:p>
                <a:pPr lvl="1"/>
                <a:r>
                  <a:rPr lang="en-US" altLang="zh-TW" dirty="0"/>
                  <a:t>Obtain </a:t>
                </a:r>
                <a:r>
                  <a:rPr lang="zh-TW" altLang="en-US" dirty="0"/>
                  <a:t>𝑚𝑝𝑘 </a:t>
                </a:r>
                <a:r>
                  <a:rPr lang="en-US" altLang="zh-TW" dirty="0"/>
                  <a:t>from the IBE challenger</a:t>
                </a:r>
              </a:p>
              <a:p>
                <a:pPr lvl="1"/>
                <a:r>
                  <a:rPr lang="en-US" altLang="zh-TW" dirty="0"/>
                  <a:t>Simulate the signing environment to </a:t>
                </a:r>
                <a:r>
                  <a:rPr lang="zh-TW" altLang="en-US" dirty="0"/>
                  <a:t>𝒜</a:t>
                </a:r>
              </a:p>
              <a:p>
                <a:r>
                  <a:rPr lang="en-US" altLang="zh-TW" dirty="0"/>
                  <a:t>Handling signature queries:</a:t>
                </a:r>
              </a:p>
              <a:p>
                <a:pPr lvl="1"/>
                <a:r>
                  <a:rPr lang="en-US" altLang="zh-TW" dirty="0"/>
                  <a:t>When </a:t>
                </a:r>
                <a:r>
                  <a:rPr lang="zh-TW" altLang="en-US" dirty="0"/>
                  <a:t>𝒜 </a:t>
                </a:r>
                <a:r>
                  <a:rPr lang="en-US" altLang="zh-TW" dirty="0"/>
                  <a:t>queries </a:t>
                </a:r>
                <a:r>
                  <a:rPr lang="zh-TW" altLang="en-US" dirty="0"/>
                  <a:t>𝑚</a:t>
                </a:r>
                <a:r>
                  <a:rPr lang="en-US" altLang="zh-TW" dirty="0"/>
                  <a:t>'s signature, ℬ queries the IBE challenger for 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zh-TW" altLang="en-US" i="1" dirty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𝑠𝑘𝑚</m:t>
                        </m:r>
                      </m:e>
                    </m:d>
                  </m:oMath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Return 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zh-TW" altLang="en-US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TW" altLang="en-US" dirty="0"/>
                  <a:t> </a:t>
                </a:r>
                <a:r>
                  <a:rPr lang="en-US" altLang="zh-TW" dirty="0"/>
                  <a:t>to </a:t>
                </a:r>
                <a:r>
                  <a:rPr lang="zh-TW" altLang="en-US" dirty="0"/>
                  <a:t>𝒜</a:t>
                </a:r>
              </a:p>
              <a:p>
                <a:r>
                  <a:rPr lang="en-US" altLang="zh-TW" dirty="0"/>
                  <a:t>Handling forgery:</a:t>
                </a:r>
              </a:p>
              <a:p>
                <a:pPr lvl="1"/>
                <a:r>
                  <a:rPr lang="en-US" altLang="zh-TW" dirty="0"/>
                  <a:t>When </a:t>
                </a:r>
                <a:r>
                  <a:rPr lang="zh-TW" altLang="en-US" dirty="0"/>
                  <a:t>𝒜 </a:t>
                </a:r>
                <a:r>
                  <a:rPr lang="en-US" altLang="zh-TW" dirty="0"/>
                  <a:t>outputs a forged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</m:oMath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ℬ selects a random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TW" dirty="0"/>
                  <a:t>,</a:t>
                </a:r>
              </a:p>
              <a:p>
                <a:pPr lvl="1"/>
                <a:r>
                  <a:rPr lang="en-US" altLang="zh-TW" dirty="0"/>
                  <a:t>Requesting IBE Challenge ciphertext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 dirty="0" smtClean="0">
                            <a:latin typeface="Cambria Math" panose="02040503050406030204" pitchFamily="18" charset="0"/>
                          </a:rPr>
                          <m:t>𝑚𝑝</m:t>
                        </m:r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zh-TW" altLang="en-US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Decrypted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i="1" dirty="0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zh-TW" dirty="0"/>
                  <a:t>, we get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i="1" dirty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TW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dirty="0"/>
                  <a:t>, output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dirty="0"/>
                  <a:t>; otherwise, output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en-US" altLang="zh-TW" dirty="0"/>
                </a:br>
                <a:endParaRPr lang="zh-TW" altLang="en-US" b="1" dirty="0"/>
              </a:p>
            </p:txBody>
          </p:sp>
        </mc:Choice>
        <mc:Fallback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5D045EBD-B19B-851F-06A0-9BB38F7DD2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163" y="1737597"/>
                <a:ext cx="11027673" cy="44553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1956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1BBBD-4F45-3CB8-F693-E58A86702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6FC23F0B-BCCB-3EF8-5DC0-58DD2E886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83" y="665102"/>
            <a:ext cx="11166577" cy="704800"/>
          </a:xfrm>
        </p:spPr>
        <p:txBody>
          <a:bodyPr/>
          <a:lstStyle/>
          <a:p>
            <a:r>
              <a:rPr lang="en-US" altLang="zh-TW" sz="3600" dirty="0"/>
              <a:t>Applications</a:t>
            </a:r>
            <a:r>
              <a:rPr lang="zh-TW" altLang="en-US" sz="3600" dirty="0"/>
              <a:t>──</a:t>
            </a:r>
            <a:r>
              <a:rPr lang="en-US" altLang="zh-TW" sz="3600" dirty="0"/>
              <a:t>Signatures from IBE</a:t>
            </a:r>
            <a:br>
              <a:rPr lang="en-US" altLang="zh-TW" sz="3600" dirty="0"/>
            </a:b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7E4C9150-047F-394A-1F4F-60FB50C9F6C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163" y="1737597"/>
                <a:ext cx="11027673" cy="4455301"/>
              </a:xfrm>
            </p:spPr>
            <p:txBody>
              <a:bodyPr/>
              <a:lstStyle/>
              <a:p>
                <a:r>
                  <a:rPr lang="en-US" altLang="zh-TW" sz="2000" b="1" dirty="0"/>
                  <a:t>Security boundary</a:t>
                </a:r>
                <a:r>
                  <a:rPr lang="zh-TW" altLang="en-US" sz="2000" b="1" dirty="0"/>
                  <a:t>：</a:t>
                </a:r>
                <a:endParaRPr lang="en-US" altLang="zh-TW" sz="2000" b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𝑆𝐼𝐺𝑎𝑑𝑣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TW" sz="2000" i="1" dirty="0" err="1" smtClean="0">
                        <a:latin typeface="Cambria Math" panose="02040503050406030204" pitchFamily="18" charset="0"/>
                      </a:rPr>
                      <m:t>𝑆𝑆𝑎𝑑𝑣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  <m:t>𝑖𝑑</m:t>
                            </m:r>
                          </m:sub>
                        </m:s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d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𝑀𝐼𝐵𝐸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​∣</m:t>
                        </m:r>
                      </m:den>
                    </m:f>
                  </m:oMath>
                </a14:m>
                <a:endParaRPr lang="en-US" altLang="zh-TW" sz="2000" dirty="0"/>
              </a:p>
              <a:p>
                <a:r>
                  <a:rPr lang="en-US" altLang="zh-TW" sz="2000" dirty="0"/>
                  <a:t>Advantage Analysis:</a:t>
                </a:r>
              </a:p>
              <a:p>
                <a:pPr lvl="1"/>
                <a:r>
                  <a:rPr lang="en-US" altLang="zh-TW" sz="2000" dirty="0"/>
                  <a:t>If </a:t>
                </a:r>
                <a:r>
                  <a:rPr lang="zh-TW" altLang="en-US" sz="2000" dirty="0"/>
                  <a:t>𝑏 </a:t>
                </a:r>
                <a:r>
                  <a:rPr lang="en-US" altLang="zh-TW" sz="2000" dirty="0"/>
                  <a:t>= 1 (encrypted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000" dirty="0"/>
                  <a:t>: ℬ has a probability of outputting 1 = </a:t>
                </a:r>
                <a:r>
                  <a:rPr lang="en-US" altLang="zh-TW" sz="2000" dirty="0" err="1"/>
                  <a:t>SIGadv</a:t>
                </a:r>
                <a:r>
                  <a:rPr lang="en-US" altLang="zh-TW" sz="2000" dirty="0"/>
                  <a:t>}</a:t>
                </a:r>
              </a:p>
              <a:p>
                <a:pPr lvl="1"/>
                <a:r>
                  <a:rPr lang="en-US" altLang="zh-TW" sz="2000" dirty="0"/>
                  <a:t>If </a:t>
                </a:r>
                <a:r>
                  <a:rPr lang="zh-TW" altLang="en-US" sz="2000" dirty="0"/>
                  <a:t>𝑏 </a:t>
                </a:r>
                <a:r>
                  <a:rPr lang="en-US" altLang="zh-TW" sz="2000" dirty="0"/>
                  <a:t>= 0 (encrypted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sz="2000" dirty="0"/>
                  <a:t>): ℬ has a probability of outputting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≤ 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/∣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ℳ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𝐼𝐵𝐸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altLang="zh-TW" sz="2000" dirty="0"/>
              </a:p>
              <a:p>
                <a:r>
                  <a:rPr lang="en-US" altLang="zh-TW" sz="2000" dirty="0"/>
                  <a:t>So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𝑆𝑆𝑎𝑑𝑣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𝑖𝑑</m:t>
                            </m:r>
                          </m:sub>
                        </m:s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d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altLang="zh-TW" sz="2000" dirty="0"/>
                  <a:t> </a:t>
                </a:r>
                <a14:m>
                  <m:oMath xmlns:m="http://schemas.openxmlformats.org/officeDocument/2006/math">
                    <m:r>
                      <a:rPr lang="en-US" altLang="zh-TW" sz="2000" b="0" i="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𝑆𝐼𝐺𝑎𝑑𝑣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-</m:t>
                    </m:r>
                  </m:oMath>
                </a14:m>
                <a:r>
                  <a:rPr lang="en-US" altLang="zh-TW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𝑀𝐼𝐵𝐸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​∣</m:t>
                        </m:r>
                      </m:den>
                    </m:f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altLang="zh-TW" sz="2000" dirty="0"/>
              </a:p>
              <a:p>
                <a:r>
                  <a:rPr lang="en-US" altLang="zh-TW" sz="2000" dirty="0"/>
                  <a:t>Then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𝑆𝐼𝐺𝑎𝑑𝑣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</a:rPr>
                      <m:t>𝑆𝑆𝑎𝑑𝑣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𝑖𝑑</m:t>
                            </m:r>
                          </m:sub>
                        </m:s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</m:d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𝑀𝐼𝐵𝐸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​∣</m:t>
                        </m:r>
                      </m:den>
                    </m:f>
                  </m:oMath>
                </a14:m>
                <a:br>
                  <a:rPr lang="en-US" altLang="zh-TW" sz="2000" dirty="0"/>
                </a:br>
                <a:endParaRPr lang="zh-TW" altLang="en-US" sz="2000" b="1" dirty="0"/>
              </a:p>
            </p:txBody>
          </p:sp>
        </mc:Choice>
        <mc:Fallback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7E4C9150-047F-394A-1F4F-60FB50C9F6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163" y="1737597"/>
                <a:ext cx="11027673" cy="44553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5507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A13BF-0A42-E7D5-0CB7-E9C640B66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E94C65A-A4B5-677F-CCEA-0EFE2F676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83" y="665102"/>
            <a:ext cx="11166577" cy="704800"/>
          </a:xfrm>
        </p:spPr>
        <p:txBody>
          <a:bodyPr/>
          <a:lstStyle/>
          <a:p>
            <a:r>
              <a:rPr lang="en-US" altLang="zh-TW" sz="3600" dirty="0"/>
              <a:t>Applications</a:t>
            </a:r>
            <a:r>
              <a:rPr lang="zh-TW" altLang="en-US" sz="3600" dirty="0"/>
              <a:t>──</a:t>
            </a:r>
            <a:r>
              <a:rPr lang="en-US" altLang="zh-TW" sz="3600" dirty="0"/>
              <a:t>Searching on public-key encrypted data</a:t>
            </a:r>
            <a:br>
              <a:rPr lang="ar-AE" altLang="zh-TW" sz="3600" dirty="0"/>
            </a:br>
            <a:br>
              <a:rPr lang="en-US" altLang="zh-TW" sz="3600" dirty="0"/>
            </a:b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29E0FE32-2D14-0681-01C0-5FEF4BB4E33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163" y="1737597"/>
                <a:ext cx="11027673" cy="4455301"/>
              </a:xfrm>
            </p:spPr>
            <p:txBody>
              <a:bodyPr/>
              <a:lstStyle/>
              <a:p>
                <a:r>
                  <a:rPr lang="en-US" altLang="zh-TW" sz="2000" dirty="0">
                    <a:latin typeface="+mj-lt"/>
                  </a:rPr>
                  <a:t>Problem Scenario</a:t>
                </a:r>
              </a:p>
              <a:p>
                <a:r>
                  <a:rPr lang="en-US" altLang="zh-TW" sz="2000" dirty="0">
                    <a:latin typeface="+mj-lt"/>
                  </a:rPr>
                  <a:t>Alice receives emails encrypted using </a:t>
                </a:r>
                <a:r>
                  <a:rPr lang="en-US" altLang="zh-TW" sz="2000" b="1" dirty="0">
                    <a:latin typeface="+mj-lt"/>
                  </a:rPr>
                  <a:t>a public key</a:t>
                </a:r>
                <a:r>
                  <a:rPr lang="en-US" altLang="zh-TW" sz="2000" dirty="0">
                    <a:latin typeface="+mj-lt"/>
                  </a:rPr>
                  <a:t>, but wants the email server to:</a:t>
                </a:r>
              </a:p>
              <a:p>
                <a:pPr lvl="1"/>
                <a:r>
                  <a:rPr lang="en-US" altLang="zh-TW" sz="2000" b="1" dirty="0">
                    <a:solidFill>
                      <a:srgbClr val="FF0000"/>
                    </a:solidFill>
                    <a:latin typeface="+mj-lt"/>
                  </a:rPr>
                  <a:t>Check</a:t>
                </a:r>
                <a:r>
                  <a:rPr lang="en-US" altLang="zh-TW" sz="2000" dirty="0">
                    <a:latin typeface="+mj-lt"/>
                  </a:rPr>
                  <a:t> whether the email subject contains </a:t>
                </a:r>
                <a:r>
                  <a:rPr lang="en-US" altLang="zh-TW" sz="2000" b="1" dirty="0">
                    <a:solidFill>
                      <a:srgbClr val="FF0000"/>
                    </a:solidFill>
                    <a:latin typeface="+mj-lt"/>
                  </a:rPr>
                  <a:t>specific trigger words </a:t>
                </a:r>
                <a:r>
                  <a:rPr lang="en-US" altLang="zh-TW" sz="2000" dirty="0">
                    <a:latin typeface="+mj-lt"/>
                  </a:rPr>
                  <a:t>(e.g., "urgent," "boss")</a:t>
                </a:r>
              </a:p>
              <a:p>
                <a:pPr lvl="1"/>
                <a:r>
                  <a:rPr lang="en-US" altLang="zh-TW" sz="2000" dirty="0">
                    <a:latin typeface="+mj-lt"/>
                  </a:rPr>
                  <a:t>Automatically forward emails containing trigger words to a mobile phone</a:t>
                </a:r>
              </a:p>
              <a:p>
                <a:pPr lvl="1"/>
                <a:r>
                  <a:rPr lang="en-US" altLang="zh-TW" sz="2000" b="1" dirty="0">
                    <a:solidFill>
                      <a:srgbClr val="FF0000"/>
                    </a:solidFill>
                    <a:latin typeface="+mj-lt"/>
                  </a:rPr>
                  <a:t>Not learn other </a:t>
                </a:r>
                <a:r>
                  <a:rPr lang="en-US" altLang="zh-TW" sz="2000" dirty="0">
                    <a:latin typeface="+mj-lt"/>
                  </a:rPr>
                  <a:t>email content</a:t>
                </a:r>
              </a:p>
              <a:p>
                <a:pPr lvl="1"/>
                <a:r>
                  <a:rPr lang="en-US" altLang="zh-TW" sz="2000" dirty="0">
                    <a:latin typeface="+mj-lt"/>
                  </a:rPr>
                  <a:t>Not possess the </a:t>
                </a:r>
                <a:r>
                  <a:rPr lang="en-US" altLang="zh-TW" sz="2000" b="1" dirty="0">
                    <a:solidFill>
                      <a:srgbClr val="FF0000"/>
                    </a:solidFill>
                    <a:latin typeface="+mj-lt"/>
                  </a:rPr>
                  <a:t>complete</a:t>
                </a:r>
                <a:r>
                  <a:rPr lang="en-US" altLang="zh-TW" sz="2000" dirty="0">
                    <a:latin typeface="+mj-lt"/>
                  </a:rPr>
                  <a:t> decryption</a:t>
                </a:r>
              </a:p>
              <a:p>
                <a:r>
                  <a:rPr lang="en-US" altLang="zh-TW" sz="2000" dirty="0">
                    <a:latin typeface="+mj-lt"/>
                  </a:rPr>
                  <a:t>Solution :</a:t>
                </a:r>
              </a:p>
              <a:p>
                <a:pPr lvl="1"/>
                <a:r>
                  <a:rPr lang="en-US" altLang="zh-TW" sz="2000" dirty="0">
                    <a:latin typeface="+mj-lt"/>
                  </a:rPr>
                  <a:t>Using private IBE allows the server to test for specific keywords without leaking other information.</a:t>
                </a:r>
              </a:p>
              <a:p>
                <a:r>
                  <a:rPr lang="en-US" altLang="zh-TW" sz="2000" dirty="0">
                    <a:latin typeface="+mj-lt"/>
                  </a:rPr>
                  <a:t>System Settings</a:t>
                </a:r>
              </a:p>
              <a:p>
                <a:pPr lvl="1"/>
                <a:r>
                  <a:rPr lang="en-US" altLang="zh-TW" sz="2000" dirty="0">
                    <a:latin typeface="+mj-lt"/>
                  </a:rPr>
                  <a:t>Key generation:		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</a:rPr>
                      <m:t>𝑚𝑝𝑘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</a:rPr>
                      <m:t>𝑚𝑠𝑘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) ←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endParaRPr lang="en-US" altLang="zh-TW" sz="2000" dirty="0">
                  <a:latin typeface="+mj-lt"/>
                </a:endParaRPr>
              </a:p>
              <a:p>
                <a:pPr lvl="1"/>
                <a:r>
                  <a:rPr lang="en-US" altLang="zh-TW" sz="2000" dirty="0">
                    <a:latin typeface="+mj-lt"/>
                  </a:rPr>
                  <a:t>Server Configuration:</a:t>
                </a:r>
                <a:r>
                  <a:rPr lang="zh-TW" altLang="en-US" sz="2000" dirty="0">
                    <a:latin typeface="+mj-lt"/>
                  </a:rPr>
                  <a:t> </a:t>
                </a:r>
                <a:r>
                  <a:rPr lang="en-US" altLang="zh-TW" sz="2000" dirty="0">
                    <a:latin typeface="+mj-lt"/>
                  </a:rPr>
                  <a:t>	For all word </a:t>
                </a:r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altLang="zh-TW" sz="2000" dirty="0">
                    <a:latin typeface="+mj-lt"/>
                  </a:rPr>
                  <a:t> ,</a:t>
                </a:r>
                <a:r>
                  <a:rPr lang="pl-PL" altLang="zh-TW" sz="2000" dirty="0"/>
                  <a:t> </a:t>
                </a:r>
                <a14:m>
                  <m:oMath xmlns:m="http://schemas.openxmlformats.org/officeDocument/2006/math">
                    <m:r>
                      <a:rPr lang="pl-PL" altLang="zh-TW" sz="2000" i="1" dirty="0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groupChr>
                      <m:groupChrPr>
                        <m:chr m:val="←"/>
                        <m:vertJc m:val="bot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pl-PL" altLang="zh-TW" sz="20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groupChr>
                    <m:r>
                      <a:rPr lang="pl-PL" altLang="zh-TW" sz="2000" i="1" dirty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pl-PL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𝑚𝑠𝑘</m:t>
                        </m:r>
                        <m:r>
                          <a:rPr lang="pl-PL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en-US" altLang="zh-TW" sz="2000" dirty="0">
                  <a:latin typeface="+mj-lt"/>
                </a:endParaRPr>
              </a:p>
              <a:p>
                <a:pPr lvl="1"/>
                <a:r>
                  <a:rPr lang="en-US" altLang="zh-TW" sz="2000" dirty="0">
                    <a:latin typeface="+mj-lt"/>
                  </a:rPr>
                  <a:t>Identity Space: ID = 		All English words (or a specific vocabulary)</a:t>
                </a:r>
                <a:endParaRPr lang="ar-AE" altLang="zh-TW" sz="2000" dirty="0">
                  <a:latin typeface="+mj-lt"/>
                </a:endParaRPr>
              </a:p>
            </p:txBody>
          </p:sp>
        </mc:Choice>
        <mc:Fallback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29E0FE32-2D14-0681-01C0-5FEF4BB4E3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163" y="1737597"/>
                <a:ext cx="11027673" cy="4455301"/>
              </a:xfrm>
              <a:blipFill>
                <a:blip r:embed="rId3"/>
                <a:stretch>
                  <a:fillRect r="-221" b="-36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5703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413D1-DF6B-F6DE-6905-0C81B0074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4A2B6461-4601-730B-CD28-34EE0D9EB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83" y="665102"/>
            <a:ext cx="11166577" cy="704800"/>
          </a:xfrm>
        </p:spPr>
        <p:txBody>
          <a:bodyPr/>
          <a:lstStyle/>
          <a:p>
            <a:r>
              <a:rPr lang="en-US" altLang="zh-TW" sz="3600" dirty="0"/>
              <a:t>Applications</a:t>
            </a:r>
            <a:r>
              <a:rPr lang="zh-TW" altLang="en-US" sz="3600" dirty="0"/>
              <a:t>──</a:t>
            </a:r>
            <a:r>
              <a:rPr lang="en-US" altLang="zh-TW" sz="3600" dirty="0"/>
              <a:t>Searching on public-key encrypted data</a:t>
            </a:r>
            <a:br>
              <a:rPr lang="ar-AE" altLang="zh-TW" sz="3600" dirty="0"/>
            </a:br>
            <a:br>
              <a:rPr lang="en-US" altLang="zh-TW" sz="3600" dirty="0"/>
            </a:b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89754DC1-C59F-6594-2729-7ABDA541DF6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163" y="1737597"/>
                <a:ext cx="11027673" cy="4455301"/>
              </a:xfrm>
            </p:spPr>
            <p:txBody>
              <a:bodyPr/>
              <a:lstStyle/>
              <a:p>
                <a:r>
                  <a:rPr lang="zh-TW" altLang="en-US" sz="2000" b="1" dirty="0">
                    <a:latin typeface="+mj-lt"/>
                  </a:rPr>
                  <a:t> </a:t>
                </a:r>
                <a:r>
                  <a:rPr lang="en-US" altLang="zh-TW" sz="2000" b="1" dirty="0">
                    <a:latin typeface="+mj-lt"/>
                  </a:rPr>
                  <a:t>Email sending process</a:t>
                </a:r>
              </a:p>
              <a:p>
                <a:pPr marL="1253047" lvl="1" indent="-457200">
                  <a:buFont typeface="+mj-lt"/>
                  <a:buAutoNum type="arabicPeriod"/>
                </a:pPr>
                <a:r>
                  <a:rPr lang="en-US" altLang="zh-TW" sz="2000" dirty="0">
                    <a:latin typeface="+mj-lt"/>
                  </a:rPr>
                  <a:t>Encrypted email body</a:t>
                </a: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𝑐𝑡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←</m:t>
                    </m:r>
                    <m:sSub>
                      <m:sSubPr>
                        <m:ctrlPr>
                          <a:rPr lang="en-US" altLang="zh-TW" sz="20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err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TW" sz="2000" i="1" dirty="0" err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err="1">
                            <a:latin typeface="Cambria Math" panose="02040503050406030204" pitchFamily="18" charset="0"/>
                          </a:rPr>
                          <m:t>𝑚𝑎𝑖</m:t>
                        </m:r>
                        <m:r>
                          <m:rPr>
                            <m:sty m:val="p"/>
                          </m:r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altLang="zh-TW" sz="2000" i="1" dirty="0" err="1">
                            <a:latin typeface="Cambria Math" panose="02040503050406030204" pitchFamily="18" charset="0"/>
                          </a:rPr>
                          <m:t>𝑜𝑑𝑦</m:t>
                        </m:r>
                      </m:e>
                    </m:d>
                  </m:oMath>
                </a14:m>
                <a:endParaRPr lang="en-US" altLang="zh-TW" sz="2000" dirty="0">
                  <a:latin typeface="+mj-lt"/>
                </a:endParaRPr>
              </a:p>
              <a:p>
                <a:pPr marL="1253047" lvl="1" indent="-457200">
                  <a:buFont typeface="+mj-lt"/>
                  <a:buAutoNum type="arabicPeriod"/>
                </a:pPr>
                <a:r>
                  <a:rPr lang="en-US" altLang="zh-TW" sz="2000" dirty="0">
                    <a:latin typeface="+mj-lt"/>
                  </a:rPr>
                  <a:t>Processing topic words</a:t>
                </a:r>
              </a:p>
              <a:p>
                <a:pPr lvl="2">
                  <a:spcBef>
                    <a:spcPts val="0"/>
                  </a:spcBef>
                </a:pPr>
                <a:r>
                  <a:rPr lang="en-US" altLang="zh-TW" sz="2000" dirty="0">
                    <a:latin typeface="+mj-lt"/>
                  </a:rPr>
                  <a:t>For All topic word in mail body</a:t>
                </a: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zh-TW" sz="2000" dirty="0">
                    <a:latin typeface="+mj-lt"/>
                  </a:rPr>
                  <a:t># Random test value</a:t>
                </a: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err="1">
                            <a:latin typeface="Cambria Math" panose="02040503050406030204" pitchFamily="18" charset="0"/>
                          </a:rPr>
                          <m:t>𝑚𝑝𝑘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 err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TW" sz="20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zh-TW" sz="2000" dirty="0">
                    <a:latin typeface="+mj-lt"/>
                  </a:rPr>
                  <a:t> # Encrypt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TW" sz="2000" dirty="0">
                    <a:latin typeface="+mj-lt"/>
                  </a:rPr>
                  <a:t> using IBE to give identity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TW" sz="2000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TW" sz="2000" dirty="0">
                  <a:latin typeface="+mj-lt"/>
                </a:endParaRPr>
              </a:p>
              <a:p>
                <a:pPr lvl="2">
                  <a:spcBef>
                    <a:spcPts val="0"/>
                  </a:spcBef>
                </a:pPr>
                <a:r>
                  <a:rPr lang="en-US" altLang="zh-TW" sz="2000" dirty="0">
                    <a:latin typeface="+mj-lt"/>
                  </a:rPr>
                  <a:t>Send</a:t>
                </a:r>
                <a:r>
                  <a:rPr lang="zh-TW" altLang="en-US" sz="2000" dirty="0">
                    <a:latin typeface="+mj-lt"/>
                  </a:rPr>
                  <a:t>  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altLang="zh-TW" sz="2000">
                            <a:latin typeface="+mj-lt"/>
                          </a:rPr>
                        </m:ctrlPr>
                      </m:dPr>
                      <m:e>
                        <m:r>
                          <a:rPr lang="zh-TW" altLang="ar-AE" sz="2000" i="1">
                            <a:latin typeface="+mj-lt"/>
                          </a:rPr>
                          <m:t>𝑡</m:t>
                        </m:r>
                      </m:e>
                      <m:e>
                        <m:sSub>
                          <m:sSubPr>
                            <m:ctrlPr>
                              <a:rPr lang="ar-AE" altLang="zh-TW" sz="2000" i="1"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zh-TW" altLang="ar-AE" sz="2000" i="1">
                                <a:latin typeface="+mj-lt"/>
                              </a:rPr>
                              <m:t>𝑐</m:t>
                            </m:r>
                          </m:e>
                          <m:sub>
                            <m:r>
                              <a:rPr lang="ar-AE" altLang="zh-TW" sz="2000">
                                <a:latin typeface="+mj-lt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lang="ar-AE" altLang="zh-TW" sz="2000">
                            <a:latin typeface="+mj-lt"/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ar-AE" altLang="zh-TW" sz="2000" i="1"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zh-TW" altLang="ar-AE" sz="2000" i="1">
                                <a:latin typeface="+mj-lt"/>
                              </a:rPr>
                              <m:t>𝑐</m:t>
                            </m:r>
                          </m:e>
                          <m:sub>
                            <m:r>
                              <a:rPr lang="zh-TW" altLang="ar-AE" sz="2000" i="1">
                                <a:latin typeface="+mj-lt"/>
                              </a:rPr>
                              <m:t>𝑛</m:t>
                            </m:r>
                          </m:sub>
                        </m:sSub>
                      </m:e>
                      <m:e>
                        <m:r>
                          <a:rPr lang="zh-TW" altLang="ar-AE" sz="2000" i="1">
                            <a:latin typeface="+mj-lt"/>
                          </a:rPr>
                          <m:t>𝑐𝑡</m:t>
                        </m:r>
                      </m:e>
                    </m:d>
                  </m:oMath>
                </a14:m>
                <a:r>
                  <a:rPr lang="ar-AE" altLang="zh-TW" sz="2000" dirty="0">
                    <a:latin typeface="+mj-lt"/>
                  </a:rPr>
                  <a:t> </a:t>
                </a:r>
                <a:r>
                  <a:rPr lang="en-US" altLang="zh-TW" sz="2000" dirty="0">
                    <a:latin typeface="+mj-lt"/>
                  </a:rPr>
                  <a:t>to Server</a:t>
                </a:r>
              </a:p>
              <a:p>
                <a:r>
                  <a:rPr lang="en-US" altLang="zh-TW" sz="2000" dirty="0">
                    <a:latin typeface="+mj-lt"/>
                  </a:rPr>
                  <a:t>Server Processing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err="1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altLang="zh-TW" sz="20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 err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2000" i="1" dirty="0" err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 err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TW" sz="2000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000" dirty="0">
                    <a:latin typeface="+mj-lt"/>
                  </a:rPr>
                  <a:t># Try decrypting</a:t>
                </a:r>
              </a:p>
              <a:p>
                <a:pPr lvl="1"/>
                <a:r>
                  <a:rPr lang="en-US" altLang="zh-TW" sz="2000" dirty="0">
                    <a:latin typeface="+mj-lt"/>
                  </a:rPr>
                  <a:t>if t' == t: # Decryption successful!</a:t>
                </a:r>
              </a:p>
            </p:txBody>
          </p:sp>
        </mc:Choice>
        <mc:Fallback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89754DC1-C59F-6594-2729-7ABDA541DF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163" y="1737597"/>
                <a:ext cx="11027673" cy="44553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8622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E1E18D-2872-4F1C-EC02-B970F5F76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58890" y="3120200"/>
            <a:ext cx="10674221" cy="617600"/>
          </a:xfrm>
        </p:spPr>
        <p:txBody>
          <a:bodyPr/>
          <a:lstStyle/>
          <a:p>
            <a:r>
              <a:rPr lang="en-US" altLang="zh-TW" dirty="0"/>
              <a:t>The functional encryption paradigm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566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35A46-860B-AEA0-47C8-AEBE94B1C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D10C8C9-D9E7-BA55-B5DC-15FE3D38C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83" y="665102"/>
            <a:ext cx="11166577" cy="704800"/>
          </a:xfrm>
        </p:spPr>
        <p:txBody>
          <a:bodyPr/>
          <a:lstStyle/>
          <a:p>
            <a:r>
              <a:rPr lang="en-US" altLang="zh-TW" sz="3600" dirty="0"/>
              <a:t>The functional encryption paradigm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BEB84D25-1EDE-9E32-4501-3E7DA939CC4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163" y="1737597"/>
                <a:ext cx="11027673" cy="4455301"/>
              </a:xfrm>
            </p:spPr>
            <p:txBody>
              <a:bodyPr/>
              <a:lstStyle/>
              <a:p>
                <a:r>
                  <a:rPr lang="en-US" altLang="zh-TW" sz="2000" b="1" dirty="0">
                    <a:latin typeface="+mj-lt"/>
                  </a:rPr>
                  <a:t>Functional encryption supports "partial decryption":</a:t>
                </a:r>
              </a:p>
              <a:p>
                <a:pPr lvl="1"/>
                <a:r>
                  <a:rPr lang="en-US" altLang="zh-TW" sz="2000" dirty="0">
                    <a:latin typeface="+mj-lt"/>
                  </a:rPr>
                  <a:t>Different keys can decrypt different function results.</a:t>
                </a:r>
              </a:p>
              <a:p>
                <a:pPr lvl="1"/>
                <a:r>
                  <a:rPr lang="en-US" altLang="zh-TW" sz="2000" dirty="0">
                    <a:latin typeface="+mj-lt"/>
                  </a:rPr>
                  <a:t>Each key only reveals specific information, not the </a:t>
                </a:r>
                <a:r>
                  <a:rPr lang="en-US" altLang="zh-TW" sz="2000" b="1" dirty="0">
                    <a:solidFill>
                      <a:srgbClr val="FF0000"/>
                    </a:solidFill>
                    <a:latin typeface="+mj-lt"/>
                  </a:rPr>
                  <a:t>entire content</a:t>
                </a:r>
                <a:r>
                  <a:rPr lang="en-US" altLang="zh-TW" sz="2000" dirty="0">
                    <a:latin typeface="+mj-lt"/>
                  </a:rPr>
                  <a:t>.</a:t>
                </a:r>
              </a:p>
              <a:p>
                <a:r>
                  <a:rPr lang="en-US" altLang="zh-TW" sz="2000" b="1" dirty="0">
                    <a:latin typeface="+mj-lt"/>
                  </a:rPr>
                  <a:t>Formal definition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ℱℰ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TW" altLang="en-US" sz="2000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000" dirty="0">
                    <a:latin typeface="+mj-lt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(): </m:t>
                    </m:r>
                  </m:oMath>
                </a14:m>
                <a:r>
                  <a:rPr lang="en-US" altLang="zh-TW" sz="2000" dirty="0">
                    <a:latin typeface="+mj-lt"/>
                  </a:rPr>
                  <a:t>Generates the master key pair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</a:rPr>
                      <m:t>𝑚𝑝𝑘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</a:rPr>
                      <m:t>𝑚𝑠𝑘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000" dirty="0">
                  <a:latin typeface="+mj-lt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00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𝑠𝑘</m:t>
                        </m:r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TW" sz="2000" dirty="0">
                    <a:latin typeface="+mj-lt"/>
                  </a:rPr>
                  <a:t> Generates the functional key </a:t>
                </a:r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zh-TW" altLang="en-US" sz="200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+mj-lt"/>
                  </a:rPr>
                  <a:t>for the </a:t>
                </a:r>
                <a:r>
                  <a:rPr lang="en-US" altLang="zh-TW" sz="2000" b="1" dirty="0">
                    <a:latin typeface="+mj-lt"/>
                  </a:rPr>
                  <a:t>function </a:t>
                </a:r>
                <a14:m>
                  <m:oMath xmlns:m="http://schemas.openxmlformats.org/officeDocument/2006/math">
                    <m:r>
                      <a:rPr lang="zh-TW" altLang="en-US" sz="2000" b="1" i="1" dirty="0" smtClean="0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endParaRPr lang="zh-TW" altLang="en-US" sz="2000" b="1" dirty="0">
                  <a:latin typeface="+mj-lt"/>
                </a:endParaRPr>
              </a:p>
              <a:p>
                <a:pPr lvl="1"/>
                <a:r>
                  <a:rPr lang="zh-TW" altLang="en-US" sz="2000" dirty="0">
                    <a:latin typeface="+mj-lt"/>
                  </a:rPr>
                  <a:t>𝐸</a:t>
                </a:r>
                <a:r>
                  <a:rPr lang="en-US" altLang="zh-TW" sz="2000" dirty="0">
                    <a:latin typeface="+mj-lt"/>
                  </a:rPr>
                  <a:t>(</a:t>
                </a:r>
                <a:r>
                  <a:rPr lang="zh-TW" altLang="en-US" sz="2000" dirty="0">
                    <a:latin typeface="+mj-lt"/>
                  </a:rPr>
                  <a:t>𝑚</a:t>
                </a:r>
                <a:r>
                  <a:rPr lang="en-US" altLang="zh-TW" sz="2000" dirty="0">
                    <a:latin typeface="+mj-lt"/>
                  </a:rPr>
                  <a:t>,</a:t>
                </a:r>
                <a:r>
                  <a:rPr lang="zh-TW" altLang="en-US" sz="2000" dirty="0">
                    <a:latin typeface="+mj-lt"/>
                  </a:rPr>
                  <a:t>𝑝𝑘𝑚</a:t>
                </a:r>
                <a:r>
                  <a:rPr lang="en-US" altLang="zh-TW" sz="2000" dirty="0">
                    <a:latin typeface="+mj-lt"/>
                  </a:rPr>
                  <a:t>): Encrypts the message </a:t>
                </a:r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zh-TW" altLang="en-US" sz="2000" dirty="0">
                  <a:latin typeface="+mj-lt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err="1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altLang="zh-TW" sz="20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 dirty="0" err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2000" i="1" dirty="0" err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altLang="zh-TW" sz="2000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i="1" dirty="0" err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TW" sz="2000" dirty="0">
                    <a:latin typeface="+mj-lt"/>
                  </a:rPr>
                  <a:t>Decrypts using </a:t>
                </a:r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+mj-lt"/>
                  </a:rPr>
                  <a:t>to obtain </a:t>
                </a:r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TW" altLang="en-US" sz="20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altLang="zh-TW" sz="2000" dirty="0">
                  <a:latin typeface="+mj-lt"/>
                </a:endParaRPr>
              </a:p>
              <a:p>
                <a:r>
                  <a:rPr lang="en-US" altLang="zh-TW" sz="2000" dirty="0"/>
                  <a:t>For all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TW" sz="2000" dirty="0"/>
                  <a:t> &amp;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TW" sz="2000" dirty="0"/>
                  <a:t>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i="1" dirty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⁡[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</a:rPr>
                      <m:t>𝑚𝑠𝑘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</a:rPr>
                      <m:t>𝑚𝑝𝑘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))=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)]=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TW" sz="2000" dirty="0">
                  <a:latin typeface="+mj-lt"/>
                </a:endParaRPr>
              </a:p>
              <a:p>
                <a:endParaRPr lang="en-US" altLang="zh-TW" sz="2000" dirty="0">
                  <a:latin typeface="+mj-lt"/>
                </a:endParaRPr>
              </a:p>
              <a:p>
                <a:endParaRPr lang="en-US" altLang="zh-TW" sz="2000" dirty="0">
                  <a:latin typeface="+mj-lt"/>
                </a:endParaRPr>
              </a:p>
            </p:txBody>
          </p:sp>
        </mc:Choice>
        <mc:Fallback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BEB84D25-1EDE-9E32-4501-3E7DA939CC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163" y="1737597"/>
                <a:ext cx="11027673" cy="44553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7539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53004-018B-B846-E1D3-38D3BB49B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2A42D0BF-5355-AD1E-1368-B7E70A479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83" y="665102"/>
            <a:ext cx="11166577" cy="704800"/>
          </a:xfrm>
        </p:spPr>
        <p:txBody>
          <a:bodyPr/>
          <a:lstStyle/>
          <a:p>
            <a:r>
              <a:rPr lang="en-US" altLang="zh-TW" sz="3600" dirty="0"/>
              <a:t>The functional encryption paradigm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DADAF54E-E3B5-929A-B11E-AD9AF42FAA4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163" y="1737597"/>
                <a:ext cx="11166577" cy="4455301"/>
              </a:xfrm>
            </p:spPr>
            <p:txBody>
              <a:bodyPr/>
              <a:lstStyle/>
              <a:p>
                <a:r>
                  <a:rPr lang="en-US" altLang="zh-TW" sz="2000" dirty="0">
                    <a:latin typeface="+mj-lt"/>
                  </a:rPr>
                  <a:t>The null functional key </a:t>
                </a:r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𝜖</m:t>
                        </m:r>
                      </m:sub>
                    </m:sSub>
                  </m:oMath>
                </a14:m>
                <a:endParaRPr lang="zh-TW" altLang="en-US" sz="2000" dirty="0">
                  <a:latin typeface="+mj-lt"/>
                </a:endParaRPr>
              </a:p>
              <a:p>
                <a:pPr lvl="1"/>
                <a:r>
                  <a:rPr lang="en-US" altLang="zh-TW" sz="2000" dirty="0">
                    <a:latin typeface="+mj-lt"/>
                  </a:rPr>
                  <a:t>Usually considered to be a public key</a:t>
                </a:r>
              </a:p>
              <a:p>
                <a:pPr lvl="1"/>
                <a:r>
                  <a:rPr lang="en-US" altLang="zh-TW" sz="2000" dirty="0">
                    <a:latin typeface="+mj-lt"/>
                  </a:rPr>
                  <a:t>The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𝑠𝑘</m:t>
                    </m:r>
                  </m:oMath>
                </a14:m>
                <a:r>
                  <a:rPr lang="en-US" altLang="zh-TW" sz="2000" dirty="0">
                    <a:latin typeface="+mj-lt"/>
                  </a:rPr>
                  <a:t> used to encrypt </a:t>
                </a:r>
                <a:r>
                  <a:rPr lang="en-US" altLang="zh-TW" sz="2000" b="1" dirty="0">
                    <a:solidFill>
                      <a:srgbClr val="FF0000"/>
                    </a:solidFill>
                    <a:latin typeface="+mj-lt"/>
                  </a:rPr>
                  <a:t>information</a:t>
                </a:r>
                <a:r>
                  <a:rPr lang="en-US" altLang="zh-TW" sz="2000" dirty="0">
                    <a:latin typeface="+mj-lt"/>
                  </a:rPr>
                  <a:t> that must be made </a:t>
                </a:r>
                <a:r>
                  <a:rPr lang="en-US" altLang="zh-TW" sz="2000" b="1" dirty="0">
                    <a:solidFill>
                      <a:srgbClr val="FF0000"/>
                    </a:solidFill>
                    <a:latin typeface="+mj-lt"/>
                  </a:rPr>
                  <a:t>public</a:t>
                </a:r>
                <a:r>
                  <a:rPr lang="en-US" altLang="zh-TW" sz="2000" dirty="0">
                    <a:latin typeface="+mj-lt"/>
                  </a:rPr>
                  <a:t> is called a null functional key.</a:t>
                </a:r>
              </a:p>
              <a:p>
                <a:pPr lvl="1"/>
                <a:r>
                  <a:rPr lang="en-US" altLang="zh-TW" sz="2000" dirty="0">
                    <a:latin typeface="+mj-lt"/>
                  </a:rPr>
                  <a:t>Ex : Message size, Plaintext length , Encryption time , Possible metadata</a:t>
                </a:r>
              </a:p>
              <a:p>
                <a:r>
                  <a:rPr lang="en-US" altLang="zh-TW" sz="2000" dirty="0">
                    <a:latin typeface="+mj-lt"/>
                  </a:rPr>
                  <a:t>Attack Game (semantic security)</a:t>
                </a:r>
              </a:p>
              <a:p>
                <a:pPr lvl="1"/>
                <a:r>
                  <a:rPr lang="en-US" altLang="zh-TW" sz="2000" dirty="0">
                    <a:latin typeface="+mj-lt"/>
                  </a:rPr>
                  <a:t>Initial: Adversary get </a:t>
                </a:r>
                <a:r>
                  <a:rPr lang="zh-TW" altLang="en-US" sz="2000" dirty="0">
                    <a:latin typeface="+mj-lt"/>
                  </a:rPr>
                  <a:t>𝑚𝑝𝑘 </a:t>
                </a:r>
                <a:r>
                  <a:rPr lang="en-US" altLang="zh-TW" sz="2000" dirty="0">
                    <a:latin typeface="+mj-lt"/>
                  </a:rPr>
                  <a:t>and </a:t>
                </a:r>
                <a:r>
                  <a:rPr lang="zh-TW" altLang="en-US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𝜖</m:t>
                        </m:r>
                      </m:sub>
                    </m:sSub>
                  </m:oMath>
                </a14:m>
                <a:endParaRPr lang="zh-TW" altLang="en-US" sz="2000" dirty="0">
                  <a:latin typeface="+mj-lt"/>
                </a:endParaRPr>
              </a:p>
              <a:p>
                <a:pPr lvl="1"/>
                <a:r>
                  <a:rPr lang="en-US" altLang="zh-TW" sz="2000" dirty="0">
                    <a:latin typeface="+mj-lt"/>
                  </a:rPr>
                  <a:t>Key query: The adversary submits </a:t>
                </a:r>
                <a:r>
                  <a:rPr lang="zh-TW" altLang="en-US" sz="2000" dirty="0">
                    <a:latin typeface="+mj-lt"/>
                  </a:rPr>
                  <a:t>𝑓 ∈ </a:t>
                </a:r>
                <a:r>
                  <a:rPr lang="en-US" altLang="zh-TW" sz="2000" dirty="0">
                    <a:latin typeface="+mj-lt"/>
                  </a:rPr>
                  <a:t>ℱ and obtains </a:t>
                </a:r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zh-TW" altLang="en-US" sz="2000" i="1" dirty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zh-TW" altLang="en-US" sz="2000" i="1" dirty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𝑚𝑠</m:t>
                        </m:r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sz="2000" dirty="0">
                  <a:latin typeface="+mj-lt"/>
                </a:endParaRPr>
              </a:p>
              <a:p>
                <a:pPr lvl="1"/>
                <a:r>
                  <a:rPr lang="en-US" altLang="zh-TW" sz="2000" dirty="0">
                    <a:latin typeface="+mj-lt"/>
                  </a:rPr>
                  <a:t>Encrypted query: The adversary submits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TW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ℳ</m:t>
                        </m:r>
                      </m:e>
                      <m:sup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sz="2000" dirty="0">
                    <a:latin typeface="+mj-lt"/>
                  </a:rPr>
                  <a:t>and obtains </a:t>
                </a:r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𝑚𝑝𝑘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zh-TW" altLang="en-US" sz="20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sz="2000" dirty="0">
                  <a:latin typeface="+mj-lt"/>
                </a:endParaRPr>
              </a:p>
              <a:p>
                <a:pPr lvl="1"/>
                <a:r>
                  <a:rPr lang="en-US" altLang="zh-TW" sz="2000" dirty="0">
                    <a:latin typeface="+mj-lt"/>
                  </a:rPr>
                  <a:t>The Final : The adversary  guess </a:t>
                </a:r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 ∈</m:t>
                    </m:r>
                    <m:r>
                      <m:rPr>
                        <m:lit/>
                      </m:rPr>
                      <a:rPr lang="en-US" altLang="zh-TW" sz="2000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lit/>
                      </m:rPr>
                      <a:rPr lang="en-US" altLang="zh-TW" sz="20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TW" sz="2000" dirty="0">
                  <a:latin typeface="+mj-lt"/>
                </a:endParaRPr>
              </a:p>
              <a:p>
                <a:r>
                  <a:rPr lang="en-US" altLang="zh-TW" sz="2000" dirty="0">
                    <a:latin typeface="+mj-lt"/>
                  </a:rPr>
                  <a:t>Adversary Advantage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𝑆𝑆𝑎𝑑𝑣</m:t>
                    </m:r>
                    <m:d>
                      <m:dPr>
                        <m:begChr m:val="["/>
                        <m:endChr m:val="]"/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TW" altLang="en-US" sz="2000" i="1" dirty="0">
                            <a:latin typeface="Cambria Math" panose="02040503050406030204" pitchFamily="18" charset="0"/>
                          </a:rPr>
                          <m:t>𝐹𝐸</m:t>
                        </m:r>
                      </m:e>
                    </m:d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=∣</m:t>
                    </m:r>
                    <m:r>
                      <a:rPr lang="zh-TW" altLang="en-US" sz="2000" i="1" dirty="0">
                        <a:latin typeface="Cambria Math" panose="02040503050406030204" pitchFamily="18" charset="0"/>
                      </a:rPr>
                      <m:t>𝑃</m:t>
                    </m:r>
                    <m:func>
                      <m:funcPr>
                        <m:ctrlPr>
                          <a:rPr lang="zh-TW" altLang="en-US" sz="20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zh-TW" altLang="en-US" sz="2000" i="0" dirty="0">
                            <a:latin typeface="Cambria Math" panose="02040503050406030204" pitchFamily="18" charset="0"/>
                          </a:rPr>
                          <m:t>𝑟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000" i="1" dirty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</m:func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TW" altLang="en-US" sz="2000" i="1" dirty="0">
                        <a:latin typeface="Cambria Math" panose="02040503050406030204" pitchFamily="18" charset="0"/>
                      </a:rPr>
                      <m:t>𝑃</m:t>
                    </m:r>
                    <m:func>
                      <m:funcPr>
                        <m:ctrlPr>
                          <a:rPr lang="zh-TW" altLang="en-US" sz="20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zh-TW" altLang="en-US" sz="2000" i="0" dirty="0">
                            <a:latin typeface="Cambria Math" panose="02040503050406030204" pitchFamily="18" charset="0"/>
                          </a:rPr>
                          <m:t>𝑟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sz="2000" i="1" dirty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altLang="zh-TW" sz="20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</m:func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endParaRPr lang="en-US" altLang="zh-TW" sz="2000" dirty="0">
                  <a:latin typeface="+mj-lt"/>
                </a:endParaRPr>
              </a:p>
            </p:txBody>
          </p:sp>
        </mc:Choice>
        <mc:Fallback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DADAF54E-E3B5-929A-B11E-AD9AF42FAA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163" y="1737597"/>
                <a:ext cx="11166577" cy="44553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2154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19AA6-9E26-5648-4FBE-2B87DC34D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41970963-EBA2-841C-CB5F-B20324F15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83" y="665102"/>
            <a:ext cx="11166577" cy="704800"/>
          </a:xfrm>
        </p:spPr>
        <p:txBody>
          <a:bodyPr/>
          <a:lstStyle/>
          <a:p>
            <a:r>
              <a:rPr lang="en-US" altLang="zh-TW" sz="3600" dirty="0"/>
              <a:t>The functional encryption paradigm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3DE33063-B985-D277-9FD4-C9DEC39D949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163" y="1737597"/>
                <a:ext cx="11166577" cy="4455301"/>
              </a:xfrm>
            </p:spPr>
            <p:txBody>
              <a:bodyPr/>
              <a:lstStyle/>
              <a:p>
                <a:r>
                  <a:rPr lang="en-US" altLang="zh-TW" sz="2000" b="1" dirty="0">
                    <a:latin typeface="+mj-lt"/>
                  </a:rPr>
                  <a:t>Robust functional encryption.</a:t>
                </a:r>
              </a:p>
              <a:p>
                <a:r>
                  <a:rPr lang="en-US" altLang="zh-TW" sz="2000" dirty="0">
                    <a:latin typeface="+mj-lt"/>
                  </a:rPr>
                  <a:t>Problem Background</a:t>
                </a:r>
              </a:p>
              <a:p>
                <a:r>
                  <a:rPr lang="en-US" altLang="zh-TW" sz="2000" dirty="0">
                    <a:latin typeface="+mj-lt"/>
                  </a:rPr>
                  <a:t>Consider two function keys: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zh-TW" altLang="en-US" sz="2000" i="1" dirty="0">
                        <a:latin typeface="+mj-lt"/>
                      </a:rPr>
                      <m:t>𝑠</m:t>
                    </m:r>
                    <m:sSub>
                      <m:sSubPr>
                        <m:ctrlPr>
                          <a:rPr lang="en-US" altLang="zh-TW" sz="2000" i="1" dirty="0">
                            <a:latin typeface="+mj-lt"/>
                          </a:rPr>
                        </m:ctrlPr>
                      </m:sSubPr>
                      <m:e>
                        <m:r>
                          <a:rPr lang="zh-TW" altLang="en-US" sz="2000" i="1" dirty="0">
                            <a:latin typeface="+mj-lt"/>
                          </a:rPr>
                          <m:t>𝑘</m:t>
                        </m:r>
                      </m:e>
                      <m:sub>
                        <m:r>
                          <a:rPr lang="zh-TW" altLang="en-US" sz="2000" i="1" dirty="0">
                            <a:latin typeface="+mj-lt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+mj-lt"/>
                  </a:rPr>
                  <a:t>: spam detection key (outputs 0 or 1)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zh-TW" altLang="en-US" sz="2000" i="1" dirty="0">
                        <a:latin typeface="+mj-lt"/>
                      </a:rPr>
                      <m:t>𝑠</m:t>
                    </m:r>
                    <m:sSub>
                      <m:sSubPr>
                        <m:ctrlPr>
                          <a:rPr lang="en-US" altLang="zh-TW" sz="2000" i="1" dirty="0">
                            <a:latin typeface="+mj-lt"/>
                          </a:rPr>
                        </m:ctrlPr>
                      </m:sSubPr>
                      <m:e>
                        <m:r>
                          <a:rPr lang="zh-TW" altLang="en-US" sz="2000" i="1" dirty="0">
                            <a:latin typeface="+mj-lt"/>
                          </a:rPr>
                          <m:t>𝑘</m:t>
                        </m:r>
                      </m:e>
                      <m:sub>
                        <m:r>
                          <a:rPr lang="zh-TW" altLang="en-US" sz="2000" i="1" dirty="0">
                            <a:latin typeface="+mj-lt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+mj-lt"/>
                  </a:rPr>
                  <a:t>: full decryption key</a:t>
                </a:r>
              </a:p>
              <a:p>
                <a:r>
                  <a:rPr lang="en-US" altLang="zh-TW" sz="2000" dirty="0">
                    <a:latin typeface="+mj-lt"/>
                  </a:rPr>
                  <a:t>An attacker may construct ciphertext </a:t>
                </a:r>
                <a:r>
                  <a:rPr lang="zh-TW" altLang="en-US" sz="2000" dirty="0">
                    <a:latin typeface="+mj-lt"/>
                  </a:rPr>
                  <a:t>𝑐 </a:t>
                </a:r>
                <a:r>
                  <a:rPr lang="en-US" altLang="zh-TW" sz="2000" dirty="0">
                    <a:latin typeface="+mj-lt"/>
                  </a:rPr>
                  <a:t>such that: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sz="2000" i="1" dirty="0">
                        <a:latin typeface="+mj-lt"/>
                      </a:rPr>
                      <m:t>𝐷</m:t>
                    </m:r>
                    <m:d>
                      <m:dPr>
                        <m:ctrlPr>
                          <a:rPr lang="en-US" altLang="zh-TW" sz="2000" i="1" dirty="0">
                            <a:latin typeface="+mj-lt"/>
                          </a:rPr>
                        </m:ctrlPr>
                      </m:dPr>
                      <m:e>
                        <m:r>
                          <a:rPr lang="en-US" altLang="zh-TW" sz="2000" i="1" dirty="0" err="1">
                            <a:latin typeface="+mj-lt"/>
                          </a:rPr>
                          <m:t>𝑠</m:t>
                        </m:r>
                        <m:sSub>
                          <m:sSubPr>
                            <m:ctrlPr>
                              <a:rPr lang="en-US" altLang="zh-TW" sz="2000" i="1" dirty="0" err="1"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US" altLang="zh-TW" sz="2000" i="1" dirty="0" err="1">
                                <a:latin typeface="+mj-lt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2000" i="1" dirty="0" err="1">
                                <a:latin typeface="+mj-lt"/>
                              </a:rPr>
                              <m:t>𝑃</m:t>
                            </m:r>
                          </m:sub>
                        </m:sSub>
                        <m:r>
                          <a:rPr lang="en-US" altLang="zh-TW" sz="2000" i="1" dirty="0">
                            <a:latin typeface="+mj-lt"/>
                          </a:rPr>
                          <m:t>​,</m:t>
                        </m:r>
                        <m:r>
                          <a:rPr lang="en-US" altLang="zh-TW" sz="2000" i="1" dirty="0">
                            <a:latin typeface="+mj-lt"/>
                          </a:rPr>
                          <m:t>𝑐</m:t>
                        </m:r>
                      </m:e>
                    </m:d>
                    <m:r>
                      <a:rPr lang="en-US" altLang="zh-TW" sz="2000" i="1" dirty="0">
                        <a:latin typeface="+mj-lt"/>
                      </a:rPr>
                      <m:t>=</m:t>
                    </m:r>
                    <m:r>
                      <a:rPr lang="en-US" altLang="zh-TW" sz="2000" i="1" dirty="0">
                        <a:latin typeface="+mj-lt"/>
                      </a:rPr>
                      <m:t>0</m:t>
                    </m:r>
                  </m:oMath>
                </a14:m>
                <a:r>
                  <a:rPr lang="en-US" altLang="zh-TW" sz="2000" dirty="0">
                    <a:latin typeface="+mj-lt"/>
                  </a:rPr>
                  <a:t>(non-spam)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zh-TW" altLang="en-US" sz="2000" i="1" dirty="0">
                        <a:latin typeface="+mj-lt"/>
                      </a:rPr>
                      <m:t>𝐷</m:t>
                    </m:r>
                    <m:d>
                      <m:dPr>
                        <m:ctrlPr>
                          <a:rPr lang="en-US" altLang="zh-TW" sz="2000" i="1" dirty="0">
                            <a:latin typeface="+mj-lt"/>
                          </a:rPr>
                        </m:ctrlPr>
                      </m:dPr>
                      <m:e>
                        <m:r>
                          <a:rPr lang="en-US" altLang="zh-TW" sz="2000" i="1" dirty="0" err="1">
                            <a:latin typeface="+mj-lt"/>
                          </a:rPr>
                          <m:t>𝑠</m:t>
                        </m:r>
                        <m:sSub>
                          <m:sSubPr>
                            <m:ctrlPr>
                              <a:rPr lang="en-US" altLang="zh-TW" sz="2000" i="1" dirty="0" err="1"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US" altLang="zh-TW" sz="2000" i="1" dirty="0" err="1">
                                <a:latin typeface="+mj-lt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2000" i="1" dirty="0" err="1">
                                <a:latin typeface="+mj-lt"/>
                              </a:rPr>
                              <m:t>𝐼</m:t>
                            </m:r>
                          </m:sub>
                        </m:sSub>
                        <m:r>
                          <a:rPr lang="en-US" altLang="zh-TW" sz="2000" i="1" dirty="0" err="1">
                            <a:latin typeface="+mj-lt"/>
                          </a:rPr>
                          <m:t>,</m:t>
                        </m:r>
                        <m:r>
                          <a:rPr lang="en-US" altLang="zh-TW" sz="2000" i="1" dirty="0" err="1">
                            <a:latin typeface="+mj-lt"/>
                          </a:rPr>
                          <m:t>𝑐</m:t>
                        </m:r>
                      </m:e>
                    </m:d>
                    <m:r>
                      <a:rPr lang="en-US" altLang="zh-TW" sz="2000" i="1" dirty="0">
                        <a:latin typeface="+mj-lt"/>
                      </a:rPr>
                      <m:t>=</m:t>
                    </m:r>
                    <m:r>
                      <a:rPr lang="zh-TW" altLang="en-US" sz="2000" i="1" dirty="0">
                        <a:latin typeface="+mj-lt"/>
                      </a:rPr>
                      <m:t>𝑚</m:t>
                    </m:r>
                    <m:r>
                      <m:rPr>
                        <m:nor/>
                      </m:rPr>
                      <a:rPr lang="en-US" altLang="zh-TW" sz="2000" dirty="0">
                        <a:latin typeface="+mj-lt"/>
                      </a:rPr>
                      <m:t> </m:t>
                    </m:r>
                    <m:r>
                      <m:rPr>
                        <m:nor/>
                      </m:rPr>
                      <a:rPr lang="en-US" altLang="zh-TW" sz="2000" dirty="0">
                        <a:latin typeface="+mj-lt"/>
                      </a:rPr>
                      <m:t>where</m:t>
                    </m:r>
                    <m:r>
                      <m:rPr>
                        <m:nor/>
                      </m:rPr>
                      <a:rPr lang="en-US" altLang="zh-TW" sz="2000" dirty="0">
                        <a:latin typeface="+mj-lt"/>
                      </a:rPr>
                      <m:t> </m:t>
                    </m:r>
                    <m:r>
                      <m:rPr>
                        <m:nor/>
                      </m:rPr>
                      <a:rPr lang="zh-TW" altLang="en-US" sz="2000" dirty="0">
                        <a:latin typeface="+mj-lt"/>
                      </a:rPr>
                      <m:t>P</m:t>
                    </m:r>
                    <m:r>
                      <m:rPr>
                        <m:nor/>
                      </m:rPr>
                      <a:rPr lang="en-US" altLang="zh-TW" sz="2000" dirty="0">
                        <a:latin typeface="+mj-lt"/>
                      </a:rPr>
                      <m:t>(</m:t>
                    </m:r>
                    <m:r>
                      <m:rPr>
                        <m:nor/>
                      </m:rPr>
                      <a:rPr lang="zh-TW" altLang="en-US" sz="2000" dirty="0">
                        <a:latin typeface="+mj-lt"/>
                      </a:rPr>
                      <m:t>m</m:t>
                    </m:r>
                    <m:r>
                      <m:rPr>
                        <m:nor/>
                      </m:rPr>
                      <a:rPr lang="en-US" altLang="zh-TW" sz="2000" dirty="0">
                        <a:latin typeface="+mj-lt"/>
                      </a:rPr>
                      <m:t>)=</m:t>
                    </m:r>
                    <m:r>
                      <m:rPr>
                        <m:nor/>
                      </m:rPr>
                      <a:rPr lang="en-US" altLang="zh-TW" sz="2000" dirty="0">
                        <a:latin typeface="+mj-lt"/>
                      </a:rPr>
                      <m:t>1</m:t>
                    </m:r>
                  </m:oMath>
                </a14:m>
                <a:r>
                  <a:rPr lang="en-US" altLang="zh-TW" sz="2000" dirty="0">
                    <a:latin typeface="+mj-lt"/>
                  </a:rPr>
                  <a:t> (actually spam)</a:t>
                </a:r>
              </a:p>
              <a:p>
                <a:r>
                  <a:rPr lang="en-US" altLang="zh-TW" sz="2000" dirty="0">
                    <a:latin typeface="+mj-lt"/>
                  </a:rPr>
                  <a:t>This bypasses spam filters!</a:t>
                </a:r>
              </a:p>
              <a:p>
                <a:r>
                  <a:rPr lang="en-US" altLang="zh-TW" sz="2000" b="1" dirty="0">
                    <a:latin typeface="+mj-lt"/>
                  </a:rPr>
                  <a:t>Robustness Definition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da-DK" altLang="zh-TW" sz="2000" i="1" dirty="0">
                        <a:latin typeface="+mj-lt"/>
                      </a:rPr>
                      <m:t>𝑃</m:t>
                    </m:r>
                    <m:func>
                      <m:funcPr>
                        <m:ctrlPr>
                          <a:rPr lang="da-DK" altLang="zh-TW" sz="2000" i="1" dirty="0">
                            <a:latin typeface="+mj-lt"/>
                          </a:rPr>
                        </m:ctrlPr>
                      </m:funcPr>
                      <m:fName>
                        <m:r>
                          <a:rPr lang="da-DK" altLang="zh-TW" sz="2000" i="1" dirty="0">
                            <a:latin typeface="+mj-lt"/>
                          </a:rPr>
                          <m:t>𝑟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da-DK" altLang="zh-TW" sz="2000" i="1" dirty="0">
                                <a:latin typeface="+mj-lt"/>
                              </a:rPr>
                            </m:ctrlPr>
                          </m:dPr>
                          <m:e>
                            <m:r>
                              <a:rPr lang="da-DK" altLang="zh-TW" sz="2000" i="1" dirty="0">
                                <a:latin typeface="+mj-lt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da-DK" altLang="zh-TW" sz="2000" i="1" dirty="0">
                                    <a:latin typeface="+mj-lt"/>
                                  </a:rPr>
                                </m:ctrlPr>
                              </m:dPr>
                              <m:e>
                                <m:r>
                                  <a:rPr lang="da-DK" altLang="zh-TW" sz="2000" i="1" dirty="0">
                                    <a:latin typeface="+mj-lt"/>
                                  </a:rPr>
                                  <m:t>𝑚</m:t>
                                </m:r>
                              </m:e>
                            </m:d>
                            <m:r>
                              <a:rPr lang="da-DK" altLang="zh-TW" sz="2000" i="1" dirty="0">
                                <a:latin typeface="+mj-lt"/>
                              </a:rPr>
                              <m:t>=</m:t>
                            </m:r>
                            <m:r>
                              <a:rPr lang="da-DK" altLang="zh-TW" sz="2000" i="1" dirty="0">
                                <a:latin typeface="+mj-lt"/>
                              </a:rPr>
                              <m:t>𝐷</m:t>
                            </m:r>
                            <m:d>
                              <m:dPr>
                                <m:ctrlPr>
                                  <a:rPr lang="da-DK" altLang="zh-TW" sz="2000" i="1" dirty="0">
                                    <a:latin typeface="+mj-lt"/>
                                  </a:rPr>
                                </m:ctrlPr>
                              </m:dPr>
                              <m:e>
                                <m:r>
                                  <a:rPr lang="da-DK" altLang="zh-TW" sz="2000" i="1" dirty="0">
                                    <a:latin typeface="+mj-lt"/>
                                  </a:rPr>
                                  <m:t>𝑠</m:t>
                                </m:r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+mj-lt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altLang="zh-TW" sz="2000" i="1" dirty="0">
                                        <a:latin typeface="+mj-lt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da-DK" altLang="zh-TW" sz="2000" i="1" dirty="0">
                                        <a:latin typeface="+mj-lt"/>
                                      </a:rPr>
                                      <m:t>𝑓</m:t>
                                    </m:r>
                                  </m:sub>
                                </m:sSub>
                                <m:r>
                                  <a:rPr lang="da-DK" altLang="zh-TW" sz="2000" i="1" dirty="0">
                                    <a:latin typeface="+mj-lt"/>
                                  </a:rPr>
                                  <m:t>​,</m:t>
                                </m:r>
                                <m:r>
                                  <a:rPr lang="da-DK" altLang="zh-TW" sz="2000" i="1" dirty="0">
                                    <a:latin typeface="+mj-lt"/>
                                  </a:rPr>
                                  <m:t>𝑐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da-DK" altLang="zh-TW" sz="2000" i="1" dirty="0">
                        <a:latin typeface="+mj-lt"/>
                      </a:rPr>
                      <m:t>=</m:t>
                    </m:r>
                    <m:r>
                      <a:rPr lang="da-DK" altLang="zh-TW" sz="2000" i="1" dirty="0">
                        <a:latin typeface="+mj-lt"/>
                      </a:rPr>
                      <m:t>1</m:t>
                    </m:r>
                  </m:oMath>
                </a14:m>
                <a:endParaRPr lang="en-US" altLang="zh-TW" sz="2000" dirty="0">
                  <a:latin typeface="+mj-lt"/>
                </a:endParaRPr>
              </a:p>
              <a:p>
                <a:endParaRPr lang="en-US" altLang="zh-TW" sz="2000" dirty="0">
                  <a:latin typeface="+mj-lt"/>
                </a:endParaRPr>
              </a:p>
            </p:txBody>
          </p:sp>
        </mc:Choice>
        <mc:Fallback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3DE33063-B985-D277-9FD4-C9DEC39D94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163" y="1737597"/>
                <a:ext cx="11166577" cy="44553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686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C6186-759D-4900-F144-E57134073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63D158C-CB1C-86E7-0BAF-2660D94D6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83" y="665102"/>
            <a:ext cx="11166577" cy="704800"/>
          </a:xfrm>
        </p:spPr>
        <p:txBody>
          <a:bodyPr/>
          <a:lstStyle/>
          <a:p>
            <a:r>
              <a:rPr lang="en-US" altLang="zh-TW" sz="3600" dirty="0"/>
              <a:t>Sample functional encryption schemes from pairings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AF4AA15E-68D4-E373-2B7E-DC7E439EFD9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163" y="1737597"/>
                <a:ext cx="11166577" cy="4455301"/>
              </a:xfrm>
            </p:spPr>
            <p:txBody>
              <a:bodyPr/>
              <a:lstStyle/>
              <a:p>
                <a:r>
                  <a:rPr lang="en-US" altLang="zh-TW" sz="2000" b="1" dirty="0">
                    <a:latin typeface="+mj-lt"/>
                  </a:rPr>
                  <a:t>Functional encryption for low-degree</a:t>
                </a:r>
              </a:p>
              <a:p>
                <a:r>
                  <a:rPr lang="en-US" altLang="zh-TW" sz="2000" dirty="0">
                    <a:latin typeface="+mj-lt"/>
                  </a:rPr>
                  <a:t>The message space: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+mj-lt"/>
                      </a:rPr>
                      <m:t>ℳ</m:t>
                    </m:r>
                    <m:r>
                      <a:rPr lang="en-US" altLang="zh-TW" sz="2000" i="1" dirty="0" smtClean="0">
                        <a:latin typeface="+mj-lt"/>
                      </a:rPr>
                      <m:t>≔</m:t>
                    </m:r>
                    <m:sSubSup>
                      <m:sSubSupPr>
                        <m:ctrlPr>
                          <a:rPr lang="en-US" altLang="zh-TW" sz="2000" i="1" dirty="0" smtClean="0">
                            <a:latin typeface="+mj-lt"/>
                          </a:rPr>
                        </m:ctrlPr>
                      </m:sSubSupPr>
                      <m:e>
                        <m:r>
                          <a:rPr lang="en-US" altLang="zh-TW" sz="2000" i="1" dirty="0" smtClean="0">
                            <a:latin typeface="+mj-lt"/>
                          </a:rPr>
                          <m:t>ℤ</m:t>
                        </m:r>
                      </m:e>
                      <m:sub>
                        <m:r>
                          <a:rPr lang="zh-TW" altLang="en-US" sz="2000" i="1" dirty="0">
                            <a:latin typeface="+mj-lt"/>
                          </a:rPr>
                          <m:t>𝑞</m:t>
                        </m:r>
                      </m:sub>
                      <m:sup>
                        <m:r>
                          <a:rPr lang="zh-TW" altLang="en-US" sz="2000" i="1" dirty="0">
                            <a:latin typeface="+mj-lt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altLang="zh-TW" sz="2000" dirty="0">
                    <a:latin typeface="+mj-lt"/>
                  </a:rPr>
                  <a:t>(n-dimensional vector) </a:t>
                </a:r>
              </a:p>
              <a:p>
                <a:r>
                  <a:rPr lang="en-US" altLang="zh-TW" sz="2000" dirty="0">
                    <a:latin typeface="+mj-lt"/>
                  </a:rPr>
                  <a:t>The function space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+mj-lt"/>
                      </a:rPr>
                      <m:t>: 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+mj-lt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+mj-lt"/>
                          </a:rPr>
                          <m:t>ℱ</m:t>
                        </m:r>
                      </m:e>
                      <m:sub>
                        <m:r>
                          <a:rPr lang="zh-TW" altLang="en-US" sz="2000" i="1" dirty="0">
                            <a:latin typeface="+mj-lt"/>
                          </a:rPr>
                          <m:t>𝑑</m:t>
                        </m:r>
                      </m:sub>
                    </m:sSub>
                    <m:r>
                      <a:rPr lang="zh-TW" altLang="en-US" sz="2000" i="1" dirty="0">
                        <a:latin typeface="+mj-lt"/>
                      </a:rPr>
                      <m:t>⊆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+mj-lt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+mj-lt"/>
                          </a:rPr>
                          <m:t>ℤ</m:t>
                        </m:r>
                      </m:e>
                      <m:sub>
                        <m:r>
                          <a:rPr lang="zh-TW" altLang="en-US" sz="2000" i="1" dirty="0">
                            <a:latin typeface="+mj-lt"/>
                          </a:rPr>
                          <m:t>𝑞</m:t>
                        </m:r>
                      </m:sub>
                    </m:sSub>
                    <m:r>
                      <a:rPr lang="en-US" altLang="zh-TW" sz="2000" i="1" dirty="0">
                        <a:latin typeface="+mj-lt"/>
                      </a:rPr>
                      <m:t>[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+mj-lt"/>
                          </a:rPr>
                        </m:ctrlPr>
                      </m:sSubPr>
                      <m:e>
                        <m:r>
                          <a:rPr lang="zh-TW" altLang="en-US" sz="2000" i="1" dirty="0">
                            <a:latin typeface="+mj-lt"/>
                          </a:rPr>
                          <m:t>𝑋</m:t>
                        </m:r>
                      </m:e>
                      <m:sub>
                        <m:r>
                          <a:rPr lang="en-US" altLang="zh-TW" sz="2000" i="1" dirty="0" smtClean="0">
                            <a:latin typeface="+mj-lt"/>
                          </a:rPr>
                          <m:t>1</m:t>
                        </m:r>
                      </m:sub>
                    </m:sSub>
                    <m:r>
                      <a:rPr lang="en-US" altLang="zh-TW" sz="2000" i="1" dirty="0" smtClean="0">
                        <a:latin typeface="+mj-lt"/>
                      </a:rPr>
                      <m:t>,…,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+mj-lt"/>
                          </a:rPr>
                        </m:ctrlPr>
                      </m:sSubPr>
                      <m:e>
                        <m:r>
                          <a:rPr lang="zh-TW" altLang="en-US" sz="2000" i="1" dirty="0">
                            <a:latin typeface="+mj-lt"/>
                          </a:rPr>
                          <m:t>𝑋</m:t>
                        </m:r>
                      </m:e>
                      <m:sub>
                        <m:r>
                          <a:rPr lang="zh-TW" altLang="en-US" sz="2000" i="1" dirty="0">
                            <a:latin typeface="+mj-lt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+mj-lt"/>
                  </a:rPr>
                  <a:t>] (n-variable, d-degree polynomial).</a:t>
                </a:r>
              </a:p>
              <a:p>
                <a:r>
                  <a:rPr lang="en-US" altLang="zh-TW" sz="2000" dirty="0">
                    <a:latin typeface="+mj-lt"/>
                  </a:rPr>
                  <a:t>Function definition: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+mj-lt"/>
                          </a:rPr>
                        </m:ctrlPr>
                      </m:sSubPr>
                      <m:e>
                        <m:r>
                          <a:rPr lang="zh-TW" altLang="en-US" sz="2000" i="1" dirty="0" smtClean="0">
                            <a:latin typeface="+mj-lt"/>
                          </a:rPr>
                          <m:t>𝐹</m:t>
                        </m:r>
                      </m:e>
                      <m:sub>
                        <m:r>
                          <a:rPr lang="zh-TW" altLang="en-US" sz="2000" i="1" dirty="0">
                            <a:latin typeface="+mj-lt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altLang="zh-TW" sz="2000" i="1" dirty="0">
                            <a:latin typeface="+mj-lt"/>
                          </a:rPr>
                        </m:ctrlPr>
                      </m:dPr>
                      <m:e>
                        <m:r>
                          <a:rPr lang="zh-TW" altLang="en-US" sz="2000" i="1" dirty="0" smtClean="0">
                            <a:latin typeface="+mj-lt"/>
                          </a:rPr>
                          <m:t>𝑓</m:t>
                        </m:r>
                        <m:r>
                          <a:rPr lang="en-US" altLang="zh-TW" sz="2000" i="1" dirty="0" smtClean="0">
                            <a:latin typeface="+mj-lt"/>
                          </a:rPr>
                          <m:t>,</m:t>
                        </m:r>
                        <m:r>
                          <a:rPr lang="zh-TW" altLang="en-US" sz="2000" i="1" dirty="0">
                            <a:latin typeface="+mj-lt"/>
                          </a:rPr>
                          <m:t>𝑚</m:t>
                        </m:r>
                      </m:e>
                    </m:d>
                    <m:r>
                      <a:rPr lang="en-US" altLang="zh-TW" sz="2000" i="1" dirty="0">
                        <a:latin typeface="+mj-lt"/>
                      </a:rPr>
                      <m:t>≔</m:t>
                    </m:r>
                    <m:r>
                      <a:rPr lang="zh-TW" altLang="en-US" sz="2000" i="1" dirty="0">
                        <a:latin typeface="+mj-lt"/>
                      </a:rPr>
                      <m:t>𝑓</m:t>
                    </m:r>
                    <m:d>
                      <m:dPr>
                        <m:ctrlPr>
                          <a:rPr lang="en-US" altLang="zh-TW" sz="2000" i="1" dirty="0">
                            <a:latin typeface="+mj-lt"/>
                          </a:rPr>
                        </m:ctrlPr>
                      </m:dPr>
                      <m:e>
                        <m:r>
                          <a:rPr lang="zh-TW" altLang="en-US" sz="2000" i="1" dirty="0">
                            <a:latin typeface="+mj-lt"/>
                          </a:rPr>
                          <m:t>𝑚</m:t>
                        </m:r>
                      </m:e>
                    </m:d>
                  </m:oMath>
                </a14:m>
                <a:endParaRPr lang="en-US" altLang="zh-TW" sz="2000" dirty="0">
                  <a:latin typeface="+mj-lt"/>
                </a:endParaRPr>
              </a:p>
              <a:p>
                <a:r>
                  <a:rPr lang="en-US" altLang="zh-TW" sz="2000" b="1" dirty="0">
                    <a:latin typeface="+mj-lt"/>
                  </a:rPr>
                  <a:t>Linear functional encryption</a:t>
                </a:r>
              </a:p>
              <a:p>
                <a:pPr lvl="1"/>
                <a:r>
                  <a:rPr lang="en-US" altLang="zh-TW" sz="2000" dirty="0">
                    <a:latin typeface="+mj-lt"/>
                  </a:rPr>
                  <a:t>Initial : Encrypts the original data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i="1" dirty="0" err="1">
                        <a:latin typeface="Cambria Math" panose="02040503050406030204" pitchFamily="18" charset="0"/>
                      </a:rPr>
                      <m:t>𝑚𝑝𝑘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000" dirty="0">
                  <a:latin typeface="+mj-lt"/>
                </a:endParaRPr>
              </a:p>
              <a:p>
                <a:pPr lvl="1"/>
                <a:r>
                  <a:rPr lang="en-US" altLang="zh-TW" sz="2000" dirty="0">
                    <a:latin typeface="+mj-lt"/>
                  </a:rPr>
                  <a:t>Change data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altLang="zh-TW" sz="2000" b="0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altLang="zh-TW" sz="2000" dirty="0">
                    <a:latin typeface="+mj-lt"/>
                  </a:rPr>
                  <a:t> </a:t>
                </a:r>
              </a:p>
              <a:p>
                <a:pPr lvl="1"/>
                <a:r>
                  <a:rPr lang="en-US" altLang="zh-TW" sz="2000" dirty="0">
                    <a:latin typeface="+mj-lt"/>
                  </a:rPr>
                  <a:t>Generates the functional keys :  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+mj-lt"/>
                  </a:rPr>
                  <a:t> ,</a:t>
                </a:r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TW" sz="2000" dirty="0">
                    <a:latin typeface="+mj-lt"/>
                  </a:rPr>
                  <a:t> =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 err="1">
                            <a:latin typeface="Cambria Math" panose="02040503050406030204" pitchFamily="18" charset="0"/>
                          </a:rPr>
                          <m:t>𝑚𝑠𝑘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 err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i="1" dirty="0" err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 err="1">
                            <a:latin typeface="Cambria Math" panose="02040503050406030204" pitchFamily="18" charset="0"/>
                          </a:rPr>
                          <m:t>𝑚𝑠𝑘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 err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i="1" dirty="0" err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sz="2000" dirty="0">
                  <a:latin typeface="+mj-lt"/>
                </a:endParaRPr>
              </a:p>
              <a:p>
                <a:pPr lvl="1" latinLnBrk="1"/>
                <a:r>
                  <a:rPr lang="en-US" altLang="zh-TW" sz="2000" dirty="0">
                    <a:latin typeface="+mj-lt"/>
                  </a:rPr>
                  <a:t>Final: 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 err="1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altLang="zh-TW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 err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i="1" dirty="0" err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 dirty="0" err="1">
                                <a:latin typeface="Cambria Math" panose="02040503050406030204" pitchFamily="18" charset="0"/>
                              </a:rPr>
                              <m:t>𝑚𝑝𝑘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 err="1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altLang="zh-TW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 err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i="1" dirty="0" err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i="1" dirty="0" err="1">
                                <a:latin typeface="Cambria Math" panose="02040503050406030204" pitchFamily="18" charset="0"/>
                              </a:rPr>
                              <m:t>𝑚𝑝𝑘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TW" dirty="0"/>
                  <a:t> ,</a:t>
                </a:r>
                <a:r>
                  <a:rPr lang="en-US" altLang="zh-TW" b="1" dirty="0"/>
                  <a:t>a &amp; b </a:t>
                </a:r>
                <a:r>
                  <a:rPr lang="zh-TW" altLang="en-US" b="1" dirty="0"/>
                  <a:t>≠ </a:t>
                </a:r>
                <a:r>
                  <a:rPr lang="en-US" altLang="zh-TW" b="1" dirty="0" err="1"/>
                  <a:t>orgin</a:t>
                </a:r>
                <a:r>
                  <a:rPr lang="en-US" altLang="zh-TW" b="1" dirty="0"/>
                  <a:t> data</a:t>
                </a:r>
              </a:p>
              <a:p>
                <a:pPr latinLnBrk="1"/>
                <a:endParaRPr lang="en-US" altLang="zh-TW" b="1" dirty="0"/>
              </a:p>
              <a:p>
                <a:pPr lvl="1"/>
                <a:endParaRPr lang="en-US" altLang="zh-TW" sz="2000" b="1" dirty="0">
                  <a:latin typeface="+mj-lt"/>
                </a:endParaRPr>
              </a:p>
            </p:txBody>
          </p:sp>
        </mc:Choice>
        <mc:Fallback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AF4AA15E-68D4-E373-2B7E-DC7E439EFD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163" y="1737597"/>
                <a:ext cx="11166577" cy="44553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4272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20424-8CF9-F6C7-BF67-D9878515C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1614E535-E561-6130-9B9B-AB91EB178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83" y="665102"/>
            <a:ext cx="11166577" cy="704800"/>
          </a:xfrm>
        </p:spPr>
        <p:txBody>
          <a:bodyPr/>
          <a:lstStyle/>
          <a:p>
            <a:r>
              <a:rPr lang="en-US" altLang="zh-TW" sz="3600" dirty="0"/>
              <a:t>Sample functional encryption schemes from pairings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2DC18752-FB16-41CC-B368-6F7C679D709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82163" y="1737597"/>
                <a:ext cx="11166577" cy="4914663"/>
              </a:xfrm>
            </p:spPr>
            <p:txBody>
              <a:bodyPr/>
              <a:lstStyle/>
              <a:p>
                <a:r>
                  <a:rPr lang="en-US" altLang="zh-TW" sz="2000" b="1" dirty="0">
                    <a:latin typeface="+mj-lt"/>
                  </a:rPr>
                  <a:t>Attribute based encryption</a:t>
                </a:r>
              </a:p>
              <a:p>
                <a:r>
                  <a:rPr lang="en-US" altLang="zh-TW" sz="2000" dirty="0">
                    <a:latin typeface="+mj-lt"/>
                  </a:rPr>
                  <a:t>Predicate family </a:t>
                </a:r>
                <a:r>
                  <a:rPr lang="zh-TW" altLang="en-US" sz="2000" dirty="0">
                    <a:latin typeface="+mj-lt"/>
                  </a:rPr>
                  <a:t>𝒫 </a:t>
                </a:r>
                <a:r>
                  <a:rPr lang="en-US" altLang="zh-TW" sz="2000" dirty="0">
                    <a:latin typeface="+mj-lt"/>
                  </a:rPr>
                  <a:t>= {</a:t>
                </a:r>
                <a:r>
                  <a:rPr lang="zh-TW" altLang="en-US" sz="2000" dirty="0">
                    <a:latin typeface="+mj-lt"/>
                  </a:rPr>
                  <a:t>𝑃</a:t>
                </a:r>
                <a:r>
                  <a:rPr lang="en-US" altLang="zh-TW" sz="2000" dirty="0">
                    <a:latin typeface="+mj-lt"/>
                  </a:rPr>
                  <a:t>:</a:t>
                </a:r>
                <a:r>
                  <a:rPr lang="zh-TW" altLang="en-US" sz="2000" dirty="0">
                    <a:latin typeface="+mj-lt"/>
                  </a:rPr>
                  <a:t>𝒳→</a:t>
                </a:r>
                <a:r>
                  <a:rPr lang="en-US" altLang="zh-TW" sz="2000" dirty="0">
                    <a:latin typeface="+mj-lt"/>
                  </a:rPr>
                  <a:t>{0,1}}</a:t>
                </a:r>
              </a:p>
              <a:p>
                <a:pPr lvl="1"/>
                <a:r>
                  <a:rPr lang="zh-TW" altLang="en-US" sz="2000" dirty="0">
                    <a:latin typeface="+mj-lt"/>
                  </a:rPr>
                  <a:t>𝒳</a:t>
                </a:r>
                <a:r>
                  <a:rPr lang="en-US" altLang="zh-TW" sz="2000" dirty="0">
                    <a:latin typeface="+mj-lt"/>
                  </a:rPr>
                  <a:t>: attribute space (the set of all possible attributes)</a:t>
                </a:r>
              </a:p>
              <a:p>
                <a:pPr lvl="1"/>
                <a:r>
                  <a:rPr lang="zh-TW" altLang="en-US" sz="2000" dirty="0">
                    <a:latin typeface="+mj-lt"/>
                  </a:rPr>
                  <a:t>𝑃</a:t>
                </a:r>
                <a:r>
                  <a:rPr lang="en-US" altLang="zh-TW" sz="2000" dirty="0">
                    <a:latin typeface="+mj-lt"/>
                  </a:rPr>
                  <a:t>: predicate (strategy, condition, Boolean function)</a:t>
                </a:r>
              </a:p>
              <a:p>
                <a:pPr lvl="1"/>
                <a:r>
                  <a:rPr lang="zh-TW" altLang="en-US" sz="2000" dirty="0">
                    <a:latin typeface="+mj-lt"/>
                  </a:rPr>
                  <a:t>𝑃</a:t>
                </a:r>
                <a:r>
                  <a:rPr lang="en-US" altLang="zh-TW" sz="2000" dirty="0">
                    <a:latin typeface="+mj-lt"/>
                  </a:rPr>
                  <a:t>(</a:t>
                </a:r>
                <a:r>
                  <a:rPr lang="zh-TW" altLang="en-US" sz="2000" dirty="0">
                    <a:latin typeface="+mj-lt"/>
                  </a:rPr>
                  <a:t>𝑥</a:t>
                </a:r>
                <a:r>
                  <a:rPr lang="en-US" altLang="zh-TW" sz="2000" dirty="0">
                    <a:latin typeface="+mj-lt"/>
                  </a:rPr>
                  <a:t>) = 1 means "attribute </a:t>
                </a:r>
                <a:r>
                  <a:rPr lang="zh-TW" altLang="en-US" sz="2000" dirty="0">
                    <a:latin typeface="+mj-lt"/>
                  </a:rPr>
                  <a:t>𝑥 </a:t>
                </a:r>
                <a:r>
                  <a:rPr lang="en-US" altLang="zh-TW" sz="2000" dirty="0">
                    <a:latin typeface="+mj-lt"/>
                  </a:rPr>
                  <a:t>satisfies strategy </a:t>
                </a:r>
                <a:r>
                  <a:rPr lang="zh-TW" altLang="en-US" sz="2000" dirty="0">
                    <a:latin typeface="+mj-lt"/>
                  </a:rPr>
                  <a:t>𝑃</a:t>
                </a:r>
                <a:r>
                  <a:rPr lang="en-US" altLang="zh-TW" sz="2000" dirty="0">
                    <a:latin typeface="+mj-lt"/>
                  </a:rPr>
                  <a:t>" </a:t>
                </a:r>
                <a:endParaRPr lang="zh-TW" altLang="en-US" sz="2000" dirty="0">
                  <a:latin typeface="+mj-lt"/>
                </a:endParaRPr>
              </a:p>
              <a:p>
                <a:pPr latinLnBrk="1"/>
                <a:r>
                  <a:rPr lang="en-US" altLang="zh-TW" sz="2000" dirty="0">
                    <a:latin typeface="+mj-lt"/>
                  </a:rPr>
                  <a:t>ABE function :</a:t>
                </a:r>
              </a:p>
              <a:p>
                <a:pPr lvl="1" latinLnBrk="1"/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+mj-lt"/>
                      </a:rPr>
                      <m:t>𝐹</m:t>
                    </m:r>
                    <m:r>
                      <a:rPr lang="en-US" altLang="zh-TW" sz="2000" i="1" dirty="0" smtClean="0">
                        <a:latin typeface="+mj-lt"/>
                      </a:rPr>
                      <m:t>:</m:t>
                    </m:r>
                    <m:r>
                      <a:rPr lang="en-US" altLang="zh-TW" sz="2000" i="1" dirty="0" smtClean="0">
                        <a:latin typeface="+mj-lt"/>
                      </a:rPr>
                      <m:t>𝑃</m:t>
                    </m:r>
                    <m:r>
                      <a:rPr lang="en-US" altLang="zh-TW" sz="2000" i="1" dirty="0" smtClean="0">
                        <a:latin typeface="+mj-lt"/>
                      </a:rPr>
                      <m:t>×</m:t>
                    </m:r>
                    <m:d>
                      <m:dPr>
                        <m:ctrlPr>
                          <a:rPr lang="en-US" altLang="zh-TW" sz="2000" i="1" dirty="0" smtClean="0">
                            <a:latin typeface="+mj-lt"/>
                          </a:rPr>
                        </m:ctrlPr>
                      </m:dPr>
                      <m:e>
                        <m:r>
                          <a:rPr lang="en-US" altLang="zh-TW" sz="2000" i="1" dirty="0" smtClean="0">
                            <a:latin typeface="+mj-lt"/>
                          </a:rPr>
                          <m:t>𝑋</m:t>
                        </m:r>
                        <m:r>
                          <a:rPr lang="en-US" altLang="zh-TW" sz="2000" i="1" dirty="0" smtClean="0">
                            <a:latin typeface="+mj-lt"/>
                          </a:rPr>
                          <m:t>×</m:t>
                        </m:r>
                        <m:r>
                          <a:rPr lang="en-US" altLang="zh-TW" sz="2000" i="1" dirty="0" smtClean="0">
                            <a:latin typeface="+mj-lt"/>
                          </a:rPr>
                          <m:t>𝑀</m:t>
                        </m:r>
                      </m:e>
                    </m:d>
                    <m:r>
                      <a:rPr lang="en-US" altLang="zh-TW" sz="2000" i="1" dirty="0" smtClean="0">
                        <a:latin typeface="+mj-lt"/>
                      </a:rPr>
                      <m:t>→</m:t>
                    </m:r>
                    <m:d>
                      <m:dPr>
                        <m:ctrlPr>
                          <a:rPr lang="en-US" altLang="zh-TW" sz="2000" i="1" dirty="0" smtClean="0">
                            <a:latin typeface="+mj-lt"/>
                          </a:rPr>
                        </m:ctrlPr>
                      </m:dPr>
                      <m:e>
                        <m:r>
                          <a:rPr lang="en-US" altLang="zh-TW" sz="2000" i="1" dirty="0" smtClean="0">
                            <a:latin typeface="+mj-lt"/>
                          </a:rPr>
                          <m:t>𝑀</m:t>
                        </m:r>
                        <m:r>
                          <a:rPr lang="en-US" altLang="zh-TW" sz="2000" i="1" dirty="0" smtClean="0">
                            <a:latin typeface="+mj-lt"/>
                          </a:rPr>
                          <m:t>∪{⊥}</m:t>
                        </m:r>
                      </m:e>
                    </m:d>
                  </m:oMath>
                </a14:m>
                <a:endParaRPr lang="en-US" altLang="zh-TW" sz="2000" i="1" dirty="0">
                  <a:latin typeface="+mj-lt"/>
                </a:endParaRPr>
              </a:p>
              <a:p>
                <a:pPr lvl="1" latinLnBrk="1"/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+mj-lt"/>
                      </a:rPr>
                      <m:t>𝐹</m:t>
                    </m:r>
                    <m:d>
                      <m:dPr>
                        <m:ctrlPr>
                          <a:rPr lang="en-US" altLang="zh-TW" sz="2000" i="1" dirty="0" smtClean="0">
                            <a:latin typeface="+mj-lt"/>
                          </a:rPr>
                        </m:ctrlPr>
                      </m:dPr>
                      <m:e>
                        <m:r>
                          <a:rPr lang="en-US" altLang="zh-TW" sz="2000" i="1" dirty="0" smtClean="0">
                            <a:latin typeface="+mj-lt"/>
                          </a:rPr>
                          <m:t>𝑃</m:t>
                        </m:r>
                        <m:r>
                          <a:rPr lang="en-US" altLang="zh-TW" sz="2000" i="1" dirty="0" smtClean="0">
                            <a:latin typeface="+mj-lt"/>
                          </a:rPr>
                          <m:t>,</m:t>
                        </m:r>
                        <m:d>
                          <m:dPr>
                            <m:ctrlPr>
                              <a:rPr lang="en-US" altLang="zh-TW" sz="2000" i="1" dirty="0" smtClean="0">
                                <a:latin typeface="+mj-lt"/>
                              </a:rPr>
                            </m:ctrlPr>
                          </m:dPr>
                          <m:e>
                            <m:r>
                              <a:rPr lang="en-US" altLang="zh-TW" sz="2000" i="1" dirty="0" err="1" smtClean="0">
                                <a:latin typeface="+mj-lt"/>
                              </a:rPr>
                              <m:t>𝑥</m:t>
                            </m:r>
                            <m:r>
                              <a:rPr lang="en-US" altLang="zh-TW" sz="2000" i="1" dirty="0" err="1" smtClean="0">
                                <a:latin typeface="+mj-lt"/>
                              </a:rPr>
                              <m:t>,</m:t>
                            </m:r>
                            <m:r>
                              <a:rPr lang="en-US" altLang="zh-TW" sz="2000" i="1" dirty="0" err="1" smtClean="0">
                                <a:latin typeface="+mj-lt"/>
                              </a:rPr>
                              <m:t>𝑚</m:t>
                            </m:r>
                          </m:e>
                        </m:d>
                      </m:e>
                    </m:d>
                    <m:r>
                      <a:rPr lang="en-US" altLang="zh-TW" sz="2000" i="1" dirty="0" smtClean="0">
                        <a:latin typeface="+mj-lt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TW" sz="2000" i="1" dirty="0" smtClean="0">
                            <a:latin typeface="+mj-lt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sz="2000" i="1" dirty="0" smtClean="0">
                                <a:latin typeface="+mj-lt"/>
                              </a:rPr>
                            </m:ctrlPr>
                          </m:eqArrPr>
                          <m:e>
                            <m:r>
                              <m:rPr>
                                <m:sty m:val="p"/>
                              </m:rPr>
                              <a:rPr lang="en-US" altLang="zh-TW" sz="2000" b="0" i="1" dirty="0" smtClean="0">
                                <a:latin typeface="+mj-lt"/>
                              </a:rPr>
                              <m:t>m</m:t>
                            </m:r>
                            <m:r>
                              <a:rPr lang="en-US" altLang="zh-TW" sz="2000" b="0" i="1" dirty="0" smtClean="0">
                                <a:latin typeface="+mj-lt"/>
                              </a:rPr>
                              <m:t> ,</m:t>
                            </m:r>
                            <m:r>
                              <m:rPr>
                                <m:sty m:val="p"/>
                              </m:rPr>
                              <a:rPr lang="en-US" altLang="zh-TW" sz="2000" b="0" i="1" dirty="0" smtClean="0">
                                <a:latin typeface="+mj-lt"/>
                              </a:rPr>
                              <m:t>if</m:t>
                            </m:r>
                            <m:r>
                              <a:rPr lang="en-US" altLang="zh-TW" sz="2000" b="0" i="1" dirty="0" smtClean="0">
                                <a:latin typeface="+mj-lt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000" b="0" i="1" dirty="0" smtClean="0">
                                <a:latin typeface="+mj-lt"/>
                              </a:rPr>
                              <m:t>P</m:t>
                            </m:r>
                            <m:r>
                              <a:rPr lang="en-US" altLang="zh-TW" sz="2000" b="0" i="1" dirty="0" smtClean="0">
                                <a:latin typeface="+mj-lt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altLang="zh-TW" sz="2000" b="0" i="1" dirty="0" smtClean="0">
                                <a:latin typeface="+mj-lt"/>
                              </a:rPr>
                              <m:t>x</m:t>
                            </m:r>
                            <m:r>
                              <a:rPr lang="en-US" altLang="zh-TW" sz="2000" b="0" i="1" dirty="0" smtClean="0">
                                <a:latin typeface="+mj-lt"/>
                              </a:rPr>
                              <m:t>)=</m:t>
                            </m:r>
                            <m:r>
                              <a:rPr lang="en-US" altLang="zh-TW" sz="2000" b="0" i="1" dirty="0" smtClean="0">
                                <a:latin typeface="+mj-lt"/>
                              </a:rPr>
                              <m:t>1</m:t>
                            </m:r>
                          </m:e>
                          <m:e>
                            <m:r>
                              <a:rPr lang="en-US" altLang="zh-TW" sz="2000" i="1" dirty="0" smtClean="0">
                                <a:latin typeface="+mj-lt"/>
                                <a:ea typeface="Cambria Math" panose="02040503050406030204" pitchFamily="18" charset="0"/>
                              </a:rPr>
                              <m:t>⊥</m:t>
                            </m:r>
                            <m:r>
                              <a:rPr lang="en-US" altLang="zh-TW" sz="2000" b="0" i="1" dirty="0" smtClean="0">
                                <a:latin typeface="+mj-lt"/>
                                <a:ea typeface="Cambria Math" panose="02040503050406030204" pitchFamily="18" charset="0"/>
                              </a:rPr>
                              <m:t> ,           </m:t>
                            </m:r>
                            <m:r>
                              <m:rPr>
                                <m:sty m:val="p"/>
                              </m:rPr>
                              <a:rPr lang="en-US" altLang="zh-TW" sz="2000" b="0" i="1" dirty="0" smtClean="0">
                                <a:latin typeface="+mj-lt"/>
                                <a:ea typeface="Cambria Math" panose="02040503050406030204" pitchFamily="18" charset="0"/>
                              </a:rPr>
                              <m:t>other</m:t>
                            </m:r>
                          </m:e>
                        </m:eqArr>
                      </m:e>
                    </m:d>
                    <m:r>
                      <a:rPr lang="en-US" altLang="zh-TW" sz="2000" i="1" dirty="0" smtClean="0">
                        <a:latin typeface="+mj-lt"/>
                      </a:rPr>
                      <m:t>​</m:t>
                    </m:r>
                  </m:oMath>
                </a14:m>
                <a:endParaRPr lang="en-US" altLang="zh-TW" sz="2000" dirty="0">
                  <a:latin typeface="+mj-lt"/>
                </a:endParaRPr>
              </a:p>
              <a:p>
                <a:pPr latinLnBrk="1"/>
                <a:r>
                  <a:rPr lang="en-US" altLang="zh-TW" sz="2000" b="1" dirty="0">
                    <a:latin typeface="+mj-lt"/>
                  </a:rPr>
                  <a:t>ABE</a:t>
                </a:r>
                <a:r>
                  <a:rPr lang="zh-TW" altLang="en-US" sz="2000" b="1" dirty="0">
                    <a:latin typeface="+mj-lt"/>
                  </a:rPr>
                  <a:t> </a:t>
                </a:r>
                <a:r>
                  <a:rPr lang="en-US" altLang="zh-TW" sz="2000" b="1" dirty="0">
                    <a:latin typeface="+mj-lt"/>
                  </a:rPr>
                  <a:t>flow </a:t>
                </a:r>
              </a:p>
              <a:p>
                <a:pPr lvl="1" latinLnBrk="1"/>
                <a:r>
                  <a:rPr lang="en-US" altLang="zh-TW" sz="2000" dirty="0">
                    <a:latin typeface="+mj-lt"/>
                  </a:rPr>
                  <a:t>Initial: </a:t>
                </a:r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𝑝𝑘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))</m:t>
                    </m:r>
                    <m:r>
                      <a:rPr lang="en-US" altLang="zh-TW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dirty="0">
                    <a:latin typeface="+mj-lt"/>
                  </a:rPr>
                  <a:t>x: Attribute, m: Actual data</a:t>
                </a:r>
              </a:p>
              <a:p>
                <a:pPr lvl="1" latinLnBrk="1"/>
                <a:r>
                  <a:rPr lang="en-US" altLang="zh-TW" sz="2000" dirty="0">
                    <a:latin typeface="+mj-lt"/>
                  </a:rPr>
                  <a:t>Define access policy </a:t>
                </a:r>
                <a:r>
                  <a:rPr lang="zh-TW" altLang="en-US" sz="2000" dirty="0">
                    <a:latin typeface="+mj-lt"/>
                  </a:rPr>
                  <a:t>𝑃</a:t>
                </a:r>
                <a:r>
                  <a:rPr lang="en-US" altLang="zh-TW" sz="2000" dirty="0">
                    <a:latin typeface="+mj-lt"/>
                  </a:rPr>
                  <a:t>:</a:t>
                </a:r>
                <a:r>
                  <a:rPr lang="zh-TW" altLang="en-US" sz="2000" dirty="0">
                    <a:latin typeface="+mj-lt"/>
                  </a:rPr>
                  <a:t>𝒳→</a:t>
                </a:r>
                <a:r>
                  <a:rPr lang="en-US" altLang="zh-TW" sz="2000" dirty="0">
                    <a:latin typeface="+mj-lt"/>
                  </a:rPr>
                  <a:t>{0,1}</a:t>
                </a:r>
                <a:endParaRPr lang="zh-TW" altLang="en-US" sz="2000" dirty="0">
                  <a:latin typeface="+mj-lt"/>
                </a:endParaRPr>
              </a:p>
              <a:p>
                <a:pPr lvl="1" latinLnBrk="1"/>
                <a:r>
                  <a:rPr lang="en-US" altLang="zh-TW" sz="2000" dirty="0">
                    <a:latin typeface="+mj-lt"/>
                  </a:rPr>
                  <a:t>Generates the functional keys: </a:t>
                </a:r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  <m:sSub>
                      <m:sSub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zh-TW" altLang="en-US" sz="20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zh-TW" altLang="en-US" sz="2000" i="1" dirty="0" smtClean="0">
                            <a:latin typeface="Cambria Math" panose="02040503050406030204" pitchFamily="18" charset="0"/>
                          </a:rPr>
                          <m:t>𝑠𝑘</m:t>
                        </m:r>
                        <m:r>
                          <a:rPr lang="en-US" altLang="zh-TW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TW" altLang="en-US" sz="20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endParaRPr lang="en-US" altLang="zh-TW" sz="2000" dirty="0">
                  <a:latin typeface="+mj-lt"/>
                </a:endParaRPr>
              </a:p>
              <a:p>
                <a:pPr lvl="1" latinLnBrk="1"/>
                <a:r>
                  <a:rPr lang="en-US" altLang="zh-TW" sz="2000" dirty="0">
                    <a:latin typeface="+mj-lt"/>
                  </a:rPr>
                  <a:t>Final: </a:t>
                </a:r>
                <a14:m>
                  <m:oMath xmlns:m="http://schemas.openxmlformats.org/officeDocument/2006/math"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𝑟𝑒𝑠𝑢𝑙𝑡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zh-TW" altLang="en-US" sz="2000" i="1" dirty="0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0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sSub>
                          <m:sSubPr>
                            <m:ctrlPr>
                              <a:rPr lang="en-US" altLang="zh-TW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zh-TW" altLang="en-US" sz="2000" i="1" dirty="0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a:rPr lang="en-US" altLang="zh-TW" sz="20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TW" altLang="en-US" sz="20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altLang="zh-TW" sz="2000" dirty="0">
                    <a:latin typeface="+mj-lt"/>
                  </a:rPr>
                  <a:t> ,If </a:t>
                </a:r>
                <a:r>
                  <a:rPr lang="zh-TW" altLang="en-US" sz="2000" dirty="0">
                    <a:latin typeface="+mj-lt"/>
                  </a:rPr>
                  <a:t>𝑃</a:t>
                </a:r>
                <a:r>
                  <a:rPr lang="en-US" altLang="zh-TW" sz="2000" dirty="0">
                    <a:latin typeface="+mj-lt"/>
                  </a:rPr>
                  <a:t>(</a:t>
                </a:r>
                <a:r>
                  <a:rPr lang="zh-TW" altLang="en-US" sz="2000" dirty="0">
                    <a:latin typeface="+mj-lt"/>
                  </a:rPr>
                  <a:t>𝑥</a:t>
                </a:r>
                <a:r>
                  <a:rPr lang="en-US" altLang="zh-TW" sz="2000" dirty="0">
                    <a:latin typeface="+mj-lt"/>
                  </a:rPr>
                  <a:t>) = 1: </a:t>
                </a:r>
                <a:r>
                  <a:rPr lang="zh-TW" altLang="en-US" sz="2000" dirty="0">
                    <a:latin typeface="+mj-lt"/>
                  </a:rPr>
                  <a:t>𝑟𝑒𝑠𝑢𝑙𝑡 </a:t>
                </a:r>
                <a:r>
                  <a:rPr lang="en-US" altLang="zh-TW" sz="2000" dirty="0">
                    <a:latin typeface="+mj-lt"/>
                  </a:rPr>
                  <a:t>= </a:t>
                </a:r>
                <a:r>
                  <a:rPr lang="zh-TW" altLang="en-US" sz="2000" dirty="0">
                    <a:latin typeface="+mj-lt"/>
                  </a:rPr>
                  <a:t>𝑚 </a:t>
                </a:r>
                <a:r>
                  <a:rPr lang="en-US" altLang="zh-TW" sz="2000" dirty="0">
                    <a:latin typeface="+mj-lt"/>
                  </a:rPr>
                  <a:t>else reject</a:t>
                </a:r>
              </a:p>
            </p:txBody>
          </p:sp>
        </mc:Choice>
        <mc:Fallback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2DC18752-FB16-41CC-B368-6F7C679D70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82163" y="1737597"/>
                <a:ext cx="11166577" cy="491466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80619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80744-B2A9-D5DD-05E4-68227B7FA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460ECC-4B21-41F1-7C08-24B81A381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58890" y="3120200"/>
            <a:ext cx="10674221" cy="617600"/>
          </a:xfrm>
        </p:spPr>
        <p:txBody>
          <a:bodyPr/>
          <a:lstStyle/>
          <a:p>
            <a:r>
              <a:rPr lang="en-US" altLang="zh-TW" dirty="0"/>
              <a:t>Multilinear maps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1191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15CAB-DB20-6523-0173-8E47AF573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5BF01A87-4116-DBCC-9A80-0AAD30861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683" y="665102"/>
            <a:ext cx="11166577" cy="704800"/>
          </a:xfrm>
        </p:spPr>
        <p:txBody>
          <a:bodyPr/>
          <a:lstStyle/>
          <a:p>
            <a:r>
              <a:rPr lang="en-US" altLang="zh-TW" sz="3600" dirty="0"/>
              <a:t>Multilinear maps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873A2E52-0EB6-5437-7491-256C9E76BA5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97403" y="1369902"/>
                <a:ext cx="11166577" cy="4914663"/>
              </a:xfrm>
            </p:spPr>
            <p:txBody>
              <a:bodyPr/>
              <a:lstStyle/>
              <a:p>
                <a:r>
                  <a:rPr lang="en-US" altLang="zh-TW" sz="2000" b="1" dirty="0">
                    <a:latin typeface="+mj-lt"/>
                  </a:rPr>
                  <a:t>Definition:</a:t>
                </a:r>
              </a:p>
              <a:p>
                <a:pPr lvl="1" fontAlgn="b"/>
                <a14:m>
                  <m:oMath xmlns:m="http://schemas.openxmlformats.org/officeDocument/2006/math">
                    <m:r>
                      <a:rPr lang="en-US" altLang="zh-TW" sz="2000" i="1" dirty="0" smtClean="0">
                        <a:latin typeface="+mj-lt"/>
                      </a:rPr>
                      <m:t>𝑒</m:t>
                    </m:r>
                    <m:r>
                      <a:rPr lang="en-US" altLang="zh-TW" sz="2000" i="1" dirty="0">
                        <a:latin typeface="+mj-lt"/>
                      </a:rPr>
                      <m:t>:</m:t>
                    </m:r>
                    <m:sSup>
                      <m:sSupPr>
                        <m:ctrlPr>
                          <a:rPr lang="en-US" altLang="zh-TW" sz="2000" i="1" dirty="0">
                            <a:latin typeface="+mj-lt"/>
                          </a:rPr>
                        </m:ctrlPr>
                      </m:sSupPr>
                      <m:e>
                        <m:r>
                          <a:rPr lang="en-US" altLang="zh-TW" sz="2000" i="1" dirty="0">
                            <a:latin typeface="+mj-lt"/>
                          </a:rPr>
                          <m:t>𝐺</m:t>
                        </m:r>
                      </m:e>
                      <m:sup>
                        <m:r>
                          <a:rPr lang="en-US" altLang="zh-TW" sz="2000" i="1" dirty="0">
                            <a:latin typeface="+mj-lt"/>
                          </a:rPr>
                          <m:t>𝑑</m:t>
                        </m:r>
                      </m:sup>
                    </m:sSup>
                    <m:r>
                      <a:rPr lang="en-US" altLang="zh-TW" sz="2000" i="1" dirty="0">
                        <a:latin typeface="+mj-lt"/>
                      </a:rPr>
                      <m:t>→</m:t>
                    </m:r>
                    <m:sSub>
                      <m:sSubPr>
                        <m:ctrlPr>
                          <a:rPr lang="en-US" altLang="zh-TW" sz="2000" i="1" dirty="0">
                            <a:latin typeface="+mj-lt"/>
                          </a:rPr>
                        </m:ctrlPr>
                      </m:sSubPr>
                      <m:e>
                        <m:r>
                          <a:rPr lang="en-US" altLang="zh-TW" sz="2000" i="1" dirty="0">
                            <a:latin typeface="+mj-lt"/>
                          </a:rPr>
                          <m:t>𝐺</m:t>
                        </m:r>
                      </m:e>
                      <m:sub>
                        <m:r>
                          <a:rPr lang="en-US" altLang="zh-TW" sz="2000" i="1" dirty="0">
                            <a:latin typeface="+mj-lt"/>
                          </a:rPr>
                          <m:t>𝑇</m:t>
                        </m:r>
                      </m:sub>
                    </m:sSub>
                    <m:r>
                      <a:rPr lang="en-US" altLang="zh-TW" sz="2000" i="1" dirty="0">
                        <a:latin typeface="+mj-lt"/>
                      </a:rPr>
                      <m:t>​</m:t>
                    </m:r>
                  </m:oMath>
                </a14:m>
                <a:endParaRPr lang="en-US" altLang="zh-TW" sz="2000" dirty="0">
                  <a:latin typeface="+mj-lt"/>
                </a:endParaRPr>
              </a:p>
              <a:p>
                <a:pPr lvl="1" fontAlgn="b"/>
                <a:r>
                  <a:rPr lang="en-US" altLang="zh-TW" sz="2000" dirty="0">
                    <a:latin typeface="+mj-lt"/>
                  </a:rPr>
                  <a:t>Multilinear </a:t>
                </a:r>
                <a:r>
                  <a:rPr lang="zh-TW" altLang="en-US" sz="2000" dirty="0">
                    <a:latin typeface="+mj-lt"/>
                  </a:rPr>
                  <a:t>：</a:t>
                </a:r>
                <a:r>
                  <a:rPr lang="en-US" altLang="zh-TW" sz="2000" dirty="0">
                    <a:latin typeface="+mj-lt"/>
                  </a:rPr>
                  <a:t>if </a:t>
                </a:r>
                <a:r>
                  <a:rPr lang="zh-TW" altLang="en-US" sz="2000" dirty="0">
                    <a:latin typeface="+mj-lt"/>
                  </a:rPr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2000">
                            <a:latin typeface="+mj-lt"/>
                          </a:rPr>
                        </m:ctrlPr>
                      </m:sSubPr>
                      <m:e>
                        <m:r>
                          <a:rPr lang="zh-TW" altLang="ar-AE" sz="2000" i="1">
                            <a:latin typeface="+mj-lt"/>
                          </a:rPr>
                          <m:t>𝑢</m:t>
                        </m:r>
                      </m:e>
                      <m:sub>
                        <m:r>
                          <a:rPr lang="ar-AE" altLang="zh-TW" sz="2000">
                            <a:latin typeface="+mj-lt"/>
                          </a:rPr>
                          <m:t>1</m:t>
                        </m:r>
                      </m:sub>
                    </m:sSub>
                    <m:r>
                      <a:rPr lang="ar-AE" altLang="zh-TW" sz="2000">
                        <a:latin typeface="+mj-lt"/>
                      </a:rPr>
                      <m:t>,…,</m:t>
                    </m:r>
                    <m:sSub>
                      <m:sSubPr>
                        <m:ctrlPr>
                          <a:rPr lang="ar-AE" altLang="zh-TW" sz="2000" i="1">
                            <a:latin typeface="+mj-lt"/>
                          </a:rPr>
                        </m:ctrlPr>
                      </m:sSubPr>
                      <m:e>
                        <m:r>
                          <a:rPr lang="zh-TW" altLang="ar-AE" sz="2000" i="1">
                            <a:latin typeface="+mj-lt"/>
                          </a:rPr>
                          <m:t>𝑢</m:t>
                        </m:r>
                      </m:e>
                      <m:sub>
                        <m:r>
                          <a:rPr lang="zh-TW" altLang="ar-AE" sz="2000" i="1">
                            <a:latin typeface="+mj-lt"/>
                          </a:rPr>
                          <m:t>𝑑</m:t>
                        </m:r>
                      </m:sub>
                    </m:sSub>
                    <m:r>
                      <a:rPr lang="ar-AE" altLang="zh-TW" sz="2000">
                        <a:latin typeface="+mj-lt"/>
                      </a:rPr>
                      <m:t>∈</m:t>
                    </m:r>
                    <m:r>
                      <a:rPr lang="zh-TW" altLang="ar-AE" sz="2000">
                        <a:latin typeface="+mj-lt"/>
                      </a:rPr>
                      <m:t>𝔾</m:t>
                    </m:r>
                  </m:oMath>
                </a14:m>
                <a:r>
                  <a:rPr lang="ar-AE" altLang="zh-TW" sz="2000" dirty="0">
                    <a:latin typeface="+mj-lt"/>
                  </a:rPr>
                  <a:t> </a:t>
                </a:r>
                <a:r>
                  <a:rPr lang="en-US" altLang="zh-TW" sz="2000" dirty="0">
                    <a:latin typeface="+mj-lt"/>
                  </a:rPr>
                  <a:t>and </a:t>
                </a:r>
                <a:r>
                  <a:rPr lang="zh-TW" altLang="en-US" sz="2000" dirty="0">
                    <a:latin typeface="+mj-lt"/>
                  </a:rPr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2000">
                            <a:latin typeface="+mj-lt"/>
                          </a:rPr>
                        </m:ctrlPr>
                      </m:sSubPr>
                      <m:e>
                        <m:r>
                          <a:rPr lang="zh-TW" altLang="ar-AE" sz="2000" i="1">
                            <a:latin typeface="+mj-lt"/>
                          </a:rPr>
                          <m:t>𝛼</m:t>
                        </m:r>
                      </m:e>
                      <m:sub>
                        <m:r>
                          <a:rPr lang="ar-AE" altLang="zh-TW" sz="2000">
                            <a:latin typeface="+mj-lt"/>
                          </a:rPr>
                          <m:t>1</m:t>
                        </m:r>
                      </m:sub>
                    </m:sSub>
                    <m:r>
                      <a:rPr lang="ar-AE" altLang="zh-TW" sz="2000">
                        <a:latin typeface="+mj-lt"/>
                      </a:rPr>
                      <m:t>,…,</m:t>
                    </m:r>
                    <m:sSub>
                      <m:sSubPr>
                        <m:ctrlPr>
                          <a:rPr lang="ar-AE" altLang="zh-TW" sz="2000" i="1">
                            <a:latin typeface="+mj-lt"/>
                          </a:rPr>
                        </m:ctrlPr>
                      </m:sSubPr>
                      <m:e>
                        <m:r>
                          <a:rPr lang="zh-TW" altLang="ar-AE" sz="2000" i="1">
                            <a:latin typeface="+mj-lt"/>
                          </a:rPr>
                          <m:t>𝛼</m:t>
                        </m:r>
                      </m:e>
                      <m:sub>
                        <m:r>
                          <a:rPr lang="zh-TW" altLang="ar-AE" sz="2000" i="1">
                            <a:latin typeface="+mj-lt"/>
                          </a:rPr>
                          <m:t>𝑑</m:t>
                        </m:r>
                      </m:sub>
                    </m:sSub>
                    <m:r>
                      <a:rPr lang="ar-AE" altLang="zh-TW" sz="2000">
                        <a:latin typeface="+mj-lt"/>
                      </a:rPr>
                      <m:t>∈</m:t>
                    </m:r>
                    <m:sSub>
                      <m:sSubPr>
                        <m:ctrlPr>
                          <a:rPr lang="ar-AE" altLang="zh-TW" sz="2000" i="1">
                            <a:latin typeface="+mj-lt"/>
                          </a:rPr>
                        </m:ctrlPr>
                      </m:sSubPr>
                      <m:e>
                        <m:r>
                          <a:rPr lang="ar-AE" altLang="zh-TW" sz="2000">
                            <a:latin typeface="+mj-lt"/>
                          </a:rPr>
                          <m:t>ℤ</m:t>
                        </m:r>
                      </m:e>
                      <m:sub>
                        <m:r>
                          <a:rPr lang="zh-TW" altLang="ar-AE" sz="2000" i="1">
                            <a:latin typeface="+mj-lt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zh-TW" altLang="ar-AE" sz="2000" dirty="0">
                    <a:latin typeface="+mj-lt"/>
                  </a:rPr>
                  <a:t>，</a:t>
                </a:r>
                <a:endParaRPr lang="en-US" altLang="zh-TW" sz="2000" b="0" i="0" dirty="0">
                  <a:latin typeface="+mj-lt"/>
                </a:endParaRPr>
              </a:p>
              <a:p>
                <a:pPr marL="1405431" lvl="2" indent="0" fontAlgn="b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000" b="0" i="0" smtClean="0">
                          <a:latin typeface="+mj-lt"/>
                        </a:rPr>
                        <m:t>then</m:t>
                      </m:r>
                      <m:r>
                        <a:rPr lang="en-US" altLang="zh-TW" sz="2000" b="0" i="0" smtClean="0">
                          <a:latin typeface="+mj-lt"/>
                        </a:rPr>
                        <m:t> </m:t>
                      </m:r>
                      <m:r>
                        <a:rPr lang="zh-TW" altLang="en-US" sz="2000" i="1">
                          <a:latin typeface="+mj-lt"/>
                        </a:rPr>
                        <m:t>𝑒</m:t>
                      </m:r>
                      <m:d>
                        <m:dPr>
                          <m:sepChr m:val=","/>
                          <m:ctrlPr>
                            <a:rPr lang="ar-AE" altLang="zh-TW" sz="2000" i="1">
                              <a:latin typeface="+mj-lt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ar-AE" altLang="zh-TW" sz="2000" i="1">
                                  <a:latin typeface="+mj-lt"/>
                                </a:rPr>
                              </m:ctrlPr>
                            </m:sSubSupPr>
                            <m:e>
                              <m:r>
                                <a:rPr lang="zh-TW" altLang="ar-AE" sz="2000" i="1">
                                  <a:latin typeface="+mj-lt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ar-AE" altLang="zh-TW" sz="2000">
                                  <a:latin typeface="+mj-lt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ar-AE" altLang="zh-TW" sz="2000" i="1">
                                      <a:latin typeface="+mj-lt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000" i="1">
                                      <a:latin typeface="+mj-lt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ar-AE" altLang="zh-TW" sz="2000">
                                      <a:latin typeface="+mj-lt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bSup>
                        </m:e>
                        <m:e>
                          <m:r>
                            <a:rPr lang="ar-AE" altLang="zh-TW" sz="2000">
                              <a:latin typeface="+mj-lt"/>
                            </a:rPr>
                            <m:t>…</m:t>
                          </m:r>
                        </m:e>
                        <m:e>
                          <m:sSubSup>
                            <m:sSubSupPr>
                              <m:ctrlPr>
                                <a:rPr lang="ar-AE" altLang="zh-TW" sz="2000" i="1">
                                  <a:latin typeface="+mj-lt"/>
                                </a:rPr>
                              </m:ctrlPr>
                            </m:sSubSupPr>
                            <m:e>
                              <m:r>
                                <a:rPr lang="zh-TW" altLang="ar-AE" sz="2000" i="1">
                                  <a:latin typeface="+mj-lt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TW" altLang="ar-AE" sz="2000" i="1">
                                  <a:latin typeface="+mj-lt"/>
                                </a:rPr>
                                <m:t>𝑑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ar-AE" altLang="zh-TW" sz="2000" i="1">
                                      <a:latin typeface="+mj-lt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000" i="1">
                                      <a:latin typeface="+mj-lt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zh-TW" altLang="ar-AE" sz="2000" i="1">
                                      <a:latin typeface="+mj-lt"/>
                                    </a:rPr>
                                    <m:t>𝑑</m:t>
                                  </m:r>
                                </m:sub>
                              </m:sSub>
                            </m:sup>
                          </m:sSubSup>
                        </m:e>
                      </m:d>
                      <m:r>
                        <a:rPr lang="ar-AE" altLang="zh-TW" sz="2000">
                          <a:latin typeface="+mj-lt"/>
                        </a:rPr>
                        <m:t>=</m:t>
                      </m:r>
                      <m:r>
                        <a:rPr lang="zh-TW" altLang="ar-AE" sz="2000" i="1">
                          <a:latin typeface="+mj-lt"/>
                        </a:rPr>
                        <m:t>𝑒</m:t>
                      </m:r>
                      <m:d>
                        <m:dPr>
                          <m:endChr m:val=","/>
                          <m:sepChr m:val=","/>
                          <m:ctrlPr>
                            <a:rPr lang="ar-AE" altLang="zh-TW" sz="2000" i="1">
                              <a:latin typeface="+mj-lt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TW" sz="2000" i="1">
                                  <a:latin typeface="+mj-lt"/>
                                </a:rPr>
                              </m:ctrlPr>
                            </m:sSubPr>
                            <m:e>
                              <m:r>
                                <a:rPr lang="zh-TW" altLang="ar-AE" sz="2000" i="1">
                                  <a:latin typeface="+mj-lt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ar-AE" altLang="zh-TW" sz="2000">
                                  <a:latin typeface="+mj-lt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ar-AE" altLang="zh-TW" sz="2000">
                              <a:latin typeface="+mj-lt"/>
                            </a:rPr>
                            <m:t>…</m:t>
                          </m:r>
                          <m:sSub>
                            <m:sSubPr>
                              <m:ctrlPr>
                                <a:rPr lang="ar-AE" altLang="zh-TW" sz="2000" i="1">
                                  <a:latin typeface="+mj-lt"/>
                                </a:rPr>
                              </m:ctrlPr>
                            </m:sSubPr>
                            <m:e>
                              <m:r>
                                <a:rPr lang="zh-TW" altLang="ar-AE" sz="2000" i="1">
                                  <a:latin typeface="+mj-lt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TW" altLang="ar-AE" sz="2000" i="1">
                                  <a:latin typeface="+mj-lt"/>
                                </a:rPr>
                                <m:t>𝑑</m:t>
                              </m:r>
                            </m:sub>
                          </m:sSub>
                          <m:sSup>
                            <m:sSupPr>
                              <m:ctrlPr>
                                <a:rPr lang="ar-AE" altLang="zh-TW" sz="2000" i="1">
                                  <a:latin typeface="+mj-lt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altLang="zh-TW" sz="2000" i="1">
                                      <a:latin typeface="+mj-lt"/>
                                    </a:rPr>
                                  </m:ctrlPr>
                                </m:dPr>
                                <m:e>
                                  <m:r>
                                    <a:rPr lang="ar-AE" altLang="zh-TW" sz="2000">
                                      <a:latin typeface="+mj-lt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sSub>
                                <m:sSubPr>
                                  <m:ctrlPr>
                                    <a:rPr lang="ar-AE" altLang="zh-TW" sz="2000" i="1">
                                      <a:latin typeface="+mj-lt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000" i="1">
                                      <a:latin typeface="+mj-lt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ar-AE" altLang="zh-TW" sz="2000">
                                      <a:latin typeface="+mj-lt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ar-AE" altLang="zh-TW" sz="2000">
                                  <a:latin typeface="+mj-lt"/>
                                </a:rPr>
                                <m:t>⋯</m:t>
                              </m:r>
                              <m:sSub>
                                <m:sSubPr>
                                  <m:ctrlPr>
                                    <a:rPr lang="ar-AE" altLang="zh-TW" sz="2000" i="1">
                                      <a:latin typeface="+mj-lt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000" i="1">
                                      <a:latin typeface="+mj-lt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zh-TW" altLang="ar-AE" sz="2000" i="1">
                                      <a:latin typeface="+mj-lt"/>
                                    </a:rPr>
                                    <m:t>𝑑</m:t>
                                  </m:r>
                                </m:sub>
                              </m:sSub>
                            </m:sup>
                          </m:sSup>
                        </m:e>
                      </m:d>
                    </m:oMath>
                  </m:oMathPara>
                </a14:m>
                <a:endParaRPr lang="ar-AE" altLang="zh-TW" sz="2000" dirty="0">
                  <a:latin typeface="+mj-lt"/>
                </a:endParaRPr>
              </a:p>
              <a:p>
                <a:pPr lvl="1"/>
                <a:r>
                  <a:rPr lang="en-US" altLang="zh-TW" sz="2000" dirty="0">
                    <a:latin typeface="+mj-lt"/>
                  </a:rPr>
                  <a:t>non-degenerate: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2000">
                            <a:latin typeface="+mj-lt"/>
                          </a:rPr>
                        </m:ctrlPr>
                      </m:sSubPr>
                      <m:e>
                        <m:r>
                          <a:rPr lang="zh-TW" altLang="ar-AE" sz="2000" i="1">
                            <a:latin typeface="+mj-lt"/>
                          </a:rPr>
                          <m:t>𝑔</m:t>
                        </m:r>
                      </m:e>
                      <m:sub>
                        <m:r>
                          <a:rPr lang="zh-TW" altLang="ar-AE" sz="2000" i="1">
                            <a:latin typeface="+mj-lt"/>
                          </a:rPr>
                          <m:t>𝑇</m:t>
                        </m:r>
                      </m:sub>
                    </m:sSub>
                    <m:r>
                      <a:rPr lang="ar-AE" altLang="zh-TW" sz="2000">
                        <a:latin typeface="+mj-lt"/>
                      </a:rPr>
                      <m:t>:=</m:t>
                    </m:r>
                    <m:r>
                      <a:rPr lang="zh-TW" altLang="ar-AE" sz="2000" i="1">
                        <a:latin typeface="+mj-lt"/>
                      </a:rPr>
                      <m:t>𝑒</m:t>
                    </m:r>
                    <m:d>
                      <m:dPr>
                        <m:sepChr m:val=","/>
                        <m:ctrlPr>
                          <a:rPr lang="ar-AE" altLang="zh-TW" sz="2000" i="1">
                            <a:latin typeface="+mj-lt"/>
                          </a:rPr>
                        </m:ctrlPr>
                      </m:dPr>
                      <m:e>
                        <m:r>
                          <a:rPr lang="zh-TW" altLang="ar-AE" sz="2000" i="1">
                            <a:latin typeface="+mj-lt"/>
                          </a:rPr>
                          <m:t>𝑔</m:t>
                        </m:r>
                      </m:e>
                      <m:e>
                        <m:r>
                          <a:rPr lang="ar-AE" altLang="zh-TW" sz="2000">
                            <a:latin typeface="+mj-lt"/>
                          </a:rPr>
                          <m:t>…</m:t>
                        </m:r>
                      </m:e>
                      <m:e>
                        <m:r>
                          <a:rPr lang="zh-TW" altLang="ar-AE" sz="2000" i="1">
                            <a:latin typeface="+mj-lt"/>
                          </a:rPr>
                          <m:t>𝑔</m:t>
                        </m:r>
                      </m:e>
                    </m:d>
                  </m:oMath>
                </a14:m>
                <a:r>
                  <a:rPr lang="ar-AE" altLang="zh-TW" sz="2000" dirty="0">
                    <a:latin typeface="+mj-lt"/>
                  </a:rPr>
                  <a:t> </a:t>
                </a:r>
                <a:r>
                  <a:rPr lang="en-US" altLang="zh-TW" sz="2000" dirty="0">
                    <a:latin typeface="+mj-lt"/>
                  </a:rPr>
                  <a:t>are</a:t>
                </a:r>
                <a:r>
                  <a:rPr lang="zh-TW" altLang="en-US" sz="2000" dirty="0">
                    <a:latin typeface="+mj-lt"/>
                  </a:rPr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2000">
                            <a:latin typeface="+mj-lt"/>
                          </a:rPr>
                        </m:ctrlPr>
                      </m:sSubPr>
                      <m:e>
                        <m:r>
                          <a:rPr lang="zh-TW" altLang="ar-AE" sz="2000">
                            <a:latin typeface="+mj-lt"/>
                          </a:rPr>
                          <m:t>𝔾</m:t>
                        </m:r>
                      </m:e>
                      <m:sub>
                        <m:r>
                          <a:rPr lang="zh-TW" altLang="ar-AE" sz="2000" i="1">
                            <a:latin typeface="+mj-lt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ar-AE" altLang="zh-TW" sz="2000" dirty="0">
                    <a:latin typeface="+mj-lt"/>
                  </a:rPr>
                  <a:t> </a:t>
                </a:r>
                <a:r>
                  <a:rPr lang="en-US" altLang="zh-TW" sz="2000" dirty="0">
                    <a:latin typeface="+mj-lt"/>
                  </a:rPr>
                  <a:t>’s Generator</a:t>
                </a:r>
              </a:p>
              <a:p>
                <a:r>
                  <a:rPr lang="en-US" altLang="zh-TW" sz="2000" dirty="0">
                    <a:latin typeface="+mj-lt"/>
                  </a:rPr>
                  <a:t>Attack game (</a:t>
                </a:r>
                <a:r>
                  <a:rPr lang="en-US" altLang="zh-TW" sz="2000" b="1" dirty="0">
                    <a:latin typeface="+mj-lt"/>
                  </a:rPr>
                  <a:t>Decision Multilinear Diffie-Hellman</a:t>
                </a:r>
                <a:r>
                  <a:rPr lang="en-US" altLang="zh-TW" sz="2000" dirty="0">
                    <a:latin typeface="+mj-lt"/>
                  </a:rPr>
                  <a:t>) for</a:t>
                </a:r>
                <a:r>
                  <a:rPr lang="zh-TW" altLang="en-US" sz="2000" dirty="0">
                    <a:latin typeface="+mj-lt"/>
                  </a:rPr>
                  <a:t> </a:t>
                </a:r>
                <a14:m>
                  <m:oMath xmlns:m="http://schemas.openxmlformats.org/officeDocument/2006/math">
                    <m:r>
                      <a:rPr lang="zh-TW" altLang="en-US" sz="2000" i="1">
                        <a:latin typeface="+mj-lt"/>
                      </a:rPr>
                      <m:t>𝑏</m:t>
                    </m:r>
                    <m:r>
                      <a:rPr lang="en-US" altLang="zh-TW" sz="2000">
                        <a:latin typeface="+mj-lt"/>
                      </a:rPr>
                      <m:t>=</m:t>
                    </m:r>
                    <m:r>
                      <a:rPr lang="en-US" altLang="zh-TW" sz="2000">
                        <a:latin typeface="+mj-lt"/>
                      </a:rPr>
                      <m:t>0</m:t>
                    </m:r>
                    <m:r>
                      <a:rPr lang="en-US" altLang="zh-TW" sz="2000">
                        <a:latin typeface="+mj-lt"/>
                      </a:rPr>
                      <m:t>,</m:t>
                    </m:r>
                    <m:r>
                      <a:rPr lang="en-US" altLang="zh-TW" sz="2000">
                        <a:latin typeface="+mj-lt"/>
                      </a:rPr>
                      <m:t>1</m:t>
                    </m:r>
                  </m:oMath>
                </a14:m>
                <a:r>
                  <a:rPr lang="zh-TW" altLang="en-US" sz="2000" dirty="0">
                    <a:latin typeface="+mj-lt"/>
                  </a:rPr>
                  <a:t>：</a:t>
                </a:r>
              </a:p>
              <a:p>
                <a:pPr lvl="1"/>
                <a:r>
                  <a:rPr lang="en-US" altLang="zh-TW" sz="2000" dirty="0">
                    <a:latin typeface="+mj-lt"/>
                  </a:rPr>
                  <a:t>Challenger computes</a:t>
                </a:r>
                <a:r>
                  <a:rPr lang="zh-TW" altLang="en-US" sz="2000" dirty="0">
                    <a:latin typeface="+mj-lt"/>
                  </a:rPr>
                  <a:t>：</a:t>
                </a: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2000">
                            <a:latin typeface="+mj-lt"/>
                          </a:rPr>
                        </m:ctrlPr>
                      </m:sSubPr>
                      <m:e>
                        <m:r>
                          <a:rPr lang="zh-TW" altLang="ar-AE" sz="2000" i="1">
                            <a:latin typeface="+mj-lt"/>
                          </a:rPr>
                          <m:t>𝛼</m:t>
                        </m:r>
                      </m:e>
                      <m:sub>
                        <m:r>
                          <a:rPr lang="ar-AE" altLang="zh-TW" sz="2000">
                            <a:latin typeface="+mj-lt"/>
                          </a:rPr>
                          <m:t>1</m:t>
                        </m:r>
                      </m:sub>
                    </m:sSub>
                    <m:r>
                      <a:rPr lang="ar-AE" altLang="zh-TW" sz="2000">
                        <a:latin typeface="+mj-lt"/>
                      </a:rPr>
                      <m:t>,…,</m:t>
                    </m:r>
                    <m:sSub>
                      <m:sSubPr>
                        <m:ctrlPr>
                          <a:rPr lang="ar-AE" altLang="zh-TW" sz="2000" i="1">
                            <a:latin typeface="+mj-lt"/>
                          </a:rPr>
                        </m:ctrlPr>
                      </m:sSubPr>
                      <m:e>
                        <m:r>
                          <a:rPr lang="zh-TW" altLang="ar-AE" sz="2000" i="1">
                            <a:latin typeface="+mj-lt"/>
                          </a:rPr>
                          <m:t>𝛼</m:t>
                        </m:r>
                      </m:e>
                      <m:sub>
                        <m:r>
                          <a:rPr lang="zh-TW" altLang="ar-AE" sz="2000" i="1">
                            <a:latin typeface="+mj-lt"/>
                          </a:rPr>
                          <m:t>𝑑</m:t>
                        </m:r>
                        <m:r>
                          <a:rPr lang="ar-AE" altLang="zh-TW" sz="2000">
                            <a:latin typeface="+mj-lt"/>
                          </a:rPr>
                          <m:t>+</m:t>
                        </m:r>
                        <m:r>
                          <a:rPr lang="ar-AE" altLang="zh-TW" sz="2000">
                            <a:latin typeface="+mj-lt"/>
                          </a:rPr>
                          <m:t>1</m:t>
                        </m:r>
                      </m:sub>
                    </m:sSub>
                    <m:r>
                      <a:rPr lang="ar-AE" altLang="zh-TW" sz="2000">
                        <a:latin typeface="+mj-lt"/>
                      </a:rPr>
                      <m:t>←</m:t>
                    </m:r>
                    <m:sSub>
                      <m:sSubPr>
                        <m:ctrlPr>
                          <a:rPr lang="ar-AE" altLang="zh-TW" sz="2000" i="1">
                            <a:latin typeface="+mj-lt"/>
                          </a:rPr>
                        </m:ctrlPr>
                      </m:sSubPr>
                      <m:e>
                        <m:r>
                          <a:rPr lang="ar-AE" altLang="zh-TW" sz="2000">
                            <a:latin typeface="+mj-lt"/>
                          </a:rPr>
                          <m:t>ℤ</m:t>
                        </m:r>
                      </m:e>
                      <m:sub>
                        <m:r>
                          <a:rPr lang="zh-TW" altLang="ar-AE" sz="2000" i="1">
                            <a:latin typeface="+mj-lt"/>
                          </a:rPr>
                          <m:t>𝑞</m:t>
                        </m:r>
                      </m:sub>
                    </m:sSub>
                  </m:oMath>
                </a14:m>
                <a:endParaRPr lang="ar-AE" altLang="zh-TW" sz="2000" dirty="0">
                  <a:latin typeface="+mj-lt"/>
                </a:endParaRP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sz="2000">
                            <a:latin typeface="+mj-lt"/>
                          </a:rPr>
                        </m:ctrlPr>
                      </m:sSubPr>
                      <m:e>
                        <m:r>
                          <a:rPr lang="zh-TW" altLang="ar-AE" sz="2000" i="1">
                            <a:latin typeface="+mj-lt"/>
                          </a:rPr>
                          <m:t>𝑢</m:t>
                        </m:r>
                      </m:e>
                      <m:sub>
                        <m:r>
                          <a:rPr lang="zh-TW" altLang="ar-AE" sz="2000" i="1">
                            <a:latin typeface="+mj-lt"/>
                          </a:rPr>
                          <m:t>𝑖</m:t>
                        </m:r>
                      </m:sub>
                    </m:sSub>
                    <m:r>
                      <a:rPr lang="ar-AE" altLang="zh-TW" sz="2000">
                        <a:latin typeface="+mj-lt"/>
                      </a:rPr>
                      <m:t>←</m:t>
                    </m:r>
                    <m:sSup>
                      <m:sSupPr>
                        <m:ctrlPr>
                          <a:rPr lang="ar-AE" altLang="zh-TW" sz="2000" i="1">
                            <a:latin typeface="+mj-lt"/>
                          </a:rPr>
                        </m:ctrlPr>
                      </m:sSupPr>
                      <m:e>
                        <m:r>
                          <a:rPr lang="zh-TW" altLang="ar-AE" sz="2000" i="1">
                            <a:latin typeface="+mj-lt"/>
                          </a:rPr>
                          <m:t>𝑔</m:t>
                        </m:r>
                      </m:e>
                      <m:sup>
                        <m:sSub>
                          <m:sSubPr>
                            <m:ctrlPr>
                              <a:rPr lang="ar-AE" altLang="zh-TW" sz="2000" i="1"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zh-TW" altLang="ar-AE" sz="2000" i="1">
                                <a:latin typeface="+mj-lt"/>
                              </a:rPr>
                              <m:t>𝛼</m:t>
                            </m:r>
                          </m:e>
                          <m:sub>
                            <m:r>
                              <a:rPr lang="zh-TW" altLang="ar-AE" sz="2000" i="1">
                                <a:latin typeface="+mj-lt"/>
                              </a:rPr>
                              <m:t>𝑖</m:t>
                            </m:r>
                          </m:sub>
                        </m:sSub>
                      </m:sup>
                    </m:sSup>
                    <m:r>
                      <a:rPr lang="ar-AE" altLang="zh-TW" sz="2000">
                        <a:latin typeface="+mj-lt"/>
                      </a:rPr>
                      <m:t>∈</m:t>
                    </m:r>
                    <m:r>
                      <a:rPr lang="zh-TW" altLang="ar-AE" sz="2000">
                        <a:latin typeface="+mj-lt"/>
                      </a:rPr>
                      <m:t>𝔾</m:t>
                    </m:r>
                    <m:r>
                      <a:rPr lang="zh-TW" altLang="ar-AE" sz="2000">
                        <a:latin typeface="+mj-lt"/>
                      </a:rPr>
                      <m:t> </m:t>
                    </m:r>
                    <m:d>
                      <m:dPr>
                        <m:sepChr m:val=","/>
                        <m:ctrlPr>
                          <a:rPr lang="ar-AE" altLang="zh-TW" sz="2000" i="1">
                            <a:latin typeface="+mj-lt"/>
                          </a:rPr>
                        </m:ctrlPr>
                      </m:dPr>
                      <m:e>
                        <m:r>
                          <a:rPr lang="zh-TW" altLang="ar-AE" sz="2000" i="1">
                            <a:latin typeface="+mj-lt"/>
                          </a:rPr>
                          <m:t>𝑖</m:t>
                        </m:r>
                      </m:e>
                      <m:e>
                        <m:r>
                          <a:rPr lang="ar-AE" altLang="zh-TW" sz="2000">
                            <a:latin typeface="+mj-lt"/>
                          </a:rPr>
                          <m:t>=</m:t>
                        </m:r>
                      </m:e>
                      <m:e>
                        <m:r>
                          <a:rPr lang="ar-AE" altLang="zh-TW" sz="2000">
                            <a:latin typeface="+mj-lt"/>
                          </a:rPr>
                          <m:t>1</m:t>
                        </m:r>
                        <m:r>
                          <a:rPr lang="ar-AE" altLang="zh-TW" sz="2000">
                            <a:latin typeface="+mj-lt"/>
                          </a:rPr>
                          <m:t>…</m:t>
                        </m:r>
                        <m:r>
                          <a:rPr lang="zh-TW" altLang="ar-AE" sz="2000" i="1">
                            <a:latin typeface="+mj-lt"/>
                          </a:rPr>
                          <m:t>𝑑</m:t>
                        </m:r>
                        <m:r>
                          <a:rPr lang="ar-AE" altLang="zh-TW" sz="2000">
                            <a:latin typeface="+mj-lt"/>
                          </a:rPr>
                          <m:t>+</m:t>
                        </m:r>
                        <m:r>
                          <a:rPr lang="ar-AE" altLang="zh-TW" sz="2000">
                            <a:latin typeface="+mj-lt"/>
                          </a:rPr>
                          <m:t>1</m:t>
                        </m:r>
                      </m:e>
                    </m:d>
                  </m:oMath>
                </a14:m>
                <a:endParaRPr lang="ar-AE" altLang="zh-TW" sz="2000" dirty="0">
                  <a:latin typeface="+mj-lt"/>
                </a:endParaRP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altLang="zh-TW" sz="2000">
                            <a:latin typeface="+mj-lt"/>
                          </a:rPr>
                        </m:ctrlPr>
                      </m:sSupPr>
                      <m:e>
                        <m:r>
                          <a:rPr lang="zh-TW" altLang="ar-AE" sz="2000" i="1">
                            <a:latin typeface="+mj-lt"/>
                          </a:rPr>
                          <m:t>𝑧</m:t>
                        </m:r>
                      </m:e>
                      <m:sup>
                        <m:d>
                          <m:dPr>
                            <m:ctrlPr>
                              <a:rPr lang="ar-AE" altLang="zh-TW" sz="2000" i="1">
                                <a:latin typeface="+mj-lt"/>
                              </a:rPr>
                            </m:ctrlPr>
                          </m:dPr>
                          <m:e>
                            <m:r>
                              <a:rPr lang="ar-AE" altLang="zh-TW" sz="2000">
                                <a:latin typeface="+mj-lt"/>
                              </a:rPr>
                              <m:t>0</m:t>
                            </m:r>
                          </m:e>
                        </m:d>
                      </m:sup>
                    </m:sSup>
                    <m:r>
                      <a:rPr lang="ar-AE" altLang="zh-TW" sz="2000">
                        <a:latin typeface="+mj-lt"/>
                      </a:rPr>
                      <m:t>←</m:t>
                    </m:r>
                    <m:r>
                      <a:rPr lang="zh-TW" altLang="ar-AE" sz="2000" i="1">
                        <a:latin typeface="+mj-lt"/>
                      </a:rPr>
                      <m:t>𝑒</m:t>
                    </m:r>
                    <m:sSup>
                      <m:sSupPr>
                        <m:ctrlPr>
                          <a:rPr lang="ar-AE" altLang="zh-TW" sz="2000" b="0" i="1" smtClean="0">
                            <a:latin typeface="+mj-lt"/>
                          </a:rPr>
                        </m:ctrlPr>
                      </m:sSupPr>
                      <m:e>
                        <m:limLow>
                          <m:limLowPr>
                            <m:ctrlPr>
                              <a:rPr lang="ar-AE" altLang="zh-TW" sz="2000" b="0" i="1" smtClean="0">
                                <a:latin typeface="+mj-lt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ctrlPr>
                                  <a:rPr lang="en-US" altLang="zh-TW" sz="2000" b="0" i="1" smtClean="0">
                                    <a:latin typeface="+mj-lt"/>
                                  </a:rPr>
                                </m:ctrlPr>
                              </m:groupChrPr>
                              <m:e>
                                <m:d>
                                  <m:dPr>
                                    <m:ctrlPr>
                                      <a:rPr lang="en-US" altLang="zh-TW" sz="2000" b="0" i="1" smtClean="0">
                                        <a:latin typeface="+mj-lt"/>
                                      </a:rPr>
                                    </m:ctrlPr>
                                  </m:dPr>
                                  <m:e>
                                    <m:r>
                                      <a:rPr lang="zh-TW" altLang="ar-AE" sz="2000" b="0" i="1">
                                        <a:latin typeface="+mj-lt"/>
                                      </a:rPr>
                                      <m:t>𝑔</m:t>
                                    </m:r>
                                    <m:r>
                                      <a:rPr lang="ar-AE" altLang="zh-TW" sz="2000" b="0" i="1">
                                        <a:latin typeface="+mj-lt"/>
                                      </a:rPr>
                                      <m:t>,…,</m:t>
                                    </m:r>
                                    <m:r>
                                      <a:rPr lang="zh-TW" altLang="ar-AE" sz="2000" b="0" i="1">
                                        <a:latin typeface="+mj-lt"/>
                                      </a:rPr>
                                      <m:t>𝑔</m:t>
                                    </m:r>
                                  </m:e>
                                </m:d>
                              </m:e>
                            </m:groupChr>
                          </m:e>
                          <m:lim>
                            <m:r>
                              <a:rPr lang="zh-TW" altLang="ar-AE" sz="2000" b="0" i="1">
                                <a:latin typeface="+mj-lt"/>
                              </a:rPr>
                              <m:t>𝑑</m:t>
                            </m:r>
                            <m:r>
                              <a:rPr lang="en-US" altLang="zh-TW" sz="2000" b="0" i="1" smtClean="0">
                                <a:latin typeface="+mj-lt"/>
                              </a:rPr>
                              <m:t>-</m:t>
                            </m:r>
                            <m:r>
                              <m:rPr>
                                <m:sty m:val="p"/>
                              </m:rPr>
                              <a:rPr lang="en-US" altLang="zh-TW" sz="2000" b="0" i="1" smtClean="0">
                                <a:latin typeface="+mj-lt"/>
                              </a:rPr>
                              <m:t>way</m:t>
                            </m:r>
                            <m:r>
                              <a:rPr lang="en-US" altLang="zh-TW" sz="2000" b="0" i="1" smtClean="0">
                                <a:latin typeface="+mj-lt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000" b="0" i="1" smtClean="0">
                                <a:latin typeface="+mj-lt"/>
                              </a:rPr>
                              <m:t>map</m:t>
                            </m:r>
                          </m:lim>
                        </m:limLow>
                      </m:e>
                      <m:sup>
                        <m:sSub>
                          <m:sSubPr>
                            <m:ctrlPr>
                              <a:rPr lang="ar-AE" altLang="zh-TW" sz="2000" b="0" i="1"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zh-TW" altLang="ar-AE" sz="2000" b="0" i="1">
                                <a:latin typeface="+mj-lt"/>
                              </a:rPr>
                              <m:t>𝛼</m:t>
                            </m:r>
                          </m:e>
                          <m:sub>
                            <m:r>
                              <a:rPr lang="ar-AE" altLang="zh-TW" sz="2000" b="0" i="1">
                                <a:latin typeface="+mj-lt"/>
                              </a:rPr>
                              <m:t>1</m:t>
                            </m:r>
                          </m:sub>
                        </m:sSub>
                        <m:r>
                          <a:rPr lang="ar-AE" altLang="zh-TW" sz="2000" b="0" i="1">
                            <a:latin typeface="+mj-lt"/>
                          </a:rPr>
                          <m:t>⋯</m:t>
                        </m:r>
                        <m:sSub>
                          <m:sSubPr>
                            <m:ctrlPr>
                              <a:rPr lang="ar-AE" altLang="zh-TW" sz="2000" b="0" i="1"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zh-TW" altLang="ar-AE" sz="2000" b="0" i="1">
                                <a:latin typeface="+mj-lt"/>
                              </a:rPr>
                              <m:t>𝛼</m:t>
                            </m:r>
                          </m:e>
                          <m:sub>
                            <m:r>
                              <a:rPr lang="zh-TW" altLang="ar-AE" sz="2000" b="0" i="1">
                                <a:latin typeface="+mj-lt"/>
                              </a:rPr>
                              <m:t>𝑑</m:t>
                            </m:r>
                            <m:r>
                              <a:rPr lang="ar-AE" altLang="zh-TW" sz="2000" b="0" i="1">
                                <a:latin typeface="+mj-lt"/>
                              </a:rPr>
                              <m:t>+</m:t>
                            </m:r>
                            <m:r>
                              <a:rPr lang="ar-AE" altLang="zh-TW" sz="2000" b="0" i="1">
                                <a:latin typeface="+mj-lt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a:rPr lang="ar-AE" altLang="zh-TW" sz="2000" b="0" i="1">
                        <a:latin typeface="+mj-lt"/>
                      </a:rPr>
                      <m:t> </m:t>
                    </m:r>
                    <m:r>
                      <a:rPr lang="en-US" altLang="zh-TW" sz="2000" b="0" i="1" smtClean="0">
                        <a:latin typeface="+mj-lt"/>
                      </a:rPr>
                      <m:t>,</m:t>
                    </m:r>
                    <m:sSup>
                      <m:sSupPr>
                        <m:ctrlPr>
                          <a:rPr lang="ar-AE" altLang="zh-TW" sz="2000" b="0" i="1" smtClean="0">
                            <a:latin typeface="+mj-lt"/>
                          </a:rPr>
                        </m:ctrlPr>
                      </m:sSupPr>
                      <m:e>
                        <m:r>
                          <a:rPr lang="zh-TW" altLang="ar-AE" sz="2000" b="0" i="1">
                            <a:latin typeface="+mj-lt"/>
                          </a:rPr>
                          <m:t>𝑧</m:t>
                        </m:r>
                      </m:e>
                      <m:sup>
                        <m:d>
                          <m:dPr>
                            <m:ctrlPr>
                              <a:rPr lang="en-US" altLang="zh-TW" sz="2000" b="0" i="1" smtClean="0">
                                <a:latin typeface="+mj-lt"/>
                              </a:rPr>
                            </m:ctrlPr>
                          </m:dPr>
                          <m:e>
                            <m:r>
                              <a:rPr lang="en-US" altLang="zh-TW" sz="2000" b="0" i="1" smtClean="0">
                                <a:latin typeface="+mj-lt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ar-AE" altLang="zh-TW" sz="2000" b="0" i="1">
                        <a:latin typeface="+mj-lt"/>
                      </a:rPr>
                      <m:t>←</m:t>
                    </m:r>
                    <m:r>
                      <a:rPr lang="zh-TW" altLang="ar-AE" sz="2000" b="0" i="1">
                        <a:latin typeface="+mj-lt"/>
                      </a:rPr>
                      <m:t>𝑒</m:t>
                    </m:r>
                    <m:sSup>
                      <m:sSupPr>
                        <m:ctrlPr>
                          <a:rPr lang="ar-AE" altLang="zh-TW" sz="2000" b="0" i="1" smtClean="0">
                            <a:latin typeface="+mj-lt"/>
                          </a:rPr>
                        </m:ctrlPr>
                      </m:sSupPr>
                      <m:e>
                        <m:limLow>
                          <m:limLowPr>
                            <m:ctrlPr>
                              <a:rPr lang="ar-AE" altLang="zh-TW" sz="2000" b="0" i="1" smtClean="0">
                                <a:latin typeface="+mj-lt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ctrlPr>
                                  <a:rPr lang="zh-TW" altLang="ar-AE" sz="2000" b="0" i="1" smtClean="0">
                                    <a:latin typeface="+mj-lt"/>
                                  </a:rPr>
                                </m:ctrlPr>
                              </m:groupChrPr>
                              <m:e>
                                <m:d>
                                  <m:dPr>
                                    <m:ctrlPr>
                                      <a:rPr lang="en-US" altLang="zh-TW" sz="2000" b="0" i="1" smtClean="0">
                                        <a:latin typeface="+mj-lt"/>
                                      </a:rPr>
                                    </m:ctrlPr>
                                  </m:dPr>
                                  <m:e>
                                    <m:r>
                                      <a:rPr lang="zh-TW" altLang="ar-AE" sz="2000" b="0" i="1">
                                        <a:latin typeface="+mj-lt"/>
                                      </a:rPr>
                                      <m:t>𝑔</m:t>
                                    </m:r>
                                    <m:r>
                                      <a:rPr lang="ar-AE" altLang="zh-TW" sz="2000" b="0" i="1">
                                        <a:latin typeface="+mj-lt"/>
                                      </a:rPr>
                                      <m:t>,…,</m:t>
                                    </m:r>
                                    <m:r>
                                      <a:rPr lang="zh-TW" altLang="ar-AE" sz="2000" b="0" i="1">
                                        <a:latin typeface="+mj-lt"/>
                                      </a:rPr>
                                      <m:t>𝑔</m:t>
                                    </m:r>
                                  </m:e>
                                </m:d>
                              </m:e>
                            </m:groupChr>
                          </m:e>
                          <m:lim>
                            <m:r>
                              <a:rPr lang="zh-TW" altLang="ar-AE" sz="2000" b="0" i="1">
                                <a:latin typeface="+mj-lt"/>
                              </a:rPr>
                              <m:t>𝑑</m:t>
                            </m:r>
                            <m:r>
                              <a:rPr lang="en-US" altLang="zh-TW" sz="2000" b="0" i="1" smtClean="0">
                                <a:latin typeface="+mj-lt"/>
                              </a:rPr>
                              <m:t>-</m:t>
                            </m:r>
                            <m:r>
                              <m:rPr>
                                <m:sty m:val="p"/>
                              </m:rPr>
                              <a:rPr lang="en-US" altLang="zh-TW" sz="2000" b="0" i="1" smtClean="0">
                                <a:latin typeface="+mj-lt"/>
                              </a:rPr>
                              <m:t>way</m:t>
                            </m:r>
                            <m:r>
                              <a:rPr lang="en-US" altLang="zh-TW" sz="2000" b="0" i="1" smtClean="0">
                                <a:latin typeface="+mj-lt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sz="2000" b="0" i="1" smtClean="0">
                                <a:latin typeface="+mj-lt"/>
                              </a:rPr>
                              <m:t>map</m:t>
                            </m:r>
                          </m:lim>
                        </m:limLow>
                      </m:e>
                      <m:sup>
                        <m:r>
                          <a:rPr lang="zh-TW" altLang="ar-AE" sz="2000" b="0" i="1">
                            <a:latin typeface="+mj-lt"/>
                          </a:rPr>
                          <m:t>𝛽</m:t>
                        </m:r>
                      </m:sup>
                    </m:sSup>
                  </m:oMath>
                </a14:m>
                <a:endParaRPr lang="ar-AE" altLang="zh-TW" sz="2000" dirty="0">
                  <a:latin typeface="+mj-lt"/>
                </a:endParaRPr>
              </a:p>
              <a:p>
                <a:pPr lvl="2">
                  <a:spcBef>
                    <a:spcPts val="0"/>
                  </a:spcBef>
                </a:pPr>
                <a:r>
                  <a:rPr lang="en-US" altLang="zh-TW" sz="2000" dirty="0">
                    <a:latin typeface="+mj-lt"/>
                  </a:rPr>
                  <a:t>To adversary</a:t>
                </a:r>
                <a:r>
                  <a:rPr lang="zh-TW" altLang="en-US" sz="2000" dirty="0">
                    <a:latin typeface="+mj-lt"/>
                  </a:rPr>
                  <a:t> 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altLang="zh-TW" sz="2000">
                            <a:latin typeface="+mj-lt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TW" sz="2000"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zh-TW" altLang="ar-AE" sz="2000" i="1">
                                <a:latin typeface="+mj-lt"/>
                              </a:rPr>
                              <m:t>𝑢</m:t>
                            </m:r>
                          </m:e>
                          <m:sub>
                            <m:r>
                              <a:rPr lang="ar-AE" altLang="zh-TW" sz="2000">
                                <a:latin typeface="+mj-lt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lang="ar-AE" altLang="zh-TW" sz="2000">
                            <a:latin typeface="+mj-lt"/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ar-AE" altLang="zh-TW" sz="2000" i="1"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zh-TW" altLang="ar-AE" sz="2000" i="1">
                                <a:latin typeface="+mj-lt"/>
                              </a:rPr>
                              <m:t>𝑢</m:t>
                            </m:r>
                          </m:e>
                          <m:sub>
                            <m:r>
                              <a:rPr lang="zh-TW" altLang="ar-AE" sz="2000" i="1">
                                <a:latin typeface="+mj-lt"/>
                              </a:rPr>
                              <m:t>𝑑</m:t>
                            </m:r>
                            <m:r>
                              <a:rPr lang="ar-AE" altLang="zh-TW" sz="2000">
                                <a:latin typeface="+mj-lt"/>
                              </a:rPr>
                              <m:t>+</m:t>
                            </m:r>
                            <m:r>
                              <a:rPr lang="ar-AE" altLang="zh-TW" sz="2000">
                                <a:latin typeface="+mj-lt"/>
                              </a:rPr>
                              <m:t>1</m:t>
                            </m:r>
                          </m:sub>
                        </m:sSub>
                      </m:e>
                      <m:e>
                        <m:sSup>
                          <m:sSupPr>
                            <m:ctrlPr>
                              <a:rPr lang="ar-AE" altLang="zh-TW" sz="2000" i="1">
                                <a:latin typeface="+mj-lt"/>
                              </a:rPr>
                            </m:ctrlPr>
                          </m:sSupPr>
                          <m:e>
                            <m:r>
                              <a:rPr lang="zh-TW" altLang="ar-AE" sz="2000" i="1">
                                <a:latin typeface="+mj-lt"/>
                              </a:rPr>
                              <m:t>𝑧</m:t>
                            </m:r>
                          </m:e>
                          <m:sup>
                            <m:d>
                              <m:dPr>
                                <m:ctrlPr>
                                  <a:rPr lang="ar-AE" altLang="zh-TW" sz="2000" i="1">
                                    <a:latin typeface="+mj-lt"/>
                                  </a:rPr>
                                </m:ctrlPr>
                              </m:dPr>
                              <m:e>
                                <m:r>
                                  <a:rPr lang="zh-TW" altLang="ar-AE" sz="2000" i="1">
                                    <a:latin typeface="+mj-lt"/>
                                  </a:rPr>
                                  <m:t>𝑏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lang="ar-AE" altLang="zh-TW" sz="2000" dirty="0">
                  <a:latin typeface="+mj-lt"/>
                </a:endParaRPr>
              </a:p>
              <a:p>
                <a:pPr lvl="1"/>
                <a:r>
                  <a:rPr lang="en-US" altLang="zh-TW" sz="2000" dirty="0">
                    <a:latin typeface="+mj-lt"/>
                  </a:rPr>
                  <a:t>Adversary guess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altLang="zh-TW" sz="2000">
                            <a:latin typeface="+mj-lt"/>
                          </a:rPr>
                        </m:ctrlPr>
                      </m:accPr>
                      <m:e>
                        <m:r>
                          <a:rPr lang="zh-TW" altLang="ar-AE" sz="2000" i="1">
                            <a:latin typeface="+mj-lt"/>
                          </a:rPr>
                          <m:t>𝑏</m:t>
                        </m:r>
                      </m:e>
                    </m:acc>
                    <m:r>
                      <a:rPr lang="en-US" altLang="zh-TW" sz="2000" b="0" i="1" smtClean="0">
                        <a:latin typeface="+mj-lt"/>
                      </a:rPr>
                      <m:t>∈{</m:t>
                    </m:r>
                    <m:r>
                      <a:rPr lang="en-US" altLang="zh-TW" sz="2000" b="0" i="1" smtClean="0">
                        <a:latin typeface="+mj-lt"/>
                      </a:rPr>
                      <m:t>0</m:t>
                    </m:r>
                    <m:r>
                      <a:rPr lang="en-US" altLang="zh-TW" sz="2000" b="0" i="1" smtClean="0">
                        <a:latin typeface="+mj-lt"/>
                      </a:rPr>
                      <m:t>,</m:t>
                    </m:r>
                    <m:r>
                      <a:rPr lang="en-US" altLang="zh-TW" sz="2000" b="0" i="1" smtClean="0">
                        <a:latin typeface="+mj-lt"/>
                      </a:rPr>
                      <m:t>1</m:t>
                    </m:r>
                    <m:r>
                      <a:rPr lang="en-US" altLang="zh-TW" sz="2000" b="0" i="1" smtClean="0">
                        <a:latin typeface="+mj-lt"/>
                      </a:rPr>
                      <m:t>}</m:t>
                    </m:r>
                  </m:oMath>
                </a14:m>
                <a:r>
                  <a:rPr lang="en-US" altLang="zh-TW" sz="2000" dirty="0">
                    <a:latin typeface="+mj-lt"/>
                  </a:rPr>
                  <a:t> </a:t>
                </a:r>
                <a:endParaRPr lang="ar-AE" altLang="zh-TW" sz="2000" dirty="0">
                  <a:latin typeface="+mj-lt"/>
                </a:endParaRPr>
              </a:p>
              <a:p>
                <a:r>
                  <a:rPr lang="en-US" altLang="zh-TW" sz="2000" b="1" dirty="0">
                    <a:latin typeface="+mj-lt"/>
                  </a:rPr>
                  <a:t>Adversary Advantage </a:t>
                </a:r>
                <a14:m>
                  <m:oMath xmlns:m="http://schemas.openxmlformats.org/officeDocument/2006/math">
                    <m:r>
                      <a:rPr lang="en-US" altLang="zh-TW" sz="2000" b="1" i="0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pl-PL" altLang="zh-TW" sz="2000" i="1" dirty="0" smtClean="0">
                        <a:latin typeface="+mj-lt"/>
                      </a:rPr>
                      <m:t>𝐷𝑀𝐷𝐻𝑎𝑑𝑣</m:t>
                    </m:r>
                    <m:d>
                      <m:dPr>
                        <m:begChr m:val="["/>
                        <m:endChr m:val="]"/>
                        <m:ctrlPr>
                          <a:rPr lang="pl-PL" altLang="zh-TW" sz="2000" i="1" dirty="0" smtClean="0">
                            <a:latin typeface="+mj-lt"/>
                          </a:rPr>
                        </m:ctrlPr>
                      </m:dPr>
                      <m:e>
                        <m:r>
                          <a:rPr lang="pl-PL" altLang="zh-TW" sz="2000" i="1" dirty="0" smtClean="0">
                            <a:latin typeface="+mj-lt"/>
                          </a:rPr>
                          <m:t>𝐴</m:t>
                        </m:r>
                        <m:r>
                          <a:rPr lang="pl-PL" altLang="zh-TW" sz="2000" i="1" dirty="0" smtClean="0">
                            <a:latin typeface="+mj-lt"/>
                          </a:rPr>
                          <m:t>,</m:t>
                        </m:r>
                        <m:r>
                          <a:rPr lang="pl-PL" altLang="zh-TW" sz="2000" i="1" dirty="0" smtClean="0">
                            <a:latin typeface="+mj-lt"/>
                          </a:rPr>
                          <m:t>𝑒</m:t>
                        </m:r>
                        <m:r>
                          <a:rPr lang="pl-PL" altLang="zh-TW" sz="2000" i="1" dirty="0" smtClean="0">
                            <a:latin typeface="+mj-lt"/>
                          </a:rPr>
                          <m:t>,</m:t>
                        </m:r>
                        <m:r>
                          <a:rPr lang="pl-PL" altLang="zh-TW" sz="2000" i="1" dirty="0" smtClean="0">
                            <a:latin typeface="+mj-lt"/>
                          </a:rPr>
                          <m:t>𝑑</m:t>
                        </m:r>
                      </m:e>
                    </m:d>
                    <m:r>
                      <a:rPr lang="pl-PL" altLang="zh-TW" sz="2000" i="1" dirty="0" smtClean="0">
                        <a:latin typeface="+mj-lt"/>
                      </a:rPr>
                      <m:t>=∣</m:t>
                    </m:r>
                    <m:r>
                      <a:rPr lang="pl-PL" altLang="zh-TW" sz="2000" i="1" dirty="0" smtClean="0">
                        <a:latin typeface="+mj-lt"/>
                      </a:rPr>
                      <m:t>𝑃</m:t>
                    </m:r>
                    <m:func>
                      <m:funcPr>
                        <m:ctrlPr>
                          <a:rPr lang="pl-PL" altLang="zh-TW" sz="2000" i="1" dirty="0" smtClean="0">
                            <a:latin typeface="+mj-lt"/>
                          </a:rPr>
                        </m:ctrlPr>
                      </m:funcPr>
                      <m:fName>
                        <m:r>
                          <a:rPr lang="pl-PL" altLang="zh-TW" sz="2000" i="1" dirty="0" smtClean="0">
                            <a:latin typeface="+mj-lt"/>
                          </a:rPr>
                          <m:t>𝑟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pl-PL" altLang="zh-TW" sz="2000" i="1" dirty="0" smtClean="0">
                                <a:latin typeface="+mj-lt"/>
                              </a:rPr>
                            </m:ctrlPr>
                          </m:dPr>
                          <m:e>
                            <m:r>
                              <a:rPr lang="pl-PL" altLang="zh-TW" sz="2000" i="1" dirty="0" smtClean="0">
                                <a:latin typeface="+mj-lt"/>
                              </a:rPr>
                              <m:t>𝑊</m:t>
                            </m:r>
                            <m:r>
                              <a:rPr lang="pl-PL" altLang="zh-TW" sz="2000" i="1" dirty="0" smtClean="0">
                                <a:latin typeface="+mj-lt"/>
                              </a:rPr>
                              <m:t>0​</m:t>
                            </m:r>
                          </m:e>
                        </m:d>
                      </m:e>
                    </m:func>
                    <m:r>
                      <a:rPr lang="pl-PL" altLang="zh-TW" sz="2000" i="1" dirty="0" smtClean="0">
                        <a:latin typeface="+mj-lt"/>
                      </a:rPr>
                      <m:t>−</m:t>
                    </m:r>
                    <m:r>
                      <a:rPr lang="pl-PL" altLang="zh-TW" sz="2000" i="1" dirty="0" smtClean="0">
                        <a:latin typeface="+mj-lt"/>
                      </a:rPr>
                      <m:t>𝑃</m:t>
                    </m:r>
                    <m:func>
                      <m:funcPr>
                        <m:ctrlPr>
                          <a:rPr lang="pl-PL" altLang="zh-TW" sz="2000" i="1" dirty="0" smtClean="0">
                            <a:latin typeface="+mj-lt"/>
                          </a:rPr>
                        </m:ctrlPr>
                      </m:funcPr>
                      <m:fName>
                        <m:r>
                          <a:rPr lang="pl-PL" altLang="zh-TW" sz="2000" i="1" dirty="0" smtClean="0">
                            <a:latin typeface="+mj-lt"/>
                          </a:rPr>
                          <m:t>𝑟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pl-PL" altLang="zh-TW" sz="2000" i="1" dirty="0" smtClean="0">
                                <a:latin typeface="+mj-lt"/>
                              </a:rPr>
                            </m:ctrlPr>
                          </m:dPr>
                          <m:e>
                            <m:r>
                              <a:rPr lang="pl-PL" altLang="zh-TW" sz="2000" i="1" dirty="0" smtClean="0">
                                <a:latin typeface="+mj-lt"/>
                              </a:rPr>
                              <m:t>𝑊</m:t>
                            </m:r>
                            <m:r>
                              <a:rPr lang="pl-PL" altLang="zh-TW" sz="2000" i="1" dirty="0" smtClean="0">
                                <a:latin typeface="+mj-lt"/>
                              </a:rPr>
                              <m:t>1​</m:t>
                            </m:r>
                          </m:e>
                        </m:d>
                      </m:e>
                    </m:func>
                    <m:r>
                      <a:rPr lang="pl-PL" altLang="zh-TW" sz="2000" i="1" dirty="0" smtClean="0">
                        <a:latin typeface="+mj-lt"/>
                      </a:rPr>
                      <m:t>∣</m:t>
                    </m:r>
                  </m:oMath>
                </a14:m>
                <a:endParaRPr lang="zh-TW" altLang="en-US" sz="2000" b="1" dirty="0">
                  <a:latin typeface="+mj-lt"/>
                </a:endParaRPr>
              </a:p>
              <a:p>
                <a:endParaRPr lang="zh-TW" altLang="en-US" sz="2000" b="1" dirty="0">
                  <a:latin typeface="+mj-lt"/>
                </a:endParaRPr>
              </a:p>
            </p:txBody>
          </p:sp>
        </mc:Choice>
        <mc:Fallback>
          <p:sp>
            <p:nvSpPr>
              <p:cNvPr id="5" name="文字版面配置區 4">
                <a:extLst>
                  <a:ext uri="{FF2B5EF4-FFF2-40B4-BE49-F238E27FC236}">
                    <a16:creationId xmlns:a16="http://schemas.microsoft.com/office/drawing/2014/main" id="{873A2E52-0EB6-5437-7491-256C9E76BA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97403" y="1369902"/>
                <a:ext cx="11166577" cy="4914663"/>
              </a:xfrm>
              <a:blipFill>
                <a:blip r:embed="rId3"/>
                <a:stretch>
                  <a:fillRect b="-570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5111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B1F936-8534-C128-0DF9-32C387609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000" y="896984"/>
            <a:ext cx="10290000" cy="3593240"/>
          </a:xfrm>
        </p:spPr>
        <p:txBody>
          <a:bodyPr/>
          <a:lstStyle/>
          <a:p>
            <a:r>
              <a:rPr lang="en-US" altLang="zh-TW" dirty="0"/>
              <a:t>Thank you for listening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04860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佈景主題2">
  <a:themeElements>
    <a:clrScheme name="Simple Light">
      <a:dk1>
        <a:srgbClr val="383838"/>
      </a:dk1>
      <a:lt1>
        <a:srgbClr val="EEEEEE"/>
      </a:lt1>
      <a:dk2>
        <a:srgbClr val="DBDBDB"/>
      </a:dk2>
      <a:lt2>
        <a:srgbClr val="929292"/>
      </a:lt2>
      <a:accent1>
        <a:srgbClr val="383838"/>
      </a:accent1>
      <a:accent2>
        <a:srgbClr val="383838"/>
      </a:accent2>
      <a:accent3>
        <a:srgbClr val="383838"/>
      </a:accent3>
      <a:accent4>
        <a:srgbClr val="383838"/>
      </a:accent4>
      <a:accent5>
        <a:srgbClr val="FFFFFF"/>
      </a:accent5>
      <a:accent6>
        <a:srgbClr val="FFFFFF"/>
      </a:accent6>
      <a:hlink>
        <a:srgbClr val="383838"/>
      </a:hlink>
      <a:folHlink>
        <a:srgbClr val="0097A7"/>
      </a:folHlink>
    </a:clrScheme>
    <a:fontScheme name="自訂 1">
      <a:majorFont>
        <a:latin typeface="Arial"/>
        <a:ea typeface="微軟正黑體"/>
        <a:cs typeface=""/>
      </a:majorFont>
      <a:minorFont>
        <a:latin typeface="Times New Roman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佈景主題2" id="{4C642406-5F7E-42DE-840F-6BEA190EE232}" vid="{B65F164E-84A4-4FFB-B697-D7B5B2A77B15}"/>
    </a:ext>
  </a:extLst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5F6F1"/>
      </a:lt1>
      <a:dk2>
        <a:srgbClr val="E5E5DB"/>
      </a:dk2>
      <a:lt2>
        <a:srgbClr val="C7C0B5"/>
      </a:lt2>
      <a:accent1>
        <a:srgbClr val="B9B5AA"/>
      </a:accent1>
      <a:accent2>
        <a:srgbClr val="212121"/>
      </a:accent2>
      <a:accent3>
        <a:srgbClr val="B7B7B7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佈景主題2</Template>
  <TotalTime>6220</TotalTime>
  <Words>4882</Words>
  <Application>Microsoft Office PowerPoint</Application>
  <PresentationFormat>寬螢幕</PresentationFormat>
  <Paragraphs>500</Paragraphs>
  <Slides>45</Slides>
  <Notes>33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4</vt:i4>
      </vt:variant>
      <vt:variant>
        <vt:lpstr>投影片標題</vt:lpstr>
      </vt:variant>
      <vt:variant>
        <vt:i4>45</vt:i4>
      </vt:variant>
    </vt:vector>
  </HeadingPairs>
  <TitlesOfParts>
    <vt:vector size="61" baseType="lpstr">
      <vt:lpstr>Julius Sans One</vt:lpstr>
      <vt:lpstr>Proxima Nova</vt:lpstr>
      <vt:lpstr>Proxima Nova Semibold</vt:lpstr>
      <vt:lpstr>quote-cjk-patch</vt:lpstr>
      <vt:lpstr>標楷體</vt:lpstr>
      <vt:lpstr>Arial</vt:lpstr>
      <vt:lpstr>Calibri</vt:lpstr>
      <vt:lpstr>Cambria Math</vt:lpstr>
      <vt:lpstr>Didact Gothic</vt:lpstr>
      <vt:lpstr>Montserrat</vt:lpstr>
      <vt:lpstr>Questrial</vt:lpstr>
      <vt:lpstr>Times New Roman</vt:lpstr>
      <vt:lpstr>佈景主題2</vt:lpstr>
      <vt:lpstr>Slidesgo Final Pages</vt:lpstr>
      <vt:lpstr>1_Slidesgo Final Pages</vt:lpstr>
      <vt:lpstr>2_Slidesgo Final Pages</vt:lpstr>
      <vt:lpstr>Chapter 15.6-15.9  Elliptic curve  cryptography and pairings</vt:lpstr>
      <vt:lpstr>Outline</vt:lpstr>
      <vt:lpstr>Advanced encryption schemes from pairings</vt:lpstr>
      <vt:lpstr>Identity based encryption</vt:lpstr>
      <vt:lpstr>Identity based encryption</vt:lpstr>
      <vt:lpstr>Formal definition</vt:lpstr>
      <vt:lpstr>Attack Game</vt:lpstr>
      <vt:lpstr>Attack Game</vt:lpstr>
      <vt:lpstr>Attack Game</vt:lpstr>
      <vt:lpstr>Related security notions</vt:lpstr>
      <vt:lpstr>Related security notions──Privacy (IBE) </vt:lpstr>
      <vt:lpstr>Related security notions──Selective Security (IBE) </vt:lpstr>
      <vt:lpstr>Related security notions──Selective Security (IBE) </vt:lpstr>
      <vt:lpstr>Related security notions──Chosen-ciphertext secure IBE</vt:lpstr>
      <vt:lpstr>Identity based encryption from pairings</vt:lpstr>
      <vt:lpstr>Identity based encryption from pairings ───Construction 1</vt:lpstr>
      <vt:lpstr>Identity based encryption from pairings ───Construction 1</vt:lpstr>
      <vt:lpstr>Identity based encryption from pairings ───Construction 1</vt:lpstr>
      <vt:lpstr>Identity based encryption from pairings ───Construction 1 ─── Proof</vt:lpstr>
      <vt:lpstr>Identity based encryption from pairings ───Construction 1 ─── Proof</vt:lpstr>
      <vt:lpstr>Identity based encryption from pairings ───Construction 1 ─── Proof</vt:lpstr>
      <vt:lpstr>Identity based encryption from pairings ───Construction 1 ─── Proof</vt:lpstr>
      <vt:lpstr>Identity based encryption from pairings ───Construction 1 ─── Proof</vt:lpstr>
      <vt:lpstr>Identity based encryption from pairings ───Construction 1 ─── Proof</vt:lpstr>
      <vt:lpstr>Identity based encryption from pairings ───Construction 2</vt:lpstr>
      <vt:lpstr>Identity based encryption from pairings ───Construction 2</vt:lpstr>
      <vt:lpstr>Identity based encryption from pairings ───Construction 2</vt:lpstr>
      <vt:lpstr>Applications </vt:lpstr>
      <vt:lpstr>Applications──Chosen ciphertext security from IBE</vt:lpstr>
      <vt:lpstr>Applications──Chosen ciphertext security from IBE</vt:lpstr>
      <vt:lpstr>Applications──Chosen ciphertext security from IBE</vt:lpstr>
      <vt:lpstr>Applications──Signatures from IBE </vt:lpstr>
      <vt:lpstr>Applications──Signatures from IBE </vt:lpstr>
      <vt:lpstr>Applications──Signatures from IBE </vt:lpstr>
      <vt:lpstr>Applications──Searching on public-key encrypted data  </vt:lpstr>
      <vt:lpstr>Applications──Searching on public-key encrypted data  </vt:lpstr>
      <vt:lpstr>The functional encryption paradigm</vt:lpstr>
      <vt:lpstr>The functional encryption paradigm</vt:lpstr>
      <vt:lpstr>The functional encryption paradigm</vt:lpstr>
      <vt:lpstr>The functional encryption paradigm</vt:lpstr>
      <vt:lpstr>Sample functional encryption schemes from pairings</vt:lpstr>
      <vt:lpstr>Sample functional encryption schemes from pairings</vt:lpstr>
      <vt:lpstr>Multilinear maps</vt:lpstr>
      <vt:lpstr>Multilinear maps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學生上課專注度分析</dc:title>
  <dc:creator>宗諺 謝</dc:creator>
  <cp:lastModifiedBy>名字 姓氏</cp:lastModifiedBy>
  <cp:revision>158</cp:revision>
  <dcterms:created xsi:type="dcterms:W3CDTF">2023-04-23T08:05:40Z</dcterms:created>
  <dcterms:modified xsi:type="dcterms:W3CDTF">2025-10-19T18:27:02Z</dcterms:modified>
</cp:coreProperties>
</file>